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9000f2cffc4ac2" /><Relationship Type="http://schemas.openxmlformats.org/officeDocument/2006/relationships/extended-properties" Target="/docProps/app.xml" Id="Rd232fff8c8764000" /><Relationship Type="http://schemas.openxmlformats.org/officeDocument/2006/relationships/officeDocument" Target="/ppt/presentation.xml" Id="R9029fb59dc4d404f" /></Relationships>
</file>

<file path=ppt/presentation.xml><?xml version="1.0" encoding="utf-8"?>
<p:presentation xmlns:p="http://schemas.openxmlformats.org/presentationml/2006/main">
  <p:sldMasterIdLst>
    <p:sldMasterId xmlns:r="http://schemas.openxmlformats.org/officeDocument/2006/relationships" id="2147483648" r:id="R14b0ad5ef7654999"/>
  </p:sldMasterIdLst>
  <p:notesMasterIdLst>
    <p:notesMasterId xmlns:r="http://schemas.openxmlformats.org/officeDocument/2006/relationships" r:id="R09e5d993bcba4912"/>
  </p:notesMasterIdLst>
  <p:sldIdLst>
    <p:sldId xmlns:r="http://schemas.openxmlformats.org/officeDocument/2006/relationships" id="256" r:id="R3ad860bd9c9e4804"/>
    <p:sldId xmlns:r="http://schemas.openxmlformats.org/officeDocument/2006/relationships" id="257" r:id="Rf90bfbb1f2cc4898"/>
    <p:sldId xmlns:r="http://schemas.openxmlformats.org/officeDocument/2006/relationships" id="258" r:id="R3fc44d161a36454e"/>
    <p:sldId xmlns:r="http://schemas.openxmlformats.org/officeDocument/2006/relationships" id="259" r:id="R9eda04ef955a46b6"/>
    <p:sldId xmlns:r="http://schemas.openxmlformats.org/officeDocument/2006/relationships" id="260" r:id="R60f6a873a44c4602"/>
    <p:sldId xmlns:r="http://schemas.openxmlformats.org/officeDocument/2006/relationships" id="261" r:id="Ra81304fde06341db"/>
    <p:sldId xmlns:r="http://schemas.openxmlformats.org/officeDocument/2006/relationships" id="262" r:id="Rb8cce552c8e94726"/>
    <p:sldId xmlns:r="http://schemas.openxmlformats.org/officeDocument/2006/relationships" id="263" r:id="Rf1eefa9447084b53"/>
    <p:sldId xmlns:r="http://schemas.openxmlformats.org/officeDocument/2006/relationships" id="264" r:id="R3ef94a3841f04e9d"/>
    <p:sldId xmlns:r="http://schemas.openxmlformats.org/officeDocument/2006/relationships" id="265" r:id="Rf5566538bb1e4f21"/>
    <p:sldId xmlns:r="http://schemas.openxmlformats.org/officeDocument/2006/relationships" id="266" r:id="R2937d2a970864830"/>
    <p:sldId xmlns:r="http://schemas.openxmlformats.org/officeDocument/2006/relationships" id="267" r:id="Radd90e1c801346ad"/>
    <p:sldId xmlns:r="http://schemas.openxmlformats.org/officeDocument/2006/relationships" id="268" r:id="R75f09a0635cc4bad"/>
    <p:sldId xmlns:r="http://schemas.openxmlformats.org/officeDocument/2006/relationships" id="269" r:id="Rea071d932bba4486"/>
    <p:sldId xmlns:r="http://schemas.openxmlformats.org/officeDocument/2006/relationships" id="270" r:id="R80da186a14074efd"/>
    <p:sldId xmlns:r="http://schemas.openxmlformats.org/officeDocument/2006/relationships" id="271" r:id="R39c44228c15a4519"/>
    <p:sldId xmlns:r="http://schemas.openxmlformats.org/officeDocument/2006/relationships" id="272" r:id="R90cb316ecaed4c76"/>
    <p:sldId xmlns:r="http://schemas.openxmlformats.org/officeDocument/2006/relationships" id="273" r:id="R3f75fc22276b463f"/>
    <p:sldId xmlns:r="http://schemas.openxmlformats.org/officeDocument/2006/relationships" id="274" r:id="R93c7dafc782f4943"/>
    <p:sldId xmlns:r="http://schemas.openxmlformats.org/officeDocument/2006/relationships" id="275" r:id="R17734a878a04420d"/>
    <p:sldId xmlns:r="http://schemas.openxmlformats.org/officeDocument/2006/relationships" id="276" r:id="Rff1a6aa9b5074354"/>
    <p:sldId xmlns:r="http://schemas.openxmlformats.org/officeDocument/2006/relationships" id="277" r:id="R1df2b484af534942"/>
    <p:sldId xmlns:r="http://schemas.openxmlformats.org/officeDocument/2006/relationships" id="278" r:id="R865b14224405477b"/>
    <p:sldId xmlns:r="http://schemas.openxmlformats.org/officeDocument/2006/relationships" id="279" r:id="Rfa5a8cdadfe74426"/>
    <p:sldId xmlns:r="http://schemas.openxmlformats.org/officeDocument/2006/relationships" id="280" r:id="Rc772bca2b65b4a30"/>
    <p:sldId xmlns:r="http://schemas.openxmlformats.org/officeDocument/2006/relationships" id="281" r:id="R1d531439fd67408c"/>
    <p:sldId xmlns:r="http://schemas.openxmlformats.org/officeDocument/2006/relationships" id="282" r:id="Rcc7eddf510c64308"/>
    <p:sldId xmlns:r="http://schemas.openxmlformats.org/officeDocument/2006/relationships" id="283" r:id="R9d9f5dbf3a2a45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0526694824ddf" /><Relationship Type="http://schemas.openxmlformats.org/officeDocument/2006/relationships/slideMaster" Target="/ppt/slideMasters/slideMaster1.xml" Id="R14b0ad5ef7654999" /><Relationship Type="http://schemas.openxmlformats.org/officeDocument/2006/relationships/notesMaster" Target="/ppt/notesMasters/notesMaster1.xml" Id="R09e5d993bcba4912" /><Relationship Type="http://schemas.openxmlformats.org/officeDocument/2006/relationships/presProps" Target="/ppt/presProps.xml" Id="Rec654e12c7d047ae" /><Relationship Type="http://schemas.openxmlformats.org/officeDocument/2006/relationships/tableStyles" Target="/ppt/tableStyles.xml" Id="Rfe29ac7f359a4f82" /><Relationship Type="http://schemas.openxmlformats.org/officeDocument/2006/relationships/slide" Target="/ppt/slides/slide1.xml" Id="R3ad860bd9c9e4804" /><Relationship Type="http://schemas.openxmlformats.org/officeDocument/2006/relationships/slide" Target="/ppt/slides/slide2.xml" Id="Rf90bfbb1f2cc4898" /><Relationship Type="http://schemas.openxmlformats.org/officeDocument/2006/relationships/slide" Target="/ppt/slides/slide3.xml" Id="R3fc44d161a36454e" /><Relationship Type="http://schemas.openxmlformats.org/officeDocument/2006/relationships/slide" Target="/ppt/slides/slide4.xml" Id="R9eda04ef955a46b6" /><Relationship Type="http://schemas.openxmlformats.org/officeDocument/2006/relationships/slide" Target="/ppt/slides/slide5.xml" Id="R60f6a873a44c4602" /><Relationship Type="http://schemas.openxmlformats.org/officeDocument/2006/relationships/slide" Target="/ppt/slides/slide6.xml" Id="Ra81304fde06341db" /><Relationship Type="http://schemas.openxmlformats.org/officeDocument/2006/relationships/slide" Target="/ppt/slides/slide7.xml" Id="Rb8cce552c8e94726" /><Relationship Type="http://schemas.openxmlformats.org/officeDocument/2006/relationships/slide" Target="/ppt/slides/slide8.xml" Id="Rf1eefa9447084b53" /><Relationship Type="http://schemas.openxmlformats.org/officeDocument/2006/relationships/slide" Target="/ppt/slides/slide9.xml" Id="R3ef94a3841f04e9d" /><Relationship Type="http://schemas.openxmlformats.org/officeDocument/2006/relationships/slide" Target="/ppt/slides/slide10.xml" Id="Rf5566538bb1e4f21" /><Relationship Type="http://schemas.openxmlformats.org/officeDocument/2006/relationships/slide" Target="/ppt/slides/slide11.xml" Id="R2937d2a970864830" /><Relationship Type="http://schemas.openxmlformats.org/officeDocument/2006/relationships/slide" Target="/ppt/slides/slide12.xml" Id="Radd90e1c801346ad" /><Relationship Type="http://schemas.openxmlformats.org/officeDocument/2006/relationships/slide" Target="/ppt/slides/slide13.xml" Id="R75f09a0635cc4bad" /><Relationship Type="http://schemas.openxmlformats.org/officeDocument/2006/relationships/slide" Target="/ppt/slides/slide14.xml" Id="Rea071d932bba4486" /><Relationship Type="http://schemas.openxmlformats.org/officeDocument/2006/relationships/slide" Target="/ppt/slides/slide15.xml" Id="R80da186a14074efd" /><Relationship Type="http://schemas.openxmlformats.org/officeDocument/2006/relationships/slide" Target="/ppt/slides/slide16.xml" Id="R39c44228c15a4519" /><Relationship Type="http://schemas.openxmlformats.org/officeDocument/2006/relationships/slide" Target="/ppt/slides/slide17.xml" Id="R90cb316ecaed4c76" /><Relationship Type="http://schemas.openxmlformats.org/officeDocument/2006/relationships/slide" Target="/ppt/slides/slide18.xml" Id="R3f75fc22276b463f" /><Relationship Type="http://schemas.openxmlformats.org/officeDocument/2006/relationships/slide" Target="/ppt/slides/slide19.xml" Id="R93c7dafc782f4943" /><Relationship Type="http://schemas.openxmlformats.org/officeDocument/2006/relationships/slide" Target="/ppt/slides/slide20.xml" Id="R17734a878a04420d" /><Relationship Type="http://schemas.openxmlformats.org/officeDocument/2006/relationships/slide" Target="/ppt/slides/slide21.xml" Id="Rff1a6aa9b5074354" /><Relationship Type="http://schemas.openxmlformats.org/officeDocument/2006/relationships/slide" Target="/ppt/slides/slide22.xml" Id="R1df2b484af534942" /><Relationship Type="http://schemas.openxmlformats.org/officeDocument/2006/relationships/slide" Target="/ppt/slides/slide23.xml" Id="R865b14224405477b" /><Relationship Type="http://schemas.openxmlformats.org/officeDocument/2006/relationships/slide" Target="/ppt/slides/slide24.xml" Id="Rfa5a8cdadfe74426" /><Relationship Type="http://schemas.openxmlformats.org/officeDocument/2006/relationships/slide" Target="/ppt/slides/slide25.xml" Id="Rc772bca2b65b4a30" /><Relationship Type="http://schemas.openxmlformats.org/officeDocument/2006/relationships/slide" Target="/ppt/slides/slide26.xml" Id="R1d531439fd67408c" /><Relationship Type="http://schemas.openxmlformats.org/officeDocument/2006/relationships/slide" Target="/ppt/slides/slide27.xml" Id="Rcc7eddf510c64308" /><Relationship Type="http://schemas.openxmlformats.org/officeDocument/2006/relationships/slide" Target="/ppt/slides/slide28.xml" Id="R9d9f5dbf3a2a45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5dcf2bbd854d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35a9aff8bb4e07" /><Relationship Type="http://schemas.openxmlformats.org/officeDocument/2006/relationships/notesMaster" Target="/ppt/notesMasters/notesMaster1.xml" Id="R91cd20563bc349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e573726edd4e29" /><Relationship Type="http://schemas.openxmlformats.org/officeDocument/2006/relationships/notesMaster" Target="/ppt/notesMasters/notesMaster1.xml" Id="R825c5bb2fcdd42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cd4814bdde4631" /><Relationship Type="http://schemas.openxmlformats.org/officeDocument/2006/relationships/notesMaster" Target="/ppt/notesMasters/notesMaster1.xml" Id="R899ab3562eed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f520da6bdf4aee" /><Relationship Type="http://schemas.openxmlformats.org/officeDocument/2006/relationships/notesMaster" Target="/ppt/notesMasters/notesMaster1.xml" Id="Re46e1551534b4c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72bf5159cf49ce" /><Relationship Type="http://schemas.openxmlformats.org/officeDocument/2006/relationships/notesMaster" Target="/ppt/notesMasters/notesMaster1.xml" Id="Rcfd406aeac1a45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6ee0262622490b" /><Relationship Type="http://schemas.openxmlformats.org/officeDocument/2006/relationships/notesMaster" Target="/ppt/notesMasters/notesMaster1.xml" Id="Rf7bb386d506248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4b63ea33d04783" /><Relationship Type="http://schemas.openxmlformats.org/officeDocument/2006/relationships/notesMaster" Target="/ppt/notesMasters/notesMaster1.xml" Id="R91c686d1130848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cbdd4bcd78489d" /><Relationship Type="http://schemas.openxmlformats.org/officeDocument/2006/relationships/notesMaster" Target="/ppt/notesMasters/notesMaster1.xml" Id="R697102a499fd4a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de92f79ca74191" /><Relationship Type="http://schemas.openxmlformats.org/officeDocument/2006/relationships/notesMaster" Target="/ppt/notesMasters/notesMaster1.xml" Id="R48c284cf9e1748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7969b85cba440c" /><Relationship Type="http://schemas.openxmlformats.org/officeDocument/2006/relationships/notesMaster" Target="/ppt/notesMasters/notesMaster1.xml" Id="R1f555958204a4c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9c979a56304435" /><Relationship Type="http://schemas.openxmlformats.org/officeDocument/2006/relationships/notesMaster" Target="/ppt/notesMasters/notesMaster1.xml" Id="Rfc75f6b6acf649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f5c1faedb14b8d" /><Relationship Type="http://schemas.openxmlformats.org/officeDocument/2006/relationships/notesMaster" Target="/ppt/notesMasters/notesMaster1.xml" Id="Ra3f1d635eb1640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03ab6df1134c39" /><Relationship Type="http://schemas.openxmlformats.org/officeDocument/2006/relationships/notesMaster" Target="/ppt/notesMasters/notesMaster1.xml" Id="R6120913438a746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e62135ef914a2a" /><Relationship Type="http://schemas.openxmlformats.org/officeDocument/2006/relationships/notesMaster" Target="/ppt/notesMasters/notesMaster1.xml" Id="R06f378a5d46f4e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354dbc42fc412a" /><Relationship Type="http://schemas.openxmlformats.org/officeDocument/2006/relationships/notesMaster" Target="/ppt/notesMasters/notesMaster1.xml" Id="Raa7994895f6341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2a2f9dc41c462c" /><Relationship Type="http://schemas.openxmlformats.org/officeDocument/2006/relationships/notesMaster" Target="/ppt/notesMasters/notesMaster1.xml" Id="Rd18f3b35c67446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fb401684f24824" /><Relationship Type="http://schemas.openxmlformats.org/officeDocument/2006/relationships/notesMaster" Target="/ppt/notesMasters/notesMaster1.xml" Id="R7ce33613b54c4a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0f9394faaa4aaa" /><Relationship Type="http://schemas.openxmlformats.org/officeDocument/2006/relationships/notesMaster" Target="/ppt/notesMasters/notesMaster1.xml" Id="Rb4e9fadfd3ae4c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b887b92fb74482" /><Relationship Type="http://schemas.openxmlformats.org/officeDocument/2006/relationships/notesMaster" Target="/ppt/notesMasters/notesMaster1.xml" Id="Rce0712de9b154e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9440d0cfd0471a" /><Relationship Type="http://schemas.openxmlformats.org/officeDocument/2006/relationships/notesMaster" Target="/ppt/notesMasters/notesMaster1.xml" Id="R784fa369748445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f2f70efe7b45e4" /><Relationship Type="http://schemas.openxmlformats.org/officeDocument/2006/relationships/notesMaster" Target="/ppt/notesMasters/notesMaster1.xml" Id="R6e2e5fc02d8e43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3ee491e1054ce5" /><Relationship Type="http://schemas.openxmlformats.org/officeDocument/2006/relationships/notesMaster" Target="/ppt/notesMasters/notesMaster1.xml" Id="R0b2db265b33844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a5d8ef05634415" /><Relationship Type="http://schemas.openxmlformats.org/officeDocument/2006/relationships/notesMaster" Target="/ppt/notesMasters/notesMaster1.xml" Id="R8b8d888153904a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680881f8b14c02" /><Relationship Type="http://schemas.openxmlformats.org/officeDocument/2006/relationships/notesMaster" Target="/ppt/notesMasters/notesMaster1.xml" Id="R18978449a76e446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9f801acd2a47dc" /><Relationship Type="http://schemas.openxmlformats.org/officeDocument/2006/relationships/notesMaster" Target="/ppt/notesMasters/notesMaster1.xml" Id="R2c331acff3574f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16d30ba83c84454" /><Relationship Type="http://schemas.openxmlformats.org/officeDocument/2006/relationships/notesMaster" Target="/ppt/notesMasters/notesMaster1.xml" Id="Re3b3fdb9fad244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bcc3b22cc6e4a11" /><Relationship Type="http://schemas.openxmlformats.org/officeDocument/2006/relationships/notesMaster" Target="/ppt/notesMasters/notesMaster1.xml" Id="Rafec04989ae849e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02a43e6a134801" /><Relationship Type="http://schemas.openxmlformats.org/officeDocument/2006/relationships/notesMaster" Target="/ppt/notesMasters/notesMaster1.xml" Id="R57d30909e948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đề tài của Nhóm 11, Khoa Viễn thông 1. Mục tiêu là hiểu kiến trúc S3 và xây dựng luồng quản lý tài liệu riêng tư. Thông tin giảng viên và thành viên lấy theo yêu cầu người dùng.</a:t>
            </a:r>
          </a:p>
          <a:p xmlns:a="http://schemas.openxmlformats.org/drawingml/2006/main">
            <a:r>
              <a:t/>
            </a:r>
          </a:p>
          <a:p xmlns:a="http://schemas.openxmlformats.org/drawingml/2006/main">
            <a:r>
              <a:t>Nguồn: yêu cầu người dùng và thiết kế thực nghiệm của nhóm.</a:t>
            </a:r>
          </a:p>
          <a:p xmlns:a="http://schemas.openxmlformats.org/drawingml/2006/main">
            <a:r>
              <a:t/>
            </a:r>
          </a:p>
          <a:p xmlns:a="http://schemas.openxmlformats.org/drawingml/2006/main">
            <a:r>
              <a:t>Đối chiếu nguồn ngày27/10/2026.</a:t>
            </a:r>
          </a:p>
          <a:p xmlns:a="http://schemas.openxmlformats.org/drawingml/2006/main">
            <a:r>
              <a:t/>
            </a:r>
          </a:p>
          <a:p xmlns:a="http://schemas.openxmlformats.org/drawingml/2006/main">
            <a:r>
              <a:t/>
            </a:r>
          </a:p>
          <a:p xmlns:a="http://schemas.openxmlformats.org/drawingml/2006/main">
            <a:r>
              <a:t>Ảnh bìa là minh họa nghệ thuật tạo bằng ImageGen, không phải sơ đồ kiến trúc hoặc ảnh hệ thống thật. Prompt lưu trong bộ nguồn authoring.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DAS/SAN, NAS và Object là các mô hình cùng tồn tại, không phải ba giai đoạn thay thế hoàn toàn. NAS/SAN hiện đại có thể scale-out. Chọn theo semantics, latency và workload, không khẳng định một kiểu luôn rẻ hoặc mở rộng vô hạn.</a:t>
            </a:r>
          </a:p>
          <a:p xmlns:a="http://schemas.openxmlformats.org/drawingml/2006/main">
            <a:r>
              <a:t/>
            </a:r>
          </a:p>
          <a:p xmlns:a="http://schemas.openxmlformats.org/drawingml/2006/main">
            <a:r>
              <a:t>Đối chiếu nguồn ngày27/10/2026.</a:t>
            </a:r>
          </a:p>
          <a:p xmlns:a="http://schemas.openxmlformats.org/drawingml/2006/main">
            <a:r>
              <a:t>What is Amazon S3? — data consistency model</a:t>
            </a:r>
          </a:p>
          <a:p xmlns:a="http://schemas.openxmlformats.org/drawingml/2006/main">
            <a:r>
              <a:t>https://docs.aws.amazon.com/AmazonS3/latest/userguide/Welcome.html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namespace phẳng ở đây áp dụng cho S3 general purpose buckets. S3 directory buckets là loại bucket khác. Tags được quản lý qua API riêng. VersionId của object không được versioning là null. AWS công bố giới hạn object 50 TB vào 02/12/2025, trong khi giới hạn dịch vụ tương thích phải kiểm tra riêng.</a:t>
            </a:r>
          </a:p>
          <a:p xmlns:a="http://schemas.openxmlformats.org/drawingml/2006/main">
            <a:r>
              <a:t/>
            </a:r>
          </a:p>
          <a:p xmlns:a="http://schemas.openxmlformats.org/drawingml/2006/main">
            <a:r>
              <a:t>Đối chiếu nguồn ngày27/10/2026.</a:t>
            </a:r>
          </a:p>
          <a:p xmlns:a="http://schemas.openxmlformats.org/drawingml/2006/main">
            <a:r>
              <a:t>Amazon S3 increases the maximum object size to 50 TB</a:t>
            </a:r>
          </a:p>
          <a:p xmlns:a="http://schemas.openxmlformats.org/drawingml/2006/main">
            <a:r>
              <a:t>https://aws.amazon.com/about-aws/whats-new/2025/12/amazon-s3-maximum-object-size-50-tb/</a:t>
            </a:r>
          </a:p>
          <a:p xmlns:a="http://schemas.openxmlformats.org/drawingml/2006/main">
            <a:r>
              <a:t/>
            </a:r>
          </a:p>
          <a:p xmlns:a="http://schemas.openxmlformats.org/drawingml/2006/main">
            <a:r>
              <a:t>Working with object metadata</a:t>
            </a:r>
          </a:p>
          <a:p xmlns:a="http://schemas.openxmlformats.org/drawingml/2006/main">
            <a:r>
              <a:t>https://docs.aws.amazon.com/AmazonS3/latest/userguide/UsingMetadata.html</a:t>
            </a:r>
          </a:p>
          <a:p xmlns:a="http://schemas.openxmlformats.org/drawingml/2006/main">
            <a:r>
              <a:t/>
            </a:r>
          </a:p>
          <a:p xmlns:a="http://schemas.openxmlformats.org/drawingml/2006/main">
            <a:r>
              <a:t>Tagging your objects</a:t>
            </a:r>
          </a:p>
          <a:p xmlns:a="http://schemas.openxmlformats.org/drawingml/2006/main">
            <a:r>
              <a:t>https://docs.aws.amazon.com/AmazonS3/latest/userguide/object-tagging.html</a:t>
            </a:r>
          </a:p>
          <a:p xmlns:a="http://schemas.openxmlformats.org/drawingml/2006/main">
            <a:r>
              <a:t/>
            </a:r>
          </a:p>
          <a:p xmlns:a="http://schemas.openxmlformats.org/drawingml/2006/main">
            <a:r>
              <a:t>How S3 Versioning works</a:t>
            </a:r>
          </a:p>
          <a:p xmlns:a="http://schemas.openxmlformats.org/drawingml/2006/main">
            <a:r>
              <a:t>https://docs.aws.amazon.com/AmazonS3/latest/userguide/versioning-workflows.html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File và Object cùng tồn tại. Lựa chọn phụ thuộc workload, latency, semantics và chi phí vận hành. Không có thứ tự chi phí tuyệt đối hoặc hệ thống vật lý vô hạn.</a:t>
            </a:r>
          </a:p>
          <a:p xmlns:a="http://schemas.openxmlformats.org/drawingml/2006/main">
            <a:r>
              <a:t/>
            </a:r>
          </a:p>
          <a:p xmlns:a="http://schemas.openxmlformats.org/drawingml/2006/main">
            <a:r>
              <a:t>Đối chiếu nguồn ngày27/10/2026.</a:t>
            </a:r>
          </a:p>
          <a:p xmlns:a="http://schemas.openxmlformats.org/drawingml/2006/main">
            <a:r>
              <a:t>What is Amazon S3? — data consistency model</a:t>
            </a:r>
          </a:p>
          <a:p xmlns:a="http://schemas.openxmlformats.org/drawingml/2006/main">
            <a:r>
              <a:t>https://docs.aws.amazon.com/AmazonS3/latest/userguide/Welcome.html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nhóm ứng dụng chính từ đề cương gốc: static assets/media, data lake và backup/DR. Tệp được lưu ở S3 không tự trở thành data lake được quản trị hoặc kế hoạch DR đã nghiệm thu. Cần chính sách và các dịch vụ xử lý phù hợp.</a:t>
            </a:r>
          </a:p>
          <a:p xmlns:a="http://schemas.openxmlformats.org/drawingml/2006/main">
            <a:r>
              <a:t/>
            </a:r>
          </a:p>
          <a:p xmlns:a="http://schemas.openxmlformats.org/drawingml/2006/main">
            <a:r>
              <a:t>Đối chiếu nguồn ngày27/10/2026.</a:t>
            </a:r>
          </a:p>
          <a:p xmlns:a="http://schemas.openxmlformats.org/drawingml/2006/main">
            <a:r>
              <a:t>What is Amazon S3? — data consistency model</a:t>
            </a:r>
          </a:p>
          <a:p xmlns:a="http://schemas.openxmlformats.org/drawingml/2006/main">
            <a:r>
              <a:t>https://docs.aws.amazon.com/AmazonS3/latest/userguide/Welcome.html</a:t>
            </a:r>
          </a:p>
          <a:p xmlns:a="http://schemas.openxmlformats.org/drawingml/2006/main">
            <a:r>
              <a:t/>
            </a:r>
          </a:p>
          <a:p xmlns:a="http://schemas.openxmlformats.org/drawingml/2006/main">
            <a:r>
              <a:t>Amazon Athena FAQs</a:t>
            </a:r>
          </a:p>
          <a:p xmlns:a="http://schemas.openxmlformats.org/drawingml/2006/main">
            <a:r>
              <a:t>https://aws.amazon.com/athena/faqs/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Strong consistency áp dụng PUT mới/overwrite và DELETE, cùng GET/LIST/HEAD sau phản hồi ghi thành công. Atomicity theo một key, không transaction đa key. Availability thiết kế99.99% khác SLA Standard99.9% theo điều kiện service credit. Không áp thông sốAWS choMinIOlab.</a:t>
            </a:r>
          </a:p>
          <a:p xmlns:a="http://schemas.openxmlformats.org/drawingml/2006/main">
            <a:r>
              <a:t/>
            </a:r>
          </a:p>
          <a:p xmlns:a="http://schemas.openxmlformats.org/drawingml/2006/main">
            <a:r>
              <a:t>Đối chiếu nguồn ngày27/10/2026.</a:t>
            </a:r>
          </a:p>
          <a:p xmlns:a="http://schemas.openxmlformats.org/drawingml/2006/main">
            <a:r>
              <a:t>Data protection in Amazon S3</a:t>
            </a:r>
          </a:p>
          <a:p xmlns:a="http://schemas.openxmlformats.org/drawingml/2006/main">
            <a:r>
              <a:t>https://docs.aws.amazon.com/AmazonS3/latest/userguide/DataDurability.html</a:t>
            </a:r>
          </a:p>
          <a:p xmlns:a="http://schemas.openxmlformats.org/drawingml/2006/main">
            <a:r>
              <a:t/>
            </a:r>
          </a:p>
          <a:p xmlns:a="http://schemas.openxmlformats.org/drawingml/2006/main">
            <a:r>
              <a:t>Understanding and managing Amazon S3 storage classes</a:t>
            </a:r>
          </a:p>
          <a:p xmlns:a="http://schemas.openxmlformats.org/drawingml/2006/main">
            <a:r>
              <a:t>https://docs.aws.amazon.com/AmazonS3/latest/userguide/storage-class-intro.html</a:t>
            </a:r>
          </a:p>
          <a:p xmlns:a="http://schemas.openxmlformats.org/drawingml/2006/main">
            <a:r>
              <a:t/>
            </a:r>
          </a:p>
          <a:p xmlns:a="http://schemas.openxmlformats.org/drawingml/2006/main">
            <a:r>
              <a:t>Amazon S3 Service Level Agreement</a:t>
            </a:r>
          </a:p>
          <a:p xmlns:a="http://schemas.openxmlformats.org/drawingml/2006/main">
            <a:r>
              <a:t>https://aws.amazon.com/s3/sla/</a:t>
            </a:r>
          </a:p>
          <a:p xmlns:a="http://schemas.openxmlformats.org/drawingml/2006/main">
            <a:r>
              <a:t/>
            </a:r>
          </a:p>
          <a:p xmlns:a="http://schemas.openxmlformats.org/drawingml/2006/main">
            <a:r>
              <a:t>What is Amazon S3? — data consistency model</a:t>
            </a:r>
          </a:p>
          <a:p xmlns:a="http://schemas.openxmlformats.org/drawingml/2006/main">
            <a:r>
              <a:t>https://docs.aws.amazon.com/AmazonS3/latest/userguide/Welcome.html</a:t>
            </a:r>
          </a:p>
          <a:p xmlns:a="http://schemas.openxmlformats.org/drawingml/2006/main">
            <a:r>
              <a:t>Không gán metricsAWS choMinIO. OneZonekhônglưutrữđaAZ. SLA Standardservicecreditbắtđầudưới99.9%uptimethángtheođiềukiện.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tóm tắt cho workload thông thường. Standard-IA có minimum storage duration 30 ngày, Glacier Instant/Flexible 90 ngày, Deep Archive 180 ngày. Xóa hoặc chuyển sớm có thể chịu phí phần thời gian còn lại. Deep Archive Standard khoảng12 giờ, Bulk khoảng48 giờ. Có ngoại lệ theo batch hoặc object lớn, cần tra yêu cầu cụ thể.</a:t>
            </a:r>
          </a:p>
          <a:p xmlns:a="http://schemas.openxmlformats.org/drawingml/2006/main">
            <a:r>
              <a:t/>
            </a:r>
          </a:p>
          <a:p xmlns:a="http://schemas.openxmlformats.org/drawingml/2006/main">
            <a:r>
              <a:t>Đối chiếu nguồn ngày27/10/2026.</a:t>
            </a:r>
          </a:p>
          <a:p xmlns:a="http://schemas.openxmlformats.org/drawingml/2006/main">
            <a:r>
              <a:t>Understanding and managing Amazon S3 storage classes</a:t>
            </a:r>
          </a:p>
          <a:p xmlns:a="http://schemas.openxmlformats.org/drawingml/2006/main">
            <a:r>
              <a:t>https://docs.aws.amazon.com/AmazonS3/latest/userguide/storage-class-intro.html</a:t>
            </a:r>
          </a:p>
          <a:p xmlns:a="http://schemas.openxmlformats.org/drawingml/2006/main">
            <a:r>
              <a:t/>
            </a:r>
          </a:p>
          <a:p xmlns:a="http://schemas.openxmlformats.org/drawingml/2006/main">
            <a:r>
              <a:t>Understanding S3 Glacier storage classes for long-term data storage</a:t>
            </a:r>
          </a:p>
          <a:p xmlns:a="http://schemas.openxmlformats.org/drawingml/2006/main">
            <a:r>
              <a:t>https://docs.aws.amazon.com/AmazonS3/latest/userguide/glacier-storage-classes.html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Mốc lifecycle phải theo retention thực tế. Expiration của current object trên bucket versioning enabled thường tạo delete marker. Dọn noncurrent versions cần NoncurrentVersionExpiration. Chi phí các phiên bản tồn tại tiếp tục được tính.</a:t>
            </a:r>
          </a:p>
          <a:p xmlns:a="http://schemas.openxmlformats.org/drawingml/2006/main">
            <a:r>
              <a:t/>
            </a:r>
          </a:p>
          <a:p xmlns:a="http://schemas.openxmlformats.org/drawingml/2006/main">
            <a:r>
              <a:t>Đối chiếu nguồn ngày27/10/2026.</a:t>
            </a:r>
          </a:p>
          <a:p xmlns:a="http://schemas.openxmlformats.org/drawingml/2006/main">
            <a:r>
              <a:t>Deleting object versions from a versioning-enabled bucket</a:t>
            </a:r>
          </a:p>
          <a:p xmlns:a="http://schemas.openxmlformats.org/drawingml/2006/main">
            <a:r>
              <a:t>https://docs.aws.amazon.com/AmazonS3/latest/userguide/DeletingObjectVersions.html</a:t>
            </a:r>
          </a:p>
          <a:p xmlns:a="http://schemas.openxmlformats.org/drawingml/2006/main">
            <a:r>
              <a:t/>
            </a:r>
          </a:p>
          <a:p xmlns:a="http://schemas.openxmlformats.org/drawingml/2006/main">
            <a:r>
              <a:t>Understanding and managing Amazon S3 storage classes</a:t>
            </a:r>
          </a:p>
          <a:p xmlns:a="http://schemas.openxmlformats.org/drawingml/2006/main">
            <a:r>
              <a:t>https://docs.aws.amazon.com/AmazonS3/latest/userguide/storage-class-intro.html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IAM là identity-based và bucket policy là resource-based. Chính sách có thể kèm điều kiện HTTPS, IP hoặc network path. Explicit deny có thể thắng allow. Block Public Access của AWS không phải API được mọi hệ tương thích hỗ trợ. S3 mã hóa object mới bằng SSE-S3 mặc định từ05/01/2023. Lab HTTP localhost không chứng minh TLS hoặc SSE-KMS.</a:t>
            </a:r>
          </a:p>
          <a:p xmlns:a="http://schemas.openxmlformats.org/drawingml/2006/main">
            <a:r>
              <a:t/>
            </a:r>
          </a:p>
          <a:p xmlns:a="http://schemas.openxmlformats.org/drawingml/2006/main">
            <a:r>
              <a:t>Đối chiếu nguồn ngày27/10/2026.</a:t>
            </a:r>
          </a:p>
          <a:p xmlns:a="http://schemas.openxmlformats.org/drawingml/2006/main">
            <a:r>
              <a:t>Using server-side encryption with Amazon S3 managed keys (SSE-S3)</a:t>
            </a:r>
          </a:p>
          <a:p xmlns:a="http://schemas.openxmlformats.org/drawingml/2006/main">
            <a:r>
              <a:t>https://docs.aws.amazon.com/AmazonS3/latest/userguide/UsingServerSideEncryption.html</a:t>
            </a:r>
          </a:p>
          <a:p xmlns:a="http://schemas.openxmlformats.org/drawingml/2006/main">
            <a:r>
              <a:t/>
            </a:r>
          </a:p>
          <a:p xmlns:a="http://schemas.openxmlformats.org/drawingml/2006/main">
            <a:r>
              <a:t>What is Amazon S3? — data consistency model</a:t>
            </a:r>
          </a:p>
          <a:p xmlns:a="http://schemas.openxmlformats.org/drawingml/2006/main">
            <a:r>
              <a:t>https://docs.aws.amazon.com/AmazonS3/latest/userguide/Welcome.html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điều khiển: trình duyệt xác thực với FastAPI, backend kiểm tra quyền và ký URL cho method, key, thời hạn. Luồng dữ liệu: client gửi hoặc nhận object bytes trực tiếp với storage. Storage vẫn cần endpoint client truy cập được. Backend vẫn có lưu lượng metadata và xác thực.</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a:p xmlns:a="http://schemas.openxmlformats.org/drawingml/2006/main">
            <a:r>
              <a:t/>
            </a:r>
          </a:p>
          <a:p xmlns:a="http://schemas.openxmlformats.org/drawingml/2006/main">
            <a:r>
              <a:t>FAQ — Establishing guardrails and monitoring for presigned URLs</a:t>
            </a:r>
          </a:p>
          <a:p xmlns:a="http://schemas.openxmlformats.org/drawingml/2006/main">
            <a:r>
              <a:t>https://docs.aws.amazon.com/prescriptive-guidance/latest/presigned-url-best-practices/faq.html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câu về delete marker áp dụng khi versioning enabled và DELETE không chỉ định versionId. DeleteObjectVersion có thể xóa vĩnh viễn nếu có quyền. Object Lock bảo vệ version: Governance có thể bypass bởi quyền đặc biệt, Compliance nghiêm ngặt hơn. Lock không cấm tạo version mới hay thêm marker.</a:t>
            </a:r>
          </a:p>
          <a:p xmlns:a="http://schemas.openxmlformats.org/drawingml/2006/main">
            <a:r>
              <a:t/>
            </a:r>
          </a:p>
          <a:p xmlns:a="http://schemas.openxmlformats.org/drawingml/2006/main">
            <a:r>
              <a:t>Đối chiếu nguồn ngày27/10/2026.</a:t>
            </a:r>
          </a:p>
          <a:p xmlns:a="http://schemas.openxmlformats.org/drawingml/2006/main">
            <a:r>
              <a:t>Locking objects with Object Lock</a:t>
            </a:r>
          </a:p>
          <a:p xmlns:a="http://schemas.openxmlformats.org/drawingml/2006/main">
            <a:r>
              <a:t>https://docs.aws.amazon.com/AmazonS3/latest/userguide/object-lock.html</a:t>
            </a:r>
          </a:p>
          <a:p xmlns:a="http://schemas.openxmlformats.org/drawingml/2006/main">
            <a:r>
              <a:t/>
            </a:r>
          </a:p>
          <a:p xmlns:a="http://schemas.openxmlformats.org/drawingml/2006/main">
            <a:r>
              <a:t>How S3 Versioning works</a:t>
            </a:r>
          </a:p>
          <a:p xmlns:a="http://schemas.openxmlformats.org/drawingml/2006/main">
            <a:r>
              <a:t>https://docs.aws.amazon.com/AmazonS3/latest/userguide/versioning-workflows.html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công bố mức tối thiểu3500 write hoặc5500 read requests mỗi giây trên mỗi prefix, không phải ceiling và không phải benchmark MinIO. Scaling diễn ra dần, cần retry/backoff khi503. Multipart core specification:10000parts,5MiB–5GiB/part, phần cuối không có minimum. ETag không luôn là MD5, nên kiểm checksum phù hợp.</a:t>
            </a:r>
          </a:p>
          <a:p xmlns:a="http://schemas.openxmlformats.org/drawingml/2006/main">
            <a:r>
              <a:t/>
            </a:r>
          </a:p>
          <a:p xmlns:a="http://schemas.openxmlformats.org/drawingml/2006/main">
            <a:r>
              <a:t>Đối chiếu nguồn ngày27/10/2026.</a:t>
            </a:r>
          </a:p>
          <a:p xmlns:a="http://schemas.openxmlformats.org/drawingml/2006/main">
            <a:r>
              <a:t>Amazon S3 increases the maximum object size to 50 TB</a:t>
            </a:r>
          </a:p>
          <a:p xmlns:a="http://schemas.openxmlformats.org/drawingml/2006/main">
            <a:r>
              <a:t>https://aws.amazon.com/about-aws/whats-new/2025/12/amazon-s3-maximum-object-size-50-tb/</a:t>
            </a:r>
          </a:p>
          <a:p xmlns:a="http://schemas.openxmlformats.org/drawingml/2006/main">
            <a:r>
              <a:t/>
            </a:r>
          </a:p>
          <a:p xmlns:a="http://schemas.openxmlformats.org/drawingml/2006/main">
            <a:r>
              <a:t>Amazon S3 multipart upload limits</a:t>
            </a:r>
          </a:p>
          <a:p xmlns:a="http://schemas.openxmlformats.org/drawingml/2006/main">
            <a:r>
              <a:t>https://docs.aws.amazon.com/AmazonS3/latest/userguide/qfacts.html</a:t>
            </a:r>
          </a:p>
          <a:p xmlns:a="http://schemas.openxmlformats.org/drawingml/2006/main">
            <a:r>
              <a:t/>
            </a:r>
          </a:p>
          <a:p xmlns:a="http://schemas.openxmlformats.org/drawingml/2006/main">
            <a:r>
              <a:t>Amazon S3 FAQs</a:t>
            </a:r>
          </a:p>
          <a:p xmlns:a="http://schemas.openxmlformats.org/drawingml/2006/main">
            <a:r>
              <a:t>https://aws.amazon.com/s3/faqs/</a:t>
            </a:r>
          </a:p>
          <a:p xmlns:a="http://schemas.openxmlformats.org/drawingml/2006/main">
            <a:r>
              <a:t/>
            </a:r>
          </a:p>
          <a:p xmlns:a="http://schemas.openxmlformats.org/drawingml/2006/main">
            <a:r>
              <a:t>Best practices design patterns: optimizing Amazon S3 performance</a:t>
            </a:r>
          </a:p>
          <a:p xmlns:a="http://schemas.openxmlformats.org/drawingml/2006/main">
            <a:r>
              <a:t>https://docs.aws.amazon.com/AmazonS3/latest/userguide/optimizing-performance.html</a:t>
            </a:r>
          </a:p>
          <a:p xmlns:a="http://schemas.openxmlformats.org/drawingml/2006/main">
            <a:r>
              <a:t/>
            </a:r>
          </a:p>
          <a:p xmlns:a="http://schemas.openxmlformats.org/drawingml/2006/main">
            <a:r>
              <a:t>Uploading and copying objects using multipart upload in Amazon S3</a:t>
            </a:r>
          </a:p>
          <a:p xmlns:a="http://schemas.openxmlformats.org/drawingml/2006/main">
            <a:r>
              <a:t>https://docs.aws.amazon.com/AmazonS3/latest/userguide/mpuoverview.html</a:t>
            </a:r>
          </a:p>
          <a:p xmlns:a="http://schemas.openxmlformats.org/drawingml/2006/main">
            <a:r>
              <a:t/>
            </a:r>
          </a:p>
          <a:p xmlns:a="http://schemas.openxmlformats.org/drawingml/2006/main">
            <a:r>
              <a:t>Checking object integrity in Amazon S3</a:t>
            </a:r>
          </a:p>
          <a:p xmlns:a="http://schemas.openxmlformats.org/drawingml/2006/main">
            <a:r>
              <a:t>https://docs.aws.amazon.com/AmazonS3/latest/userguide/checking-object-integrity.html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hỗ trợ event destinations SNS, SQS, Lambda và EventBridge. Consumer phải xử lý at-least-once, duplicate và out-of-order. Tránh trigger vòng lặp khi output ghi vào cùng prefix. Đây là nội dung nghiên cứu kiến trúc, không phải worker đã triển khai trong N11 Vault.</a:t>
            </a:r>
          </a:p>
          <a:p xmlns:a="http://schemas.openxmlformats.org/drawingml/2006/main">
            <a:r>
              <a:t/>
            </a:r>
          </a:p>
          <a:p xmlns:a="http://schemas.openxmlformats.org/drawingml/2006/main">
            <a:r>
              <a:t>Đối chiếu nguồn ngày27/10/2026.</a:t>
            </a:r>
          </a:p>
          <a:p xmlns:a="http://schemas.openxmlformats.org/drawingml/2006/main">
            <a:r>
              <a:t>Amazon S3 Event Notifications</a:t>
            </a:r>
          </a:p>
          <a:p xmlns:a="http://schemas.openxmlformats.org/drawingml/2006/main">
            <a:r>
              <a:t>https://docs.aws.amazon.com/AmazonS3/latest/userguide/EventNotifications.html</a:t>
            </a:r>
          </a:p>
          <a:p xmlns:a="http://schemas.openxmlformats.org/drawingml/2006/main">
            <a:r>
              <a:t/>
            </a:r>
          </a:p>
          <a:p xmlns:a="http://schemas.openxmlformats.org/drawingml/2006/main">
            <a:r>
              <a:t>Manage event ordering and duplicate events with Amazon S3 Event Notifications</a:t>
            </a:r>
          </a:p>
          <a:p xmlns:a="http://schemas.openxmlformats.org/drawingml/2006/main">
            <a:r>
              <a:t>https://aws.amazon.com/blogs/storage/manage-event-ordering-and-duplicate-events-with-amazon-s3-event-notifications/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Select không nhận khách hàng mới. Đề cập để cập nhật dàn gốc, không khuyến nghị triển khai mới. Athena SQL enginev3 dựaTrino. Partitioning và Parquet có thể giảm dữ liệu quét tùy workload. Không dùng % tiết kiệm không có bằng chứng.</a:t>
            </a:r>
          </a:p>
          <a:p xmlns:a="http://schemas.openxmlformats.org/drawingml/2006/main">
            <a:r>
              <a:t/>
            </a:r>
          </a:p>
          <a:p xmlns:a="http://schemas.openxmlformats.org/drawingml/2006/main">
            <a:r>
              <a:t>Đối chiếu nguồn ngày27/10/2026.</a:t>
            </a:r>
          </a:p>
          <a:p xmlns:a="http://schemas.openxmlformats.org/drawingml/2006/main">
            <a:r>
              <a:t>Querying data in place with Amazon S3 Select</a:t>
            </a:r>
          </a:p>
          <a:p xmlns:a="http://schemas.openxmlformats.org/drawingml/2006/main">
            <a:r>
              <a:t>https://docs.aws.amazon.com/AmazonS3/latest/userguide/selecting-content-from-objects.html</a:t>
            </a:r>
          </a:p>
          <a:p xmlns:a="http://schemas.openxmlformats.org/drawingml/2006/main">
            <a:r>
              <a:t/>
            </a:r>
          </a:p>
          <a:p xmlns:a="http://schemas.openxmlformats.org/drawingml/2006/main">
            <a:r>
              <a:t>Amazon Athena FAQs</a:t>
            </a:r>
          </a:p>
          <a:p xmlns:a="http://schemas.openxmlformats.org/drawingml/2006/main">
            <a:r>
              <a:t>https://aws.amazon.com/athena/faqs/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CRR/SRR sao chép bất đồng bộ giữa các bucket, khác nhau vềRegion. Live replication không tự copy mọi object có từ trước; dữ liệu cũ cầnBatchReplication. Replication không thay thế backup độc lập, RPO/RTO và restore drill.</a:t>
            </a:r>
          </a:p>
          <a:p xmlns:a="http://schemas.openxmlformats.org/drawingml/2006/main">
            <a:r>
              <a:t/>
            </a:r>
          </a:p>
          <a:p xmlns:a="http://schemas.openxmlformats.org/drawingml/2006/main">
            <a:r>
              <a:t>Đối chiếu nguồn ngày27/10/2026.</a:t>
            </a:r>
          </a:p>
          <a:p xmlns:a="http://schemas.openxmlformats.org/drawingml/2006/main">
            <a:r>
              <a:t>Replicating objects within and across Regions</a:t>
            </a:r>
          </a:p>
          <a:p xmlns:a="http://schemas.openxmlformats.org/drawingml/2006/main">
            <a:r>
              <a:t>https://docs.aws.amazon.com/AmazonS3/latest/userguide/replication.html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chi phí phải gồm storage của mọi version, request, retrieval, transfer và vận hành. Không có bảng giá cố định vì phụ thuộc Region, lớp lưu trữ và thời điểm. Lab không đủ dữ liệu để kết luận on-premise rẻ hơn S3 hoặc tính % tiết kiệm.</a:t>
            </a:r>
          </a:p>
          <a:p xmlns:a="http://schemas.openxmlformats.org/drawingml/2006/main">
            <a:r>
              <a:t/>
            </a:r>
          </a:p>
          <a:p xmlns:a="http://schemas.openxmlformats.org/drawingml/2006/main">
            <a:r>
              <a:t>Đối chiếu nguồn ngày27/10/2026.</a:t>
            </a:r>
          </a:p>
          <a:p xmlns:a="http://schemas.openxmlformats.org/drawingml/2006/main">
            <a:r>
              <a:t>Understanding and managing Amazon S3 storage classes</a:t>
            </a:r>
          </a:p>
          <a:p xmlns:a="http://schemas.openxmlformats.org/drawingml/2006/main">
            <a:r>
              <a:t>https://docs.aws.amazon.com/AmazonS3/latest/userguide/storage-class-intro.html</a:t>
            </a:r>
          </a:p>
          <a:p xmlns:a="http://schemas.openxmlformats.org/drawingml/2006/main">
            <a:r>
              <a:t/>
            </a:r>
          </a:p>
          <a:p xmlns:a="http://schemas.openxmlformats.org/drawingml/2006/main">
            <a:r>
              <a:t>Deleting object versions from a versioning-enabled bucket</a:t>
            </a:r>
          </a:p>
          <a:p xmlns:a="http://schemas.openxmlformats.org/drawingml/2006/main">
            <a:r>
              <a:t>https://docs.aws.amazon.com/AmazonS3/latest/userguide/DeletingObjectVersions.html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đối chiếu27/10/2026. GitHub hiển thị archive25/04/2026 và README ghi no longer maintained, source-only, AGPLv3. README hướng người dùng tới AIStor Free standalone và AIStor Enterprise distributed có hỗ trợ thương mại. Không suy rộng tính năng AIStor cho Community lịch sử hoặc dùng khái niệm100% tương thích.</a:t>
            </a:r>
          </a:p>
          <a:p xmlns:a="http://schemas.openxmlformats.org/drawingml/2006/main">
            <a:r>
              <a:t/>
            </a:r>
          </a:p>
          <a:p xmlns:a="http://schemas.openxmlformats.org/drawingml/2006/main">
            <a:r>
              <a:t>Đối chiếu nguồn ngày27/10/2026.</a:t>
            </a:r>
          </a:p>
          <a:p xmlns:a="http://schemas.openxmlformats.org/drawingml/2006/main">
            <a:r>
              <a:t>minio/minio repository and README</a:t>
            </a:r>
          </a:p>
          <a:p xmlns:a="http://schemas.openxmlformats.org/drawingml/2006/main">
            <a:r>
              <a:t>https://github.com/minio/minio</a:t>
            </a:r>
          </a:p>
          <a:p xmlns:a="http://schemas.openxmlformats.org/drawingml/2006/main">
            <a:r>
              <a:t/>
            </a:r>
          </a:p>
          <a:p xmlns:a="http://schemas.openxmlformats.org/drawingml/2006/main">
            <a:r>
              <a:t>S3 API Compatibility — AIStor</a:t>
            </a:r>
          </a:p>
          <a:p xmlns:a="http://schemas.openxmlformats.org/drawingml/2006/main">
            <a:r>
              <a:t>https://docs.min.io/aistor/developers/s3-api-compatibility/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tình huống là yêu cầu bài toán được lựa chọn cho thực nghiệm, không phải kết quả khảo sát người dùng. Đề tài cần chứng minh quyền truy cập, phục hồi và luồng dữ liệu bằng các ca kiểm thử cụ thể.</a:t>
            </a:r>
          </a:p>
          <a:p xmlns:a="http://schemas.openxmlformats.org/drawingml/2006/main">
            <a:r>
              <a:t/>
            </a:r>
          </a:p>
          <a:p xmlns:a="http://schemas.openxmlformats.org/drawingml/2006/main">
            <a:r>
              <a:t>Nguồn: yêu cầu người dùng và thiết kế thực nghiệm của nhóm.</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thể hiện lab một nút, không phải clusterHA. FastAPI ký URL và lưu metadata/trạng thái trong SQLite. Browser gọi S3 endpoint trực tiếp. Tài khoản bootstrap được tách khỏi signer có quyền giới hạn bucket. Bản production cần SSO, TLS, scan, monitoring, backup và nền tảng được bảo trì.</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đã chạy Docker MinIO build từ source release RELEASE.2025-10-15T17-29-55Z, commit 9e49d5e7a648f00e26f2246f4dc28e6b07f8c84a. FastAPI dùng cổng 8000, S3 API dùng cổng 9000. Bootstrap tạo bucket private, bật versioning và signer giới hạn quyền. Endpoint phát URL cần dùng Host mà browser truy cập được. CORS phục vụ trình duyệt và không thay thế authorization. Secret đặt ngoài mã nguồn.</a:t>
            </a:r>
          </a:p>
          <a:p xmlns:a="http://schemas.openxmlformats.org/drawingml/2006/main">
            <a:r>
              <a:t/>
            </a:r>
          </a:p>
          <a:p xmlns:a="http://schemas.openxmlformats.org/drawingml/2006/main">
            <a:r>
              <a:t>Đối chiếu nguồn ngày27/10/2026.</a:t>
            </a:r>
          </a:p>
          <a:p xmlns:a="http://schemas.openxmlformats.org/drawingml/2006/main">
            <a:r>
              <a:t>minio/minio repository and README</a:t>
            </a:r>
          </a:p>
          <a:p xmlns:a="http://schemas.openxmlformats.org/drawingml/2006/main">
            <a:r>
              <a:t>https://github.com/minio/minio</a:t>
            </a:r>
          </a:p>
          <a:p xmlns:a="http://schemas.openxmlformats.org/drawingml/2006/main">
            <a:r>
              <a:t/>
            </a:r>
          </a:p>
          <a:p xmlns:a="http://schemas.openxmlformats.org/drawingml/2006/main">
            <a:r>
              <a:t>Using cross-origin resource sharing (CORS)</a:t>
            </a:r>
          </a:p>
          <a:p xmlns:a="http://schemas.openxmlformats.org/drawingml/2006/main">
            <a:r>
              <a:t>https://docs.aws.amazon.com/AmazonS3/latest/userguide/cors.html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Thực nghiệm thật trong test-evidence.json: cùng object URL khi bỏ chữ ký trả HTTP 403. Tài khoản thứ hai không xin được URL của tài liệu thuộc chủ sở hữu khác. Mô hình hiện kiểm quyền theo owner, chưa có membership hoặc role cộng tác nhóm. Bucket không được mở public.</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a:p xmlns:a="http://schemas.openxmlformats.org/drawingml/2006/main">
            <a:r>
              <a:t>Thực nghiệm trảcross-owner404đểkhônglộsựtồntại.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màn hình N11_Vault_demo.png chụp từ giao diện N11 Vault thật sau khi đăng nhập và tải tệp bằng trình duyệt. Test tích hợp xác nhận PUT đến localhost:9000 và HEAD đúng VersionId trước finalize. Client gửi name và size, backend chọn MIME theo phần mở rộng. Giới hạn nhận 25 MiB/tệp và 250 MiB lịch sử đã xác nhận là chính sách ứng dụng, không phải hard transport quota.</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a:p xmlns:a="http://schemas.openxmlformats.org/drawingml/2006/main">
            <a:r>
              <a:t/>
            </a:r>
          </a:p>
          <a:p xmlns:a="http://schemas.openxmlformats.org/drawingml/2006/main">
            <a:r>
              <a:t>Using cross-origin resource sharing (CORS)</a:t>
            </a:r>
          </a:p>
          <a:p xmlns:a="http://schemas.openxmlformats.org/drawingml/2006/main">
            <a:r>
              <a:t>https://docs.aws.amazon.com/AmazonS3/latest/userguide/cors.html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thực tế: authorized GET trả đúng bytes. Cùng URL dùng lại trước TTL 60 giây vẫn thành công. Request mới bằng cùng URL sau TTL trả HTTP 403. URL là bearer token, có thể tái sử dụng. Hết hạn URL không xóa tệp. Request download đã bắt đầu có thể tiếp tục sau thời điểm hết hạn. Backend kiểm tra quyền trước khi ký.</a:t>
            </a:r>
          </a:p>
          <a:p xmlns:a="http://schemas.openxmlformats.org/drawingml/2006/main">
            <a:r>
              <a:t/>
            </a:r>
          </a:p>
          <a:p xmlns:a="http://schemas.openxmlformats.org/drawingml/2006/main">
            <a:r>
              <a:t>Đối chiếu nguồn ngày27/10/2026.</a:t>
            </a:r>
          </a:p>
          <a:p xmlns:a="http://schemas.openxmlformats.org/drawingml/2006/main">
            <a:r>
              <a:t>Download and upload objects with presigned URLs</a:t>
            </a:r>
          </a:p>
          <a:p xmlns:a="http://schemas.openxmlformats.org/drawingml/2006/main">
            <a:r>
              <a:t>https://docs.aws.amazon.com/AmazonS3/latest/userguide/using-presigned-url.html</a:t>
            </a:r>
          </a:p>
          <a:p xmlns:a="http://schemas.openxmlformats.org/drawingml/2006/main">
            <a:r>
              <a:t/>
            </a:r>
          </a:p>
          <a:p xmlns:a="http://schemas.openxmlformats.org/drawingml/2006/main">
            <a:r>
              <a:t>FAQ — Establishing guardrails and monitoring for presigned URLs</a:t>
            </a:r>
          </a:p>
          <a:p xmlns:a="http://schemas.openxmlformats.org/drawingml/2006/main">
            <a:r>
              <a:t>https://docs.aws.amazon.com/prescriptive-guidance/latest/presigned-url-best-practices/faq.html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thực tế lưu hai upload đã finalize với VersionId MinIO khác nhau. Bản đã xác nhận trong catalog luôn được tải theo đúng VersionId. Replay PUT URL có thể tạo version vật lý nhưng không thay đổi bản đã duyệt. Versioning lưu lịch sử, còn pinning giữ đúng nội dung được ứng dụng công nhận. Hai cơ chế này không thay thế backup.</a:t>
            </a:r>
          </a:p>
          <a:p xmlns:a="http://schemas.openxmlformats.org/drawingml/2006/main">
            <a:r>
              <a:t/>
            </a:r>
          </a:p>
          <a:p xmlns:a="http://schemas.openxmlformats.org/drawingml/2006/main">
            <a:r>
              <a:t>Đối chiếu nguồn ngày27/10/2026.</a:t>
            </a:r>
          </a:p>
          <a:p xmlns:a="http://schemas.openxmlformats.org/drawingml/2006/main">
            <a:r>
              <a:t>How S3 Versioning works</a:t>
            </a:r>
          </a:p>
          <a:p xmlns:a="http://schemas.openxmlformats.org/drawingml/2006/main">
            <a:r>
              <a:t>https://docs.aws.amazon.com/AmazonS3/latest/userguide/versioning-workflows.html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thực tế: DeleteObject tạo marker, ứng dụng chặn current download và restore xóa chính marker đã ghi nhận. COPY một version cũ thành version mới trả đúng bytes gốc. Version đã bị xóa vĩnh viễn hoặc bị lifecycle xóa không thể phục hồi bằng cách bỏ marker.</a:t>
            </a:r>
          </a:p>
          <a:p xmlns:a="http://schemas.openxmlformats.org/drawingml/2006/main">
            <a:r>
              <a:t/>
            </a:r>
          </a:p>
          <a:p xmlns:a="http://schemas.openxmlformats.org/drawingml/2006/main">
            <a:r>
              <a:t>Đối chiếu nguồn ngày27/10/2026.</a:t>
            </a:r>
          </a:p>
          <a:p xmlns:a="http://schemas.openxmlformats.org/drawingml/2006/main">
            <a:r>
              <a:t>Deleting object versions from a versioning-enabled bucket</a:t>
            </a:r>
          </a:p>
          <a:p xmlns:a="http://schemas.openxmlformats.org/drawingml/2006/main">
            <a:r>
              <a:t>https://docs.aws.amazon.com/AmazonS3/latest/userguide/DeletingObjectVersions.html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bucket notifications là hướng mở rộng chưa triển khai. N11 Vault hiện chưa có MinIO bucket notifications hay worker tạo thumbnail hoặc quét mã độc. Luồng đề xuất gồm ObjectCreated, queue/webhook, worker idempotent và bản ghi trạng thái xử lý. Phần này trình bày thiết kế dự kiến, không có kết quả thực nghiệm.</a:t>
            </a:r>
          </a:p>
          <a:p xmlns:a="http://schemas.openxmlformats.org/drawingml/2006/main">
            <a:r>
              <a:t/>
            </a:r>
          </a:p>
          <a:p xmlns:a="http://schemas.openxmlformats.org/drawingml/2006/main">
            <a:r>
              <a:t>Đối chiếu nguồn ngày27/10/2026.</a:t>
            </a:r>
          </a:p>
          <a:p xmlns:a="http://schemas.openxmlformats.org/drawingml/2006/main">
            <a:r>
              <a:t>Amazon S3 Event Notifications</a:t>
            </a:r>
          </a:p>
          <a:p xmlns:a="http://schemas.openxmlformats.org/drawingml/2006/main">
            <a:r>
              <a:t>https://docs.aws.amazon.com/AmazonS3/latest/userguide/EventNotifications.html</a:t>
            </a:r>
          </a:p>
          <a:p xmlns:a="http://schemas.openxmlformats.org/drawingml/2006/main">
            <a:r>
              <a:t/>
            </a:r>
          </a:p>
          <a:p xmlns:a="http://schemas.openxmlformats.org/drawingml/2006/main">
            <a:r>
              <a:t>Manage event ordering and duplicate events with Amazon S3 Event Notifications</a:t>
            </a:r>
          </a:p>
          <a:p xmlns:a="http://schemas.openxmlformats.org/drawingml/2006/main">
            <a:r>
              <a:t>https://aws.amazon.com/blogs/storage/manage-event-ordering-and-duplicate-events-with-amazon-s3-event-notifications/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thực tế ngày 27/10/2026: 27/27 unit/security/API-signature tests PASS, phạm vi domain policy, pending upload quota restore regression, FastAPI TestClient và boto3 thật với memory storage double. 15/15 integration scenarios PASS trên Docker MinIO và FastAPI thật: health; direct PUT/finalize HEAD đúng version; presigned GET; dùng lại GET URL trước TTL; anonymous403; cross-owner denial; v1/v2; PUT replay không thay approved version trong catalog; delete marker; remove marker restore; COPY bản cũ thành version mới; size mismatch422 ở finalize; CORS; audit; cùng GET URL trả403 sau TTL60 giây. Evidence: test-evidence.json trong bộ mã nguồn nhom11-s3-demo. MinIO source release RELEASE.2025-10-15T17-29-55Z, commit9e49d5e7a648f00e26f2246f4dc28e6b07f8c84a. Kết quả này không phải benchmark CPU/RAM/throughput hoặc kiểm chứng HA/độ bền.</a:t>
            </a:r>
          </a:p>
          <a:p xmlns:a="http://schemas.openxmlformats.org/drawingml/2006/main">
            <a:r>
              <a:t/>
            </a:r>
          </a:p>
          <a:p xmlns:a="http://schemas.openxmlformats.org/drawingml/2006/main">
            <a:r>
              <a:t>Nguồn: yêu cầu người dùng và thiết kế thực nghiệm của nhóm.</a:t>
            </a:r>
          </a:p>
          <a:p xmlns:a="http://schemas.openxmlformats.org/drawingml/2006/main">
            <a:r>
              <a:t/>
            </a:r>
          </a:p>
          <a:p xmlns:a="http://schemas.openxmlformats.org/drawingml/2006/main">
            <a:r>
              <a:t>Đối chiếu nguồn ngày27/10/2026.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N11 Vault đã chạy end-to-end trong lab FastAPI và Docker MinIO một nút. Các ca thử thực chứng minh luồng tải trực tiếp, riêng tư theo chủ sở hữu, giữ version đã xác nhận và phục hồi. Kiểm tra browser của nhóm soạn thảo cũng đã đăng nhập và upload tệp61B thành công. Chưa đo hiệu năng hoặc kiểm chứng HA. Để triển khai thực tế cần lựa chọn storage còn hỗ trợ, kiểm soát transport size, secret management, SSO, backup/restore drill và quan sát vận hành.</a:t>
            </a:r>
          </a:p>
          <a:p xmlns:a="http://schemas.openxmlformats.org/drawingml/2006/main">
            <a:r>
              <a:t/>
            </a:r>
          </a:p>
          <a:p xmlns:a="http://schemas.openxmlformats.org/drawingml/2006/main">
            <a:r>
              <a:t>Đối chiếu nguồn ngày27/10/2026.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58ce934b614f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d4c357c5b94b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34d12e4ca048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db272b03e94f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761c5a61ea49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4b7f48e9a444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0144C2-A992-4E58-BFB9-FE539EF256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B6A3D2-D780-4CA3-9558-8C157393F5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182E97-E916-47F2-96FC-26E988193D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F974C1-8C7D-4A7F-808C-F785446F14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0FD84E-379B-4160-8AEB-628E5218BF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2E5ACF-BC72-4424-81B8-9EB77C618C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A808EA-56D3-4945-B80A-CFF3360F8D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EA7F60-C97F-423A-B63D-6A57DCBB54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18C55F-84E3-4F3F-A97F-2BB4795009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0F5222-448D-463F-8A16-AC59568F8F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5b8b7e273644ee" /><Relationship Type="http://schemas.openxmlformats.org/officeDocument/2006/relationships/slideLayout" Target="/ppt/slideLayouts/slideLayout1.xml" Id="R7f8da3a5ff184915" /><Relationship Type="http://schemas.openxmlformats.org/officeDocument/2006/relationships/slideLayout" Target="/ppt/slideLayouts/slideLayout2.xml" Id="Recf2d1031a654c1e" /><Relationship Type="http://schemas.openxmlformats.org/officeDocument/2006/relationships/slideLayout" Target="/ppt/slideLayouts/slideLayout3.xml" Id="R13ac34d749044588" /><Relationship Type="http://schemas.openxmlformats.org/officeDocument/2006/relationships/slideLayout" Target="/ppt/slideLayouts/slideLayout4.xml" Id="R13113d18f5884fe6" /><Relationship Type="http://schemas.openxmlformats.org/officeDocument/2006/relationships/slideLayout" Target="/ppt/slideLayouts/slideLayout5.xml" Id="Radf593ca2bd04661" /><Relationship Type="http://schemas.openxmlformats.org/officeDocument/2006/relationships/slideLayout" Target="/ppt/slideLayouts/slideLayout6.xml" Id="R19769aa68e1447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da3a5ff184915"/>
    <p:sldLayoutId xmlns:r="http://schemas.openxmlformats.org/officeDocument/2006/relationships" id="2147483650" r:id="Recf2d1031a654c1e"/>
    <p:sldLayoutId xmlns:r="http://schemas.openxmlformats.org/officeDocument/2006/relationships" id="2147483651" r:id="R13ac34d749044588"/>
    <p:sldLayoutId xmlns:r="http://schemas.openxmlformats.org/officeDocument/2006/relationships" id="2147483652" r:id="R13113d18f5884fe6"/>
    <p:sldLayoutId xmlns:r="http://schemas.openxmlformats.org/officeDocument/2006/relationships" id="2147483653" r:id="Radf593ca2bd04661"/>
    <p:sldLayoutId xmlns:r="http://schemas.openxmlformats.org/officeDocument/2006/relationships" id="2147483654" r:id="R19769aa68e1447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8a891ca18a4453" /><Relationship Type="http://schemas.openxmlformats.org/officeDocument/2006/relationships/image" Target="/ppt/media/image.png" Id="R599d1c4b052a4455" /><Relationship Type="http://schemas.openxmlformats.org/officeDocument/2006/relationships/notesSlide" Target="/ppt/notesSlides/notesSlide1.xml" Id="Re1c1bad704514d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073016e1c349ff" /><Relationship Type="http://schemas.openxmlformats.org/officeDocument/2006/relationships/notesSlide" Target="/ppt/notesSlides/notesSlide2.xml" Id="Rc3f7992aaa5048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f672563b0f49c6" /><Relationship Type="http://schemas.openxmlformats.org/officeDocument/2006/relationships/notesSlide" Target="/ppt/notesSlides/notesSlide3.xml" Id="R6f9e8934f5a9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4e10c7da544023" /><Relationship Type="http://schemas.openxmlformats.org/officeDocument/2006/relationships/notesSlide" Target="/ppt/notesSlides/notesSlide4.xml" Id="R69701e19179d4c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bcc788cffe477a" /><Relationship Type="http://schemas.openxmlformats.org/officeDocument/2006/relationships/notesSlide" Target="/ppt/notesSlides/notesSlide5.xml" Id="R0134e64e4f6443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1903534c2d422c" /><Relationship Type="http://schemas.openxmlformats.org/officeDocument/2006/relationships/notesSlide" Target="/ppt/notesSlides/notesSlide6.xml" Id="R017ac85244254c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beb153fbc94e55" /><Relationship Type="http://schemas.openxmlformats.org/officeDocument/2006/relationships/notesSlide" Target="/ppt/notesSlides/notesSlide7.xml" Id="R26d88766a8704f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ec5f2a2dde4345" /><Relationship Type="http://schemas.openxmlformats.org/officeDocument/2006/relationships/notesSlide" Target="/ppt/notesSlides/notesSlide8.xml" Id="Re0f01853d3bf46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7351318cf04fb1" /><Relationship Type="http://schemas.openxmlformats.org/officeDocument/2006/relationships/notesSlide" Target="/ppt/notesSlides/notesSlide9.xml" Id="Redcf0f6a3caa41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2fab284e0c449f" /><Relationship Type="http://schemas.openxmlformats.org/officeDocument/2006/relationships/notesSlide" Target="/ppt/notesSlides/notesSlide10.xml" Id="Rb6620da3af3442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116b47e8f34e12" /><Relationship Type="http://schemas.openxmlformats.org/officeDocument/2006/relationships/notesSlide" Target="/ppt/notesSlides/notesSlide11.xml" Id="Rfd122fd978b343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7037d443624b55" /><Relationship Type="http://schemas.openxmlformats.org/officeDocument/2006/relationships/notesSlide" Target="/ppt/notesSlides/notesSlide12.xml" Id="Rf41d9bf5af8f4a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78c0aca7ea440c" /><Relationship Type="http://schemas.openxmlformats.org/officeDocument/2006/relationships/notesSlide" Target="/ppt/notesSlides/notesSlide13.xml" Id="Rc154d88bb44349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54ab9a147614b83" /><Relationship Type="http://schemas.openxmlformats.org/officeDocument/2006/relationships/notesSlide" Target="/ppt/notesSlides/notesSlide14.xml" Id="Rd717994793a945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b9b17993dd4162" /><Relationship Type="http://schemas.openxmlformats.org/officeDocument/2006/relationships/notesSlide" Target="/ppt/notesSlides/notesSlide15.xml" Id="R7762e09a27e941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5e7a58343bc4a3e" /><Relationship Type="http://schemas.openxmlformats.org/officeDocument/2006/relationships/notesSlide" Target="/ppt/notesSlides/notesSlide16.xml" Id="R2a69d8e0040f4c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4bcbd98dbfd4fcc" /><Relationship Type="http://schemas.openxmlformats.org/officeDocument/2006/relationships/notesSlide" Target="/ppt/notesSlides/notesSlide17.xml" Id="R44b2f28674c549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803584a3b743d6" /><Relationship Type="http://schemas.openxmlformats.org/officeDocument/2006/relationships/notesSlide" Target="/ppt/notesSlides/notesSlide18.xml" Id="Ra7d146e727724b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b0841423db45f2" /><Relationship Type="http://schemas.openxmlformats.org/officeDocument/2006/relationships/notesSlide" Target="/ppt/notesSlides/notesSlide19.xml" Id="Rbc7ad80352d94d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484f417ff034c7e" /><Relationship Type="http://schemas.openxmlformats.org/officeDocument/2006/relationships/notesSlide" Target="/ppt/notesSlides/notesSlide20.xml" Id="R7b51adce93174d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e8bbe9179714dd9" /><Relationship Type="http://schemas.openxmlformats.org/officeDocument/2006/relationships/notesSlide" Target="/ppt/notesSlides/notesSlide21.xml" Id="R185642eca65d4a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dfc3dd6fdff4181" /><Relationship Type="http://schemas.openxmlformats.org/officeDocument/2006/relationships/image" Target="/ppt/media/image.jpeg" Id="R83a958d3b21c4611" /><Relationship Type="http://schemas.openxmlformats.org/officeDocument/2006/relationships/notesSlide" Target="/ppt/notesSlides/notesSlide22.xml" Id="Rea23a63a2b6a41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ea65ef9e53945b8" /><Relationship Type="http://schemas.openxmlformats.org/officeDocument/2006/relationships/notesSlide" Target="/ppt/notesSlides/notesSlide23.xml" Id="Rdb40f80533bf44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e85b2173738451a" /><Relationship Type="http://schemas.openxmlformats.org/officeDocument/2006/relationships/notesSlide" Target="/ppt/notesSlides/notesSlide24.xml" Id="R4c21fecd0bd949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88b841ae425443d" /><Relationship Type="http://schemas.openxmlformats.org/officeDocument/2006/relationships/notesSlide" Target="/ppt/notesSlides/notesSlide25.xml" Id="Rdea39c91e68344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bbeaf1b90b44388" /><Relationship Type="http://schemas.openxmlformats.org/officeDocument/2006/relationships/notesSlide" Target="/ppt/notesSlides/notesSlide26.xml" Id="R1dc32f3b08ed427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8aa180567454e22" /><Relationship Type="http://schemas.openxmlformats.org/officeDocument/2006/relationships/notesSlide" Target="/ppt/notesSlides/notesSlide27.xml" Id="Rc11f1442ac814e0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0cf064750d44f76" /><Relationship Type="http://schemas.openxmlformats.org/officeDocument/2006/relationships/notesSlide" Target="/ppt/notesSlides/notesSlide28.xml" Id="R143fe197e307464d" /></Relationships>
</file>

<file path=ppt/slides/slide1.xml><?xml version="1.0" encoding="utf-8"?>
<p:sld xmlns:p="http://schemas.openxmlformats.org/presentationml/2006/main">
  <p:cSld>
    <p:bg>
      <p:bgPr>
        <a:solidFill xmlns:a="http://schemas.openxmlformats.org/drawingml/2006/main">
          <a:srgbClr val="061D2E"/>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976FE98-4B5B-44AC-AF7F-CEEED7423A88}"/>
              </a:ext>
            </a:extLst>
          </p:cNvPr>
          <p:cNvPicPr>
            <a:picLocks xmlns:a="http://schemas.openxmlformats.org/drawingml/2006/main" noChangeAspect="1"/>
          </p:cNvPicPr>
          <p:nvPr/>
        </p:nvPicPr>
        <p:blipFill>
          <a:blip xmlns:r="http://schemas.openxmlformats.org/officeDocument/2006/relationships" xmlns:a="http://schemas.openxmlformats.org/drawingml/2006/main" r:embed="R599d1c4b052a4455"/>
          <a:srcRect xmlns:a="http://schemas.openxmlformats.org/drawingml/2006/main" l="12778" t="0" r="12778" b="0"/>
          <a:stretch xmlns:a="http://schemas.openxmlformats.org/drawingml/2006/main">
            <a:fillRect l="0" t="0" r="0" b="0"/>
          </a:stretch>
        </p:blipFill>
        <p:spPr>
          <a:xfrm xmlns:a="http://schemas.openxmlformats.org/drawingml/2006/main">
            <a:off x="7086600" y="0"/>
            <a:ext cx="5105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692641-4C36-4B07-BF82-C5BD13A20585}"/>
              </a:ext>
            </a:extLst>
          </p:cNvPr>
          <p:cNvSpPr>
            <a:spLocks xmlns:a="http://schemas.openxmlformats.org/drawingml/2006/main" noGrp="1"/>
          </p:cNvSpPr>
          <p:nvPr/>
        </p:nvSpPr>
        <p:spPr>
          <a:xfrm xmlns:a="http://schemas.openxmlformats.org/drawingml/2006/main">
            <a:off x="609600" y="38100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5D3DC"/>
                </a:solidFill>
                <a:latin typeface="Arial"/>
                <a:ea typeface="Arial"/>
                <a:cs typeface="Arial"/>
              </a:defRPr>
            </a:defPPr>
            <a:lvl1pPr algn="l">
              <a:defRPr sz="1500" b="1">
                <a:solidFill>
                  <a:srgbClr val="B5D3DC"/>
                </a:solidFill>
                <a:latin typeface="Arial"/>
                <a:ea typeface="Arial"/>
                <a:cs typeface="Arial"/>
              </a:defRPr>
            </a:lvl1pPr>
            <a:lvl2pPr algn="l">
              <a:defRPr sz="1500" b="1">
                <a:solidFill>
                  <a:srgbClr val="B5D3DC"/>
                </a:solidFill>
                <a:latin typeface="Arial"/>
                <a:ea typeface="Arial"/>
                <a:cs typeface="Arial"/>
              </a:defRPr>
            </a:lvl2pPr>
            <a:lvl3pPr algn="l">
              <a:defRPr sz="1500" b="1">
                <a:solidFill>
                  <a:srgbClr val="B5D3DC"/>
                </a:solidFill>
                <a:latin typeface="Arial"/>
                <a:ea typeface="Arial"/>
                <a:cs typeface="Arial"/>
              </a:defRPr>
            </a:lvl3pPr>
            <a:lvl4pPr algn="l">
              <a:defRPr sz="1500" b="1">
                <a:solidFill>
                  <a:srgbClr val="B5D3DC"/>
                </a:solidFill>
                <a:latin typeface="Arial"/>
                <a:ea typeface="Arial"/>
                <a:cs typeface="Arial"/>
              </a:defRPr>
            </a:lvl4pPr>
            <a:lvl5pPr algn="l">
              <a:defRPr sz="1500" b="1">
                <a:solidFill>
                  <a:srgbClr val="B5D3DC"/>
                </a:solidFill>
                <a:latin typeface="Arial"/>
                <a:ea typeface="Arial"/>
                <a:cs typeface="Arial"/>
              </a:defRPr>
            </a:lvl5pPr>
            <a:lvl6pPr algn="l">
              <a:defRPr sz="1500" b="1">
                <a:solidFill>
                  <a:srgbClr val="B5D3DC"/>
                </a:solidFill>
                <a:latin typeface="Arial"/>
                <a:ea typeface="Arial"/>
                <a:cs typeface="Arial"/>
              </a:defRPr>
            </a:lvl6pPr>
            <a:lvl7pPr algn="l">
              <a:defRPr sz="1500" b="1">
                <a:solidFill>
                  <a:srgbClr val="B5D3DC"/>
                </a:solidFill>
                <a:latin typeface="Arial"/>
                <a:ea typeface="Arial"/>
                <a:cs typeface="Arial"/>
              </a:defRPr>
            </a:lvl7pPr>
            <a:lvl8pPr algn="l">
              <a:defRPr sz="1500" b="1">
                <a:solidFill>
                  <a:srgbClr val="B5D3DC"/>
                </a:solidFill>
                <a:latin typeface="Arial"/>
                <a:ea typeface="Arial"/>
                <a:cs typeface="Arial"/>
              </a:defRPr>
            </a:lvl8pPr>
            <a:lvl9pPr algn="l">
              <a:defRPr sz="1500" b="1">
                <a:solidFill>
                  <a:srgbClr val="B5D3DC"/>
                </a:solidFill>
                <a:latin typeface="Arial"/>
                <a:ea typeface="Arial"/>
                <a:cs typeface="Arial"/>
              </a:defRPr>
            </a:lvl9pPr>
          </a:lstStyle>
          <a:p xmlns:a="http://schemas.openxmlformats.org/drawingml/2006/main">
            <a:pPr algn="l">
              <a:defRPr sz="1500" b="1">
                <a:solidFill>
                  <a:srgbClr val="B5D3DC"/>
                </a:solidFill>
                <a:latin typeface="Arial"/>
                <a:ea typeface="Arial"/>
                <a:cs typeface="Arial"/>
              </a:defRPr>
            </a:pPr>
            <a:r>
              <a:rPr sz="1500" b="1">
                <a:solidFill>
                  <a:srgbClr val="B5D3DC"/>
                </a:solidFill>
                <a:latin typeface="Arial"/>
                <a:ea typeface="Arial"/>
                <a:cs typeface="Arial"/>
              </a:rPr>
              <a:t>HỌC VIỆN CÔNG NGHỆ BƯU CHÍNH VIỄN THÔNG</a:t>
            </a:r>
          </a:p>
        </p:txBody>
      </p:sp>
      <p:sp>
        <p:nvSpPr>
          <p:cNvPr id="3" name="">
            <a:extLst xmlns:a="http://schemas.openxmlformats.org/drawingml/2006/main">
              <a:ext uri="{FF2B5EF4-FFF2-40B4-BE49-F238E27FC236}">
                <a16:creationId xmlns:a16="http://schemas.microsoft.com/office/drawing/2014/main" id="{3121E54D-DA45-4F35-AC2B-86644011A4DB}"/>
              </a:ext>
            </a:extLst>
          </p:cNvPr>
          <p:cNvSpPr>
            <a:spLocks xmlns:a="http://schemas.openxmlformats.org/drawingml/2006/main" noGrp="1"/>
          </p:cNvSpPr>
          <p:nvPr/>
        </p:nvSpPr>
        <p:spPr>
          <a:xfrm xmlns:a="http://schemas.openxmlformats.org/drawingml/2006/main">
            <a:off x="609600" y="98107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58D9E8"/>
                </a:solidFill>
                <a:latin typeface="Arial"/>
                <a:ea typeface="Arial"/>
                <a:cs typeface="Arial"/>
              </a:defRPr>
            </a:defPPr>
            <a:lvl1pPr algn="l">
              <a:defRPr sz="1500" b="1">
                <a:solidFill>
                  <a:srgbClr val="58D9E8"/>
                </a:solidFill>
                <a:latin typeface="Arial"/>
                <a:ea typeface="Arial"/>
                <a:cs typeface="Arial"/>
              </a:defRPr>
            </a:lvl1pPr>
            <a:lvl2pPr algn="l">
              <a:defRPr sz="1500" b="1">
                <a:solidFill>
                  <a:srgbClr val="58D9E8"/>
                </a:solidFill>
                <a:latin typeface="Arial"/>
                <a:ea typeface="Arial"/>
                <a:cs typeface="Arial"/>
              </a:defRPr>
            </a:lvl2pPr>
            <a:lvl3pPr algn="l">
              <a:defRPr sz="1500" b="1">
                <a:solidFill>
                  <a:srgbClr val="58D9E8"/>
                </a:solidFill>
                <a:latin typeface="Arial"/>
                <a:ea typeface="Arial"/>
                <a:cs typeface="Arial"/>
              </a:defRPr>
            </a:lvl3pPr>
            <a:lvl4pPr algn="l">
              <a:defRPr sz="1500" b="1">
                <a:solidFill>
                  <a:srgbClr val="58D9E8"/>
                </a:solidFill>
                <a:latin typeface="Arial"/>
                <a:ea typeface="Arial"/>
                <a:cs typeface="Arial"/>
              </a:defRPr>
            </a:lvl4pPr>
            <a:lvl5pPr algn="l">
              <a:defRPr sz="1500" b="1">
                <a:solidFill>
                  <a:srgbClr val="58D9E8"/>
                </a:solidFill>
                <a:latin typeface="Arial"/>
                <a:ea typeface="Arial"/>
                <a:cs typeface="Arial"/>
              </a:defRPr>
            </a:lvl5pPr>
            <a:lvl6pPr algn="l">
              <a:defRPr sz="1500" b="1">
                <a:solidFill>
                  <a:srgbClr val="58D9E8"/>
                </a:solidFill>
                <a:latin typeface="Arial"/>
                <a:ea typeface="Arial"/>
                <a:cs typeface="Arial"/>
              </a:defRPr>
            </a:lvl6pPr>
            <a:lvl7pPr algn="l">
              <a:defRPr sz="1500" b="1">
                <a:solidFill>
                  <a:srgbClr val="58D9E8"/>
                </a:solidFill>
                <a:latin typeface="Arial"/>
                <a:ea typeface="Arial"/>
                <a:cs typeface="Arial"/>
              </a:defRPr>
            </a:lvl7pPr>
            <a:lvl8pPr algn="l">
              <a:defRPr sz="1500" b="1">
                <a:solidFill>
                  <a:srgbClr val="58D9E8"/>
                </a:solidFill>
                <a:latin typeface="Arial"/>
                <a:ea typeface="Arial"/>
                <a:cs typeface="Arial"/>
              </a:defRPr>
            </a:lvl8pPr>
            <a:lvl9pPr algn="l">
              <a:defRPr sz="1500" b="1">
                <a:solidFill>
                  <a:srgbClr val="58D9E8"/>
                </a:solidFill>
                <a:latin typeface="Arial"/>
                <a:ea typeface="Arial"/>
                <a:cs typeface="Arial"/>
              </a:defRPr>
            </a:lvl9pPr>
          </a:lstStyle>
          <a:p xmlns:a="http://schemas.openxmlformats.org/drawingml/2006/main">
            <a:pPr algn="l">
              <a:defRPr sz="1500" b="1">
                <a:solidFill>
                  <a:srgbClr val="58D9E8"/>
                </a:solidFill>
                <a:latin typeface="Arial"/>
                <a:ea typeface="Arial"/>
                <a:cs typeface="Arial"/>
              </a:defRPr>
            </a:pPr>
            <a:r>
              <a:rPr sz="1500" b="1">
                <a:solidFill>
                  <a:srgbClr val="58D9E8"/>
                </a:solidFill>
                <a:latin typeface="Arial"/>
                <a:ea typeface="Arial"/>
                <a:cs typeface="Arial"/>
              </a:rPr>
              <a:t>KHOA VIỄN THÔNG 1</a:t>
            </a:r>
          </a:p>
        </p:txBody>
      </p:sp>
      <p:sp>
        <p:nvSpPr>
          <p:cNvPr id="4" name="">
            <a:extLst xmlns:a="http://schemas.openxmlformats.org/drawingml/2006/main">
              <a:ext uri="{FF2B5EF4-FFF2-40B4-BE49-F238E27FC236}">
                <a16:creationId xmlns:a16="http://schemas.microsoft.com/office/drawing/2014/main" id="{34214F31-492E-4C71-99A1-36204728232F}"/>
              </a:ext>
            </a:extLst>
          </p:cNvPr>
          <p:cNvSpPr>
            <a:spLocks xmlns:a="http://schemas.openxmlformats.org/drawingml/2006/main" noGrp="1"/>
          </p:cNvSpPr>
          <p:nvPr/>
        </p:nvSpPr>
        <p:spPr>
          <a:xfrm xmlns:a="http://schemas.openxmlformats.org/drawingml/2006/main">
            <a:off x="609600" y="1647825"/>
            <a:ext cx="647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Amazon S3</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và MinIO</a:t>
            </a:r>
          </a:p>
        </p:txBody>
      </p:sp>
      <p:sp>
        <p:nvSpPr>
          <p:cNvPr id="5" name="">
            <a:extLst xmlns:a="http://schemas.openxmlformats.org/drawingml/2006/main">
              <a:ext uri="{FF2B5EF4-FFF2-40B4-BE49-F238E27FC236}">
                <a16:creationId xmlns:a16="http://schemas.microsoft.com/office/drawing/2014/main" id="{D910B3EC-2081-49AC-A5F5-9D0723165073}"/>
              </a:ext>
            </a:extLst>
          </p:cNvPr>
          <p:cNvSpPr>
            <a:spLocks xmlns:a="http://schemas.openxmlformats.org/drawingml/2006/main" noGrp="1"/>
          </p:cNvSpPr>
          <p:nvPr/>
        </p:nvSpPr>
        <p:spPr>
          <a:xfrm xmlns:a="http://schemas.openxmlformats.org/drawingml/2006/main">
            <a:off x="609600" y="3524250"/>
            <a:ext cx="6143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Kiến trúc lưu trữ đối tượng</a:t>
            </a:r>
          </a:p>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và cổng tài liệu riêng tư N11 Vault</a:t>
            </a:r>
          </a:p>
        </p:txBody>
      </p:sp>
      <p:sp>
        <p:nvSpPr>
          <p:cNvPr id="6" name="">
            <a:extLst xmlns:a="http://schemas.openxmlformats.org/drawingml/2006/main">
              <a:ext uri="{FF2B5EF4-FFF2-40B4-BE49-F238E27FC236}">
                <a16:creationId xmlns:a16="http://schemas.microsoft.com/office/drawing/2014/main" id="{DCF390AD-9306-4693-AEEF-C6F4A22180C4}"/>
              </a:ext>
            </a:extLst>
          </p:cNvPr>
          <p:cNvSpPr>
            <a:spLocks xmlns:a="http://schemas.openxmlformats.org/drawingml/2006/main" noGrp="1"/>
          </p:cNvSpPr>
          <p:nvPr/>
        </p:nvSpPr>
        <p:spPr>
          <a:xfrm xmlns:a="http://schemas.openxmlformats.org/drawingml/2006/main">
            <a:off x="609600" y="46482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Giảng viên hướng dẫn: TS Phạm Hùng</a:t>
            </a:r>
          </a:p>
        </p:txBody>
      </p:sp>
      <p:sp>
        <p:nvSpPr>
          <p:cNvPr id="7" name="">
            <a:extLst xmlns:a="http://schemas.openxmlformats.org/drawingml/2006/main">
              <a:ext uri="{FF2B5EF4-FFF2-40B4-BE49-F238E27FC236}">
                <a16:creationId xmlns:a16="http://schemas.microsoft.com/office/drawing/2014/main" id="{CDBE37B0-0041-42DC-9404-11036A94CC2E}"/>
              </a:ext>
            </a:extLst>
          </p:cNvPr>
          <p:cNvSpPr>
            <a:spLocks xmlns:a="http://schemas.openxmlformats.org/drawingml/2006/main" noGrp="1"/>
          </p:cNvSpPr>
          <p:nvPr/>
        </p:nvSpPr>
        <p:spPr>
          <a:xfrm xmlns:a="http://schemas.openxmlformats.org/drawingml/2006/main">
            <a:off x="609600" y="52387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58D9E8"/>
                </a:solidFill>
                <a:latin typeface="Arial"/>
                <a:ea typeface="Arial"/>
                <a:cs typeface="Arial"/>
              </a:defRPr>
            </a:defPPr>
            <a:lvl1pPr algn="l">
              <a:defRPr sz="1500" b="1">
                <a:solidFill>
                  <a:srgbClr val="58D9E8"/>
                </a:solidFill>
                <a:latin typeface="Arial"/>
                <a:ea typeface="Arial"/>
                <a:cs typeface="Arial"/>
              </a:defRPr>
            </a:lvl1pPr>
            <a:lvl2pPr algn="l">
              <a:defRPr sz="1500" b="1">
                <a:solidFill>
                  <a:srgbClr val="58D9E8"/>
                </a:solidFill>
                <a:latin typeface="Arial"/>
                <a:ea typeface="Arial"/>
                <a:cs typeface="Arial"/>
              </a:defRPr>
            </a:lvl2pPr>
            <a:lvl3pPr algn="l">
              <a:defRPr sz="1500" b="1">
                <a:solidFill>
                  <a:srgbClr val="58D9E8"/>
                </a:solidFill>
                <a:latin typeface="Arial"/>
                <a:ea typeface="Arial"/>
                <a:cs typeface="Arial"/>
              </a:defRPr>
            </a:lvl3pPr>
            <a:lvl4pPr algn="l">
              <a:defRPr sz="1500" b="1">
                <a:solidFill>
                  <a:srgbClr val="58D9E8"/>
                </a:solidFill>
                <a:latin typeface="Arial"/>
                <a:ea typeface="Arial"/>
                <a:cs typeface="Arial"/>
              </a:defRPr>
            </a:lvl4pPr>
            <a:lvl5pPr algn="l">
              <a:defRPr sz="1500" b="1">
                <a:solidFill>
                  <a:srgbClr val="58D9E8"/>
                </a:solidFill>
                <a:latin typeface="Arial"/>
                <a:ea typeface="Arial"/>
                <a:cs typeface="Arial"/>
              </a:defRPr>
            </a:lvl5pPr>
            <a:lvl6pPr algn="l">
              <a:defRPr sz="1500" b="1">
                <a:solidFill>
                  <a:srgbClr val="58D9E8"/>
                </a:solidFill>
                <a:latin typeface="Arial"/>
                <a:ea typeface="Arial"/>
                <a:cs typeface="Arial"/>
              </a:defRPr>
            </a:lvl6pPr>
            <a:lvl7pPr algn="l">
              <a:defRPr sz="1500" b="1">
                <a:solidFill>
                  <a:srgbClr val="58D9E8"/>
                </a:solidFill>
                <a:latin typeface="Arial"/>
                <a:ea typeface="Arial"/>
                <a:cs typeface="Arial"/>
              </a:defRPr>
            </a:lvl7pPr>
            <a:lvl8pPr algn="l">
              <a:defRPr sz="1500" b="1">
                <a:solidFill>
                  <a:srgbClr val="58D9E8"/>
                </a:solidFill>
                <a:latin typeface="Arial"/>
                <a:ea typeface="Arial"/>
                <a:cs typeface="Arial"/>
              </a:defRPr>
            </a:lvl8pPr>
            <a:lvl9pPr algn="l">
              <a:defRPr sz="1500" b="1">
                <a:solidFill>
                  <a:srgbClr val="58D9E8"/>
                </a:solidFill>
                <a:latin typeface="Arial"/>
                <a:ea typeface="Arial"/>
                <a:cs typeface="Arial"/>
              </a:defRPr>
            </a:lvl9pPr>
          </a:lstStyle>
          <a:p xmlns:a="http://schemas.openxmlformats.org/drawingml/2006/main">
            <a:pPr algn="l">
              <a:defRPr sz="1500" b="1">
                <a:solidFill>
                  <a:srgbClr val="58D9E8"/>
                </a:solidFill>
                <a:latin typeface="Arial"/>
                <a:ea typeface="Arial"/>
                <a:cs typeface="Arial"/>
              </a:defRPr>
            </a:pPr>
            <a:r>
              <a:rPr sz="1500" b="1">
                <a:solidFill>
                  <a:srgbClr val="58D9E8"/>
                </a:solidFill>
                <a:latin typeface="Arial"/>
                <a:ea typeface="Arial"/>
                <a:cs typeface="Arial"/>
              </a:rPr>
              <a:t>NHÓM 11</a:t>
            </a:r>
          </a:p>
        </p:txBody>
      </p:sp>
      <p:sp>
        <p:nvSpPr>
          <p:cNvPr id="8" name="">
            <a:extLst xmlns:a="http://schemas.openxmlformats.org/drawingml/2006/main">
              <a:ext uri="{FF2B5EF4-FFF2-40B4-BE49-F238E27FC236}">
                <a16:creationId xmlns:a16="http://schemas.microsoft.com/office/drawing/2014/main" id="{D66D5F18-3FAF-4A5E-8758-2FE14CEF53F7}"/>
              </a:ext>
            </a:extLst>
          </p:cNvPr>
          <p:cNvSpPr>
            <a:spLocks xmlns:a="http://schemas.openxmlformats.org/drawingml/2006/main" noGrp="1"/>
          </p:cNvSpPr>
          <p:nvPr/>
        </p:nvSpPr>
        <p:spPr>
          <a:xfrm xmlns:a="http://schemas.openxmlformats.org/drawingml/2006/main">
            <a:off x="609600" y="56292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CEBED"/>
                </a:solidFill>
                <a:latin typeface="Arial"/>
                <a:ea typeface="Arial"/>
                <a:cs typeface="Arial"/>
              </a:defRPr>
            </a:defPPr>
            <a:lvl1pPr algn="l">
              <a:defRPr sz="1800" b="0">
                <a:solidFill>
                  <a:srgbClr val="DCEBED"/>
                </a:solidFill>
                <a:latin typeface="Arial"/>
                <a:ea typeface="Arial"/>
                <a:cs typeface="Arial"/>
              </a:defRPr>
            </a:lvl1pPr>
            <a:lvl2pPr algn="l">
              <a:defRPr sz="1800" b="0">
                <a:solidFill>
                  <a:srgbClr val="DCEBED"/>
                </a:solidFill>
                <a:latin typeface="Arial"/>
                <a:ea typeface="Arial"/>
                <a:cs typeface="Arial"/>
              </a:defRPr>
            </a:lvl2pPr>
            <a:lvl3pPr algn="l">
              <a:defRPr sz="1800" b="0">
                <a:solidFill>
                  <a:srgbClr val="DCEBED"/>
                </a:solidFill>
                <a:latin typeface="Arial"/>
                <a:ea typeface="Arial"/>
                <a:cs typeface="Arial"/>
              </a:defRPr>
            </a:lvl3pPr>
            <a:lvl4pPr algn="l">
              <a:defRPr sz="1800" b="0">
                <a:solidFill>
                  <a:srgbClr val="DCEBED"/>
                </a:solidFill>
                <a:latin typeface="Arial"/>
                <a:ea typeface="Arial"/>
                <a:cs typeface="Arial"/>
              </a:defRPr>
            </a:lvl4pPr>
            <a:lvl5pPr algn="l">
              <a:defRPr sz="1800" b="0">
                <a:solidFill>
                  <a:srgbClr val="DCEBED"/>
                </a:solidFill>
                <a:latin typeface="Arial"/>
                <a:ea typeface="Arial"/>
                <a:cs typeface="Arial"/>
              </a:defRPr>
            </a:lvl5pPr>
            <a:lvl6pPr algn="l">
              <a:defRPr sz="1800" b="0">
                <a:solidFill>
                  <a:srgbClr val="DCEBED"/>
                </a:solidFill>
                <a:latin typeface="Arial"/>
                <a:ea typeface="Arial"/>
                <a:cs typeface="Arial"/>
              </a:defRPr>
            </a:lvl6pPr>
            <a:lvl7pPr algn="l">
              <a:defRPr sz="1800" b="0">
                <a:solidFill>
                  <a:srgbClr val="DCEBED"/>
                </a:solidFill>
                <a:latin typeface="Arial"/>
                <a:ea typeface="Arial"/>
                <a:cs typeface="Arial"/>
              </a:defRPr>
            </a:lvl7pPr>
            <a:lvl8pPr algn="l">
              <a:defRPr sz="1800" b="0">
                <a:solidFill>
                  <a:srgbClr val="DCEBED"/>
                </a:solidFill>
                <a:latin typeface="Arial"/>
                <a:ea typeface="Arial"/>
                <a:cs typeface="Arial"/>
              </a:defRPr>
            </a:lvl8pPr>
            <a:lvl9pPr algn="l">
              <a:defRPr sz="1800" b="0">
                <a:solidFill>
                  <a:srgbClr val="DCEBED"/>
                </a:solidFill>
                <a:latin typeface="Arial"/>
                <a:ea typeface="Arial"/>
                <a:cs typeface="Arial"/>
              </a:defRPr>
            </a:lvl9pPr>
          </a:lstStyle>
          <a:p xmlns:a="http://schemas.openxmlformats.org/drawingml/2006/main">
            <a:pPr algn="l">
              <a:defRPr sz="1800" b="0">
                <a:solidFill>
                  <a:srgbClr val="DCEBED"/>
                </a:solidFill>
                <a:latin typeface="Arial"/>
                <a:ea typeface="Arial"/>
                <a:cs typeface="Arial"/>
              </a:defRPr>
            </a:pPr>
            <a:r>
              <a:rPr sz="1800" b="0">
                <a:solidFill>
                  <a:srgbClr val="DCEBED"/>
                </a:solidFill>
                <a:latin typeface="Arial"/>
                <a:ea typeface="Arial"/>
                <a:cs typeface="Arial"/>
              </a:rPr>
              <a:t>Nguyễn Minh Hiếu</a:t>
            </a:r>
          </a:p>
          <a:p xmlns:a="http://schemas.openxmlformats.org/drawingml/2006/main">
            <a:pPr algn="l">
              <a:defRPr sz="1800" b="0">
                <a:solidFill>
                  <a:srgbClr val="DCEBED"/>
                </a:solidFill>
                <a:latin typeface="Arial"/>
                <a:ea typeface="Arial"/>
                <a:cs typeface="Arial"/>
              </a:defRPr>
            </a:pPr>
            <a:r>
              <a:rPr sz="1800" b="0">
                <a:solidFill>
                  <a:srgbClr val="DCEBED"/>
                </a:solidFill>
                <a:latin typeface="Arial"/>
                <a:ea typeface="Arial"/>
                <a:cs typeface="Arial"/>
              </a:rPr>
              <a:t>Nguyễn Đăng Minh</a:t>
            </a:r>
          </a:p>
        </p:txBody>
      </p:sp>
      <p:sp>
        <p:nvSpPr>
          <p:cNvPr id="9" name="">
            <a:extLst xmlns:a="http://schemas.openxmlformats.org/drawingml/2006/main">
              <a:ext uri="{FF2B5EF4-FFF2-40B4-BE49-F238E27FC236}">
                <a16:creationId xmlns:a16="http://schemas.microsoft.com/office/drawing/2014/main" id="{EF2B7AB4-807C-4281-8C67-D41A34A22F2B}"/>
              </a:ext>
            </a:extLst>
          </p:cNvPr>
          <p:cNvSpPr>
            <a:spLocks xmlns:a="http://schemas.openxmlformats.org/drawingml/2006/main" noGrp="1"/>
          </p:cNvSpPr>
          <p:nvPr/>
        </p:nvSpPr>
        <p:spPr>
          <a:xfrm xmlns:a="http://schemas.openxmlformats.org/drawingml/2006/main">
            <a:off x="3724275" y="562927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CEBED"/>
                </a:solidFill>
                <a:latin typeface="Arial"/>
                <a:ea typeface="Arial"/>
                <a:cs typeface="Arial"/>
              </a:defRPr>
            </a:defPPr>
            <a:lvl1pPr algn="l">
              <a:defRPr sz="1800" b="0">
                <a:solidFill>
                  <a:srgbClr val="DCEBED"/>
                </a:solidFill>
                <a:latin typeface="Arial"/>
                <a:ea typeface="Arial"/>
                <a:cs typeface="Arial"/>
              </a:defRPr>
            </a:lvl1pPr>
            <a:lvl2pPr algn="l">
              <a:defRPr sz="1800" b="0">
                <a:solidFill>
                  <a:srgbClr val="DCEBED"/>
                </a:solidFill>
                <a:latin typeface="Arial"/>
                <a:ea typeface="Arial"/>
                <a:cs typeface="Arial"/>
              </a:defRPr>
            </a:lvl2pPr>
            <a:lvl3pPr algn="l">
              <a:defRPr sz="1800" b="0">
                <a:solidFill>
                  <a:srgbClr val="DCEBED"/>
                </a:solidFill>
                <a:latin typeface="Arial"/>
                <a:ea typeface="Arial"/>
                <a:cs typeface="Arial"/>
              </a:defRPr>
            </a:lvl3pPr>
            <a:lvl4pPr algn="l">
              <a:defRPr sz="1800" b="0">
                <a:solidFill>
                  <a:srgbClr val="DCEBED"/>
                </a:solidFill>
                <a:latin typeface="Arial"/>
                <a:ea typeface="Arial"/>
                <a:cs typeface="Arial"/>
              </a:defRPr>
            </a:lvl4pPr>
            <a:lvl5pPr algn="l">
              <a:defRPr sz="1800" b="0">
                <a:solidFill>
                  <a:srgbClr val="DCEBED"/>
                </a:solidFill>
                <a:latin typeface="Arial"/>
                <a:ea typeface="Arial"/>
                <a:cs typeface="Arial"/>
              </a:defRPr>
            </a:lvl5pPr>
            <a:lvl6pPr algn="l">
              <a:defRPr sz="1800" b="0">
                <a:solidFill>
                  <a:srgbClr val="DCEBED"/>
                </a:solidFill>
                <a:latin typeface="Arial"/>
                <a:ea typeface="Arial"/>
                <a:cs typeface="Arial"/>
              </a:defRPr>
            </a:lvl6pPr>
            <a:lvl7pPr algn="l">
              <a:defRPr sz="1800" b="0">
                <a:solidFill>
                  <a:srgbClr val="DCEBED"/>
                </a:solidFill>
                <a:latin typeface="Arial"/>
                <a:ea typeface="Arial"/>
                <a:cs typeface="Arial"/>
              </a:defRPr>
            </a:lvl7pPr>
            <a:lvl8pPr algn="l">
              <a:defRPr sz="1800" b="0">
                <a:solidFill>
                  <a:srgbClr val="DCEBED"/>
                </a:solidFill>
                <a:latin typeface="Arial"/>
                <a:ea typeface="Arial"/>
                <a:cs typeface="Arial"/>
              </a:defRPr>
            </a:lvl8pPr>
            <a:lvl9pPr algn="l">
              <a:defRPr sz="1800" b="0">
                <a:solidFill>
                  <a:srgbClr val="DCEBED"/>
                </a:solidFill>
                <a:latin typeface="Arial"/>
                <a:ea typeface="Arial"/>
                <a:cs typeface="Arial"/>
              </a:defRPr>
            </a:lvl9pPr>
          </a:lstStyle>
          <a:p xmlns:a="http://schemas.openxmlformats.org/drawingml/2006/main">
            <a:pPr algn="l">
              <a:defRPr sz="1800" b="0">
                <a:solidFill>
                  <a:srgbClr val="DCEBED"/>
                </a:solidFill>
                <a:latin typeface="Arial"/>
                <a:ea typeface="Arial"/>
                <a:cs typeface="Arial"/>
              </a:defRPr>
            </a:pPr>
            <a:r>
              <a:rPr sz="1800" b="0">
                <a:solidFill>
                  <a:srgbClr val="DCEBED"/>
                </a:solidFill>
                <a:latin typeface="Arial"/>
                <a:ea typeface="Arial"/>
                <a:cs typeface="Arial"/>
              </a:rPr>
              <a:t>Phương Bảo Vỹ</a:t>
            </a:r>
          </a:p>
          <a:p xmlns:a="http://schemas.openxmlformats.org/drawingml/2006/main">
            <a:pPr algn="l">
              <a:defRPr sz="1800" b="0">
                <a:solidFill>
                  <a:srgbClr val="DCEBED"/>
                </a:solidFill>
                <a:latin typeface="Arial"/>
                <a:ea typeface="Arial"/>
                <a:cs typeface="Arial"/>
              </a:defRPr>
            </a:pPr>
            <a:r>
              <a:rPr sz="1800" b="0">
                <a:solidFill>
                  <a:srgbClr val="DCEBED"/>
                </a:solidFill>
                <a:latin typeface="Arial"/>
                <a:ea typeface="Arial"/>
                <a:cs typeface="Arial"/>
              </a:rPr>
              <a:t>Phan Nguyễn Trung Khánh</a:t>
            </a:r>
          </a:p>
        </p:txBody>
      </p:sp>
    </p:spTree>
    <p:extLst>
      <p:ext uri="{BB962C8B-B14F-4D97-AF65-F5344CB8AC3E}">
        <p14:creationId xmlns:p14="http://schemas.microsoft.com/office/powerpoint/2010/main" val="905081889"/>
      </p:ext>
    </p:extLst>
  </p:cSld>
</p:sld>
</file>

<file path=ppt/slides/slide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0402C4-C4A7-4C26-94B3-79147417962E}"/>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  BỐI CẢNH VÀ NỀN TẢNG</a:t>
            </a:r>
          </a:p>
        </p:txBody>
      </p:sp>
      <p:sp>
        <p:nvSpPr>
          <p:cNvPr id="2" name="">
            <a:extLst xmlns:a="http://schemas.openxmlformats.org/drawingml/2006/main">
              <a:ext uri="{FF2B5EF4-FFF2-40B4-BE49-F238E27FC236}">
                <a16:creationId xmlns:a16="http://schemas.microsoft.com/office/drawing/2014/main" id="{D8992D9A-13B0-4097-A2DA-1EFDAAB97217}"/>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Lược sử các mô hình lưu trữ</a:t>
            </a:r>
          </a:p>
        </p:txBody>
      </p:sp>
      <p:sp>
        <p:nvSpPr>
          <p:cNvPr id="3" name="">
            <a:extLst xmlns:a="http://schemas.openxmlformats.org/drawingml/2006/main">
              <a:ext uri="{FF2B5EF4-FFF2-40B4-BE49-F238E27FC236}">
                <a16:creationId xmlns:a16="http://schemas.microsoft.com/office/drawing/2014/main" id="{7366B58D-196A-4556-B675-EA2201EB2896}"/>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DBBE929D-6597-480B-8200-4A32E0D4369F}"/>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BACBC12-3E7B-4A26-8605-7B2CFEA738DB}"/>
              </a:ext>
            </a:extLst>
          </p:cNvPr>
          <p:cNvSpPr>
            <a:spLocks xmlns:a="http://schemas.openxmlformats.org/drawingml/2006/main" noGrp="1"/>
          </p:cNvSpPr>
          <p:nvPr/>
        </p:nvSpPr>
        <p:spPr>
          <a:xfrm xmlns:a="http://schemas.openxmlformats.org/drawingml/2006/main">
            <a:off x="609600" y="2352675"/>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DAS / SAN</a:t>
            </a:r>
          </a:p>
        </p:txBody>
      </p:sp>
      <p:sp>
        <p:nvSpPr>
          <p:cNvPr id="6" name="">
            <a:extLst xmlns:a="http://schemas.openxmlformats.org/drawingml/2006/main">
              <a:ext uri="{FF2B5EF4-FFF2-40B4-BE49-F238E27FC236}">
                <a16:creationId xmlns:a16="http://schemas.microsoft.com/office/drawing/2014/main" id="{D0D8D8EC-4E82-4E4F-B71C-1BF4F8ED467E}"/>
              </a:ext>
            </a:extLst>
          </p:cNvPr>
          <p:cNvSpPr>
            <a:spLocks xmlns:a="http://schemas.openxmlformats.org/drawingml/2006/main" noGrp="1"/>
          </p:cNvSpPr>
          <p:nvPr/>
        </p:nvSpPr>
        <p:spPr>
          <a:xfrm xmlns:a="http://schemas.openxmlformats.org/drawingml/2006/main">
            <a:off x="609600" y="3543300"/>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A4C"/>
                </a:solidFill>
                <a:latin typeface="Arial"/>
                <a:ea typeface="Arial"/>
                <a:cs typeface="Arial"/>
              </a:defRPr>
            </a:defPPr>
            <a:lvl1pPr algn="l">
              <a:defRPr sz="2100" b="0">
                <a:solidFill>
                  <a:srgbClr val="163A4C"/>
                </a:solidFill>
                <a:latin typeface="Arial"/>
                <a:ea typeface="Arial"/>
                <a:cs typeface="Arial"/>
              </a:defRPr>
            </a:lvl1pPr>
            <a:lvl2pPr algn="l">
              <a:defRPr sz="2100" b="0">
                <a:solidFill>
                  <a:srgbClr val="163A4C"/>
                </a:solidFill>
                <a:latin typeface="Arial"/>
                <a:ea typeface="Arial"/>
                <a:cs typeface="Arial"/>
              </a:defRPr>
            </a:lvl2pPr>
            <a:lvl3pPr algn="l">
              <a:defRPr sz="2100" b="0">
                <a:solidFill>
                  <a:srgbClr val="163A4C"/>
                </a:solidFill>
                <a:latin typeface="Arial"/>
                <a:ea typeface="Arial"/>
                <a:cs typeface="Arial"/>
              </a:defRPr>
            </a:lvl3pPr>
            <a:lvl4pPr algn="l">
              <a:defRPr sz="2100" b="0">
                <a:solidFill>
                  <a:srgbClr val="163A4C"/>
                </a:solidFill>
                <a:latin typeface="Arial"/>
                <a:ea typeface="Arial"/>
                <a:cs typeface="Arial"/>
              </a:defRPr>
            </a:lvl4pPr>
            <a:lvl5pPr algn="l">
              <a:defRPr sz="2100" b="0">
                <a:solidFill>
                  <a:srgbClr val="163A4C"/>
                </a:solidFill>
                <a:latin typeface="Arial"/>
                <a:ea typeface="Arial"/>
                <a:cs typeface="Arial"/>
              </a:defRPr>
            </a:lvl5pPr>
            <a:lvl6pPr algn="l">
              <a:defRPr sz="2100" b="0">
                <a:solidFill>
                  <a:srgbClr val="163A4C"/>
                </a:solidFill>
                <a:latin typeface="Arial"/>
                <a:ea typeface="Arial"/>
                <a:cs typeface="Arial"/>
              </a:defRPr>
            </a:lvl6pPr>
            <a:lvl7pPr algn="l">
              <a:defRPr sz="2100" b="0">
                <a:solidFill>
                  <a:srgbClr val="163A4C"/>
                </a:solidFill>
                <a:latin typeface="Arial"/>
                <a:ea typeface="Arial"/>
                <a:cs typeface="Arial"/>
              </a:defRPr>
            </a:lvl7pPr>
            <a:lvl8pPr algn="l">
              <a:defRPr sz="2100" b="0">
                <a:solidFill>
                  <a:srgbClr val="163A4C"/>
                </a:solidFill>
                <a:latin typeface="Arial"/>
                <a:ea typeface="Arial"/>
                <a:cs typeface="Arial"/>
              </a:defRPr>
            </a:lvl8pPr>
            <a:lvl9pPr algn="l">
              <a:defRPr sz="2100" b="0">
                <a:solidFill>
                  <a:srgbClr val="163A4C"/>
                </a:solidFill>
                <a:latin typeface="Arial"/>
                <a:ea typeface="Arial"/>
                <a:cs typeface="Arial"/>
              </a:defRPr>
            </a:lvl9pPr>
          </a:lstStyle>
          <a:p xmlns:a="http://schemas.openxmlformats.org/drawingml/2006/main">
            <a:pPr algn="l">
              <a:defRPr sz="2100" b="0">
                <a:solidFill>
                  <a:srgbClr val="163A4C"/>
                </a:solidFill>
                <a:latin typeface="Arial"/>
                <a:ea typeface="Arial"/>
                <a:cs typeface="Arial"/>
              </a:defRPr>
            </a:pPr>
            <a:r>
              <a:rPr sz="2100" b="0">
                <a:solidFill>
                  <a:srgbClr val="163A4C"/>
                </a:solidFill>
                <a:latin typeface="Arial"/>
                <a:ea typeface="Arial"/>
                <a:cs typeface="Arial"/>
              </a:rPr>
              <a:t>Thiết bị khối, IO ngẫu nhiên và độ trễ thấp. Phù hợp hệ điều hành, cơ sở dữ liệu.</a:t>
            </a:r>
          </a:p>
        </p:txBody>
      </p:sp>
      <p:sp>
        <p:nvSpPr>
          <p:cNvPr id="7" name="">
            <a:extLst xmlns:a="http://schemas.openxmlformats.org/drawingml/2006/main">
              <a:ext uri="{FF2B5EF4-FFF2-40B4-BE49-F238E27FC236}">
                <a16:creationId xmlns:a16="http://schemas.microsoft.com/office/drawing/2014/main" id="{6B92202B-6F82-4B5B-AB35-7E839B63DF2B}"/>
              </a:ext>
            </a:extLst>
          </p:cNvPr>
          <p:cNvSpPr>
            <a:spLocks xmlns:a="http://schemas.openxmlformats.org/drawingml/2006/main" noGrp="1"/>
          </p:cNvSpPr>
          <p:nvPr/>
        </p:nvSpPr>
        <p:spPr>
          <a:xfrm xmlns:a="http://schemas.openxmlformats.org/drawingml/2006/main">
            <a:off x="4419600" y="2352675"/>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B75B4B"/>
                </a:solidFill>
                <a:latin typeface="Arial"/>
                <a:ea typeface="Arial"/>
                <a:cs typeface="Arial"/>
              </a:defRPr>
            </a:defPPr>
            <a:lvl1pPr algn="l">
              <a:defRPr sz="2775" b="1">
                <a:solidFill>
                  <a:srgbClr val="B75B4B"/>
                </a:solidFill>
                <a:latin typeface="Arial"/>
                <a:ea typeface="Arial"/>
                <a:cs typeface="Arial"/>
              </a:defRPr>
            </a:lvl1pPr>
            <a:lvl2pPr algn="l">
              <a:defRPr sz="2775" b="1">
                <a:solidFill>
                  <a:srgbClr val="B75B4B"/>
                </a:solidFill>
                <a:latin typeface="Arial"/>
                <a:ea typeface="Arial"/>
                <a:cs typeface="Arial"/>
              </a:defRPr>
            </a:lvl2pPr>
            <a:lvl3pPr algn="l">
              <a:defRPr sz="2775" b="1">
                <a:solidFill>
                  <a:srgbClr val="B75B4B"/>
                </a:solidFill>
                <a:latin typeface="Arial"/>
                <a:ea typeface="Arial"/>
                <a:cs typeface="Arial"/>
              </a:defRPr>
            </a:lvl3pPr>
            <a:lvl4pPr algn="l">
              <a:defRPr sz="2775" b="1">
                <a:solidFill>
                  <a:srgbClr val="B75B4B"/>
                </a:solidFill>
                <a:latin typeface="Arial"/>
                <a:ea typeface="Arial"/>
                <a:cs typeface="Arial"/>
              </a:defRPr>
            </a:lvl4pPr>
            <a:lvl5pPr algn="l">
              <a:defRPr sz="2775" b="1">
                <a:solidFill>
                  <a:srgbClr val="B75B4B"/>
                </a:solidFill>
                <a:latin typeface="Arial"/>
                <a:ea typeface="Arial"/>
                <a:cs typeface="Arial"/>
              </a:defRPr>
            </a:lvl5pPr>
            <a:lvl6pPr algn="l">
              <a:defRPr sz="2775" b="1">
                <a:solidFill>
                  <a:srgbClr val="B75B4B"/>
                </a:solidFill>
                <a:latin typeface="Arial"/>
                <a:ea typeface="Arial"/>
                <a:cs typeface="Arial"/>
              </a:defRPr>
            </a:lvl6pPr>
            <a:lvl7pPr algn="l">
              <a:defRPr sz="2775" b="1">
                <a:solidFill>
                  <a:srgbClr val="B75B4B"/>
                </a:solidFill>
                <a:latin typeface="Arial"/>
                <a:ea typeface="Arial"/>
                <a:cs typeface="Arial"/>
              </a:defRPr>
            </a:lvl7pPr>
            <a:lvl8pPr algn="l">
              <a:defRPr sz="2775" b="1">
                <a:solidFill>
                  <a:srgbClr val="B75B4B"/>
                </a:solidFill>
                <a:latin typeface="Arial"/>
                <a:ea typeface="Arial"/>
                <a:cs typeface="Arial"/>
              </a:defRPr>
            </a:lvl8pPr>
            <a:lvl9pPr algn="l">
              <a:defRPr sz="2775" b="1">
                <a:solidFill>
                  <a:srgbClr val="B75B4B"/>
                </a:solidFill>
                <a:latin typeface="Arial"/>
                <a:ea typeface="Arial"/>
                <a:cs typeface="Arial"/>
              </a:defRPr>
            </a:lvl9pPr>
          </a:lstStyle>
          <a:p xmlns:a="http://schemas.openxmlformats.org/drawingml/2006/main">
            <a:pPr algn="l">
              <a:defRPr sz="2775" b="1">
                <a:solidFill>
                  <a:srgbClr val="B75B4B"/>
                </a:solidFill>
                <a:latin typeface="Arial"/>
                <a:ea typeface="Arial"/>
                <a:cs typeface="Arial"/>
              </a:defRPr>
            </a:pPr>
            <a:r>
              <a:rPr sz="2775" b="1">
                <a:solidFill>
                  <a:srgbClr val="B75B4B"/>
                </a:solidFill>
                <a:latin typeface="Arial"/>
                <a:ea typeface="Arial"/>
                <a:cs typeface="Arial"/>
              </a:rPr>
              <a:t>NAS</a:t>
            </a:r>
          </a:p>
        </p:txBody>
      </p:sp>
      <p:sp>
        <p:nvSpPr>
          <p:cNvPr id="8" name="">
            <a:extLst xmlns:a="http://schemas.openxmlformats.org/drawingml/2006/main">
              <a:ext uri="{FF2B5EF4-FFF2-40B4-BE49-F238E27FC236}">
                <a16:creationId xmlns:a16="http://schemas.microsoft.com/office/drawing/2014/main" id="{44BDC8F5-E687-4B88-93C2-E8D7F3534285}"/>
              </a:ext>
            </a:extLst>
          </p:cNvPr>
          <p:cNvSpPr>
            <a:spLocks xmlns:a="http://schemas.openxmlformats.org/drawingml/2006/main" noGrp="1"/>
          </p:cNvSpPr>
          <p:nvPr/>
        </p:nvSpPr>
        <p:spPr>
          <a:xfrm xmlns:a="http://schemas.openxmlformats.org/drawingml/2006/main">
            <a:off x="4419600" y="3543300"/>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A4C"/>
                </a:solidFill>
                <a:latin typeface="Arial"/>
                <a:ea typeface="Arial"/>
                <a:cs typeface="Arial"/>
              </a:defRPr>
            </a:defPPr>
            <a:lvl1pPr algn="l">
              <a:defRPr sz="2100" b="0">
                <a:solidFill>
                  <a:srgbClr val="163A4C"/>
                </a:solidFill>
                <a:latin typeface="Arial"/>
                <a:ea typeface="Arial"/>
                <a:cs typeface="Arial"/>
              </a:defRPr>
            </a:lvl1pPr>
            <a:lvl2pPr algn="l">
              <a:defRPr sz="2100" b="0">
                <a:solidFill>
                  <a:srgbClr val="163A4C"/>
                </a:solidFill>
                <a:latin typeface="Arial"/>
                <a:ea typeface="Arial"/>
                <a:cs typeface="Arial"/>
              </a:defRPr>
            </a:lvl2pPr>
            <a:lvl3pPr algn="l">
              <a:defRPr sz="2100" b="0">
                <a:solidFill>
                  <a:srgbClr val="163A4C"/>
                </a:solidFill>
                <a:latin typeface="Arial"/>
                <a:ea typeface="Arial"/>
                <a:cs typeface="Arial"/>
              </a:defRPr>
            </a:lvl3pPr>
            <a:lvl4pPr algn="l">
              <a:defRPr sz="2100" b="0">
                <a:solidFill>
                  <a:srgbClr val="163A4C"/>
                </a:solidFill>
                <a:latin typeface="Arial"/>
                <a:ea typeface="Arial"/>
                <a:cs typeface="Arial"/>
              </a:defRPr>
            </a:lvl4pPr>
            <a:lvl5pPr algn="l">
              <a:defRPr sz="2100" b="0">
                <a:solidFill>
                  <a:srgbClr val="163A4C"/>
                </a:solidFill>
                <a:latin typeface="Arial"/>
                <a:ea typeface="Arial"/>
                <a:cs typeface="Arial"/>
              </a:defRPr>
            </a:lvl5pPr>
            <a:lvl6pPr algn="l">
              <a:defRPr sz="2100" b="0">
                <a:solidFill>
                  <a:srgbClr val="163A4C"/>
                </a:solidFill>
                <a:latin typeface="Arial"/>
                <a:ea typeface="Arial"/>
                <a:cs typeface="Arial"/>
              </a:defRPr>
            </a:lvl6pPr>
            <a:lvl7pPr algn="l">
              <a:defRPr sz="2100" b="0">
                <a:solidFill>
                  <a:srgbClr val="163A4C"/>
                </a:solidFill>
                <a:latin typeface="Arial"/>
                <a:ea typeface="Arial"/>
                <a:cs typeface="Arial"/>
              </a:defRPr>
            </a:lvl7pPr>
            <a:lvl8pPr algn="l">
              <a:defRPr sz="2100" b="0">
                <a:solidFill>
                  <a:srgbClr val="163A4C"/>
                </a:solidFill>
                <a:latin typeface="Arial"/>
                <a:ea typeface="Arial"/>
                <a:cs typeface="Arial"/>
              </a:defRPr>
            </a:lvl8pPr>
            <a:lvl9pPr algn="l">
              <a:defRPr sz="2100" b="0">
                <a:solidFill>
                  <a:srgbClr val="163A4C"/>
                </a:solidFill>
                <a:latin typeface="Arial"/>
                <a:ea typeface="Arial"/>
                <a:cs typeface="Arial"/>
              </a:defRPr>
            </a:lvl9pPr>
          </a:lstStyle>
          <a:p xmlns:a="http://schemas.openxmlformats.org/drawingml/2006/main">
            <a:pPr algn="l">
              <a:defRPr sz="2100" b="0">
                <a:solidFill>
                  <a:srgbClr val="163A4C"/>
                </a:solidFill>
                <a:latin typeface="Arial"/>
                <a:ea typeface="Arial"/>
                <a:cs typeface="Arial"/>
              </a:defRPr>
            </a:pPr>
            <a:r>
              <a:rPr sz="2100" b="0">
                <a:solidFill>
                  <a:srgbClr val="163A4C"/>
                </a:solidFill>
                <a:latin typeface="Arial"/>
                <a:ea typeface="Arial"/>
                <a:cs typeface="Arial"/>
              </a:rPr>
              <a:t>Tệp trong cây thư mục. Chia sẻ qua NFS / SMB cho ứng dụng và người dùng.</a:t>
            </a:r>
          </a:p>
        </p:txBody>
      </p:sp>
      <p:sp>
        <p:nvSpPr>
          <p:cNvPr id="9" name="">
            <a:extLst xmlns:a="http://schemas.openxmlformats.org/drawingml/2006/main">
              <a:ext uri="{FF2B5EF4-FFF2-40B4-BE49-F238E27FC236}">
                <a16:creationId xmlns:a16="http://schemas.microsoft.com/office/drawing/2014/main" id="{54FA453C-C8F2-4FD5-BDF6-C54EDF5415AB}"/>
              </a:ext>
            </a:extLst>
          </p:cNvPr>
          <p:cNvSpPr>
            <a:spLocks xmlns:a="http://schemas.openxmlformats.org/drawingml/2006/main" noGrp="1"/>
          </p:cNvSpPr>
          <p:nvPr/>
        </p:nvSpPr>
        <p:spPr>
          <a:xfrm xmlns:a="http://schemas.openxmlformats.org/drawingml/2006/main">
            <a:off x="8229600" y="2352675"/>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Object</a:t>
            </a:r>
          </a:p>
        </p:txBody>
      </p:sp>
      <p:sp>
        <p:nvSpPr>
          <p:cNvPr id="10" name="">
            <a:extLst xmlns:a="http://schemas.openxmlformats.org/drawingml/2006/main">
              <a:ext uri="{FF2B5EF4-FFF2-40B4-BE49-F238E27FC236}">
                <a16:creationId xmlns:a16="http://schemas.microsoft.com/office/drawing/2014/main" id="{13052599-B562-4F16-A10E-FFBEA248555B}"/>
              </a:ext>
            </a:extLst>
          </p:cNvPr>
          <p:cNvSpPr>
            <a:spLocks xmlns:a="http://schemas.openxmlformats.org/drawingml/2006/main" noGrp="1"/>
          </p:cNvSpPr>
          <p:nvPr/>
        </p:nvSpPr>
        <p:spPr>
          <a:xfrm xmlns:a="http://schemas.openxmlformats.org/drawingml/2006/main">
            <a:off x="8229600" y="3543300"/>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A4C"/>
                </a:solidFill>
                <a:latin typeface="Arial"/>
                <a:ea typeface="Arial"/>
                <a:cs typeface="Arial"/>
              </a:defRPr>
            </a:defPPr>
            <a:lvl1pPr algn="l">
              <a:defRPr sz="2100" b="0">
                <a:solidFill>
                  <a:srgbClr val="163A4C"/>
                </a:solidFill>
                <a:latin typeface="Arial"/>
                <a:ea typeface="Arial"/>
                <a:cs typeface="Arial"/>
              </a:defRPr>
            </a:lvl1pPr>
            <a:lvl2pPr algn="l">
              <a:defRPr sz="2100" b="0">
                <a:solidFill>
                  <a:srgbClr val="163A4C"/>
                </a:solidFill>
                <a:latin typeface="Arial"/>
                <a:ea typeface="Arial"/>
                <a:cs typeface="Arial"/>
              </a:defRPr>
            </a:lvl2pPr>
            <a:lvl3pPr algn="l">
              <a:defRPr sz="2100" b="0">
                <a:solidFill>
                  <a:srgbClr val="163A4C"/>
                </a:solidFill>
                <a:latin typeface="Arial"/>
                <a:ea typeface="Arial"/>
                <a:cs typeface="Arial"/>
              </a:defRPr>
            </a:lvl3pPr>
            <a:lvl4pPr algn="l">
              <a:defRPr sz="2100" b="0">
                <a:solidFill>
                  <a:srgbClr val="163A4C"/>
                </a:solidFill>
                <a:latin typeface="Arial"/>
                <a:ea typeface="Arial"/>
                <a:cs typeface="Arial"/>
              </a:defRPr>
            </a:lvl4pPr>
            <a:lvl5pPr algn="l">
              <a:defRPr sz="2100" b="0">
                <a:solidFill>
                  <a:srgbClr val="163A4C"/>
                </a:solidFill>
                <a:latin typeface="Arial"/>
                <a:ea typeface="Arial"/>
                <a:cs typeface="Arial"/>
              </a:defRPr>
            </a:lvl5pPr>
            <a:lvl6pPr algn="l">
              <a:defRPr sz="2100" b="0">
                <a:solidFill>
                  <a:srgbClr val="163A4C"/>
                </a:solidFill>
                <a:latin typeface="Arial"/>
                <a:ea typeface="Arial"/>
                <a:cs typeface="Arial"/>
              </a:defRPr>
            </a:lvl6pPr>
            <a:lvl7pPr algn="l">
              <a:defRPr sz="2100" b="0">
                <a:solidFill>
                  <a:srgbClr val="163A4C"/>
                </a:solidFill>
                <a:latin typeface="Arial"/>
                <a:ea typeface="Arial"/>
                <a:cs typeface="Arial"/>
              </a:defRPr>
            </a:lvl7pPr>
            <a:lvl8pPr algn="l">
              <a:defRPr sz="2100" b="0">
                <a:solidFill>
                  <a:srgbClr val="163A4C"/>
                </a:solidFill>
                <a:latin typeface="Arial"/>
                <a:ea typeface="Arial"/>
                <a:cs typeface="Arial"/>
              </a:defRPr>
            </a:lvl8pPr>
            <a:lvl9pPr algn="l">
              <a:defRPr sz="2100" b="0">
                <a:solidFill>
                  <a:srgbClr val="163A4C"/>
                </a:solidFill>
                <a:latin typeface="Arial"/>
                <a:ea typeface="Arial"/>
                <a:cs typeface="Arial"/>
              </a:defRPr>
            </a:lvl9pPr>
          </a:lstStyle>
          <a:p xmlns:a="http://schemas.openxmlformats.org/drawingml/2006/main">
            <a:pPr algn="l">
              <a:defRPr sz="2100" b="0">
                <a:solidFill>
                  <a:srgbClr val="163A4C"/>
                </a:solidFill>
                <a:latin typeface="Arial"/>
                <a:ea typeface="Arial"/>
                <a:cs typeface="Arial"/>
              </a:defRPr>
            </a:pPr>
            <a:r>
              <a:rPr sz="2100" b="0">
                <a:solidFill>
                  <a:srgbClr val="163A4C"/>
                </a:solidFill>
                <a:latin typeface="Arial"/>
                <a:ea typeface="Arial"/>
                <a:cs typeface="Arial"/>
              </a:rPr>
              <a:t>Bucket và key qua HTTP API. Phù hợp dữ liệu phi cấu trúc và hệ thống cloud native.</a:t>
            </a:r>
          </a:p>
        </p:txBody>
      </p:sp>
    </p:spTree>
    <p:extLst>
      <p:ext uri="{BB962C8B-B14F-4D97-AF65-F5344CB8AC3E}">
        <p14:creationId xmlns:p14="http://schemas.microsoft.com/office/powerpoint/2010/main" val="392074292"/>
      </p:ext>
    </p:extLst>
  </p:cSld>
</p:sld>
</file>

<file path=ppt/slides/slide3.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C0794F-4E4D-4E28-A980-7C0DCE487F2A}"/>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  BỐI CẢNH VÀ NỀN TẢNG</a:t>
            </a:r>
          </a:p>
        </p:txBody>
      </p:sp>
      <p:sp>
        <p:nvSpPr>
          <p:cNvPr id="2" name="">
            <a:extLst xmlns:a="http://schemas.openxmlformats.org/drawingml/2006/main">
              <a:ext uri="{FF2B5EF4-FFF2-40B4-BE49-F238E27FC236}">
                <a16:creationId xmlns:a16="http://schemas.microsoft.com/office/drawing/2014/main" id="{781BB487-CAAC-490B-A17F-51E7F095394B}"/>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Bản chất của Object Storage</a:t>
            </a:r>
          </a:p>
        </p:txBody>
      </p:sp>
      <p:sp>
        <p:nvSpPr>
          <p:cNvPr id="3" name="">
            <a:extLst xmlns:a="http://schemas.openxmlformats.org/drawingml/2006/main">
              <a:ext uri="{FF2B5EF4-FFF2-40B4-BE49-F238E27FC236}">
                <a16:creationId xmlns:a16="http://schemas.microsoft.com/office/drawing/2014/main" id="{D87D1D79-3D24-4252-B222-B917A6084DB1}"/>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7328AABF-DBA1-4AB6-B99F-C3A8A353A010}"/>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2E83554-9EE6-42DA-8FBA-BCA22D2F59A7}"/>
              </a:ext>
            </a:extLst>
          </p:cNvPr>
          <p:cNvSpPr>
            <a:spLocks xmlns:a="http://schemas.openxmlformats.org/drawingml/2006/main" noGrp="1"/>
          </p:cNvSpPr>
          <p:nvPr/>
        </p:nvSpPr>
        <p:spPr>
          <a:xfrm xmlns:a="http://schemas.openxmlformats.org/drawingml/2006/main">
            <a:off x="609600" y="2085975"/>
            <a:ext cx="52578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300" b="1">
                <a:solidFill>
                  <a:srgbClr val="58D9E8"/>
                </a:solidFill>
                <a:latin typeface="Arial"/>
                <a:ea typeface="Arial"/>
                <a:cs typeface="Arial"/>
              </a:defRPr>
            </a:defPPr>
            <a:lvl1pPr algn="l">
              <a:defRPr sz="9300" b="1">
                <a:solidFill>
                  <a:srgbClr val="58D9E8"/>
                </a:solidFill>
                <a:latin typeface="Arial"/>
                <a:ea typeface="Arial"/>
                <a:cs typeface="Arial"/>
              </a:defRPr>
            </a:lvl1pPr>
            <a:lvl2pPr algn="l">
              <a:defRPr sz="9300" b="1">
                <a:solidFill>
                  <a:srgbClr val="58D9E8"/>
                </a:solidFill>
                <a:latin typeface="Arial"/>
                <a:ea typeface="Arial"/>
                <a:cs typeface="Arial"/>
              </a:defRPr>
            </a:lvl2pPr>
            <a:lvl3pPr algn="l">
              <a:defRPr sz="9300" b="1">
                <a:solidFill>
                  <a:srgbClr val="58D9E8"/>
                </a:solidFill>
                <a:latin typeface="Arial"/>
                <a:ea typeface="Arial"/>
                <a:cs typeface="Arial"/>
              </a:defRPr>
            </a:lvl3pPr>
            <a:lvl4pPr algn="l">
              <a:defRPr sz="9300" b="1">
                <a:solidFill>
                  <a:srgbClr val="58D9E8"/>
                </a:solidFill>
                <a:latin typeface="Arial"/>
                <a:ea typeface="Arial"/>
                <a:cs typeface="Arial"/>
              </a:defRPr>
            </a:lvl4pPr>
            <a:lvl5pPr algn="l">
              <a:defRPr sz="9300" b="1">
                <a:solidFill>
                  <a:srgbClr val="58D9E8"/>
                </a:solidFill>
                <a:latin typeface="Arial"/>
                <a:ea typeface="Arial"/>
                <a:cs typeface="Arial"/>
              </a:defRPr>
            </a:lvl5pPr>
            <a:lvl6pPr algn="l">
              <a:defRPr sz="9300" b="1">
                <a:solidFill>
                  <a:srgbClr val="58D9E8"/>
                </a:solidFill>
                <a:latin typeface="Arial"/>
                <a:ea typeface="Arial"/>
                <a:cs typeface="Arial"/>
              </a:defRPr>
            </a:lvl6pPr>
            <a:lvl7pPr algn="l">
              <a:defRPr sz="9300" b="1">
                <a:solidFill>
                  <a:srgbClr val="58D9E8"/>
                </a:solidFill>
                <a:latin typeface="Arial"/>
                <a:ea typeface="Arial"/>
                <a:cs typeface="Arial"/>
              </a:defRPr>
            </a:lvl7pPr>
            <a:lvl8pPr algn="l">
              <a:defRPr sz="9300" b="1">
                <a:solidFill>
                  <a:srgbClr val="58D9E8"/>
                </a:solidFill>
                <a:latin typeface="Arial"/>
                <a:ea typeface="Arial"/>
                <a:cs typeface="Arial"/>
              </a:defRPr>
            </a:lvl8pPr>
            <a:lvl9pPr algn="l">
              <a:defRPr sz="9300" b="1">
                <a:solidFill>
                  <a:srgbClr val="58D9E8"/>
                </a:solidFill>
                <a:latin typeface="Arial"/>
                <a:ea typeface="Arial"/>
                <a:cs typeface="Arial"/>
              </a:defRPr>
            </a:lvl9pPr>
          </a:lstStyle>
          <a:p xmlns:a="http://schemas.openxmlformats.org/drawingml/2006/main">
            <a:pPr algn="l">
              <a:defRPr sz="9300" b="1">
                <a:solidFill>
                  <a:srgbClr val="58D9E8"/>
                </a:solidFill>
                <a:latin typeface="Arial"/>
                <a:ea typeface="Arial"/>
                <a:cs typeface="Arial"/>
              </a:defRPr>
            </a:pPr>
            <a:r>
              <a:rPr sz="9300" b="1">
                <a:solidFill>
                  <a:srgbClr val="58D9E8"/>
                </a:solidFill>
                <a:latin typeface="Arial"/>
                <a:ea typeface="Arial"/>
                <a:cs typeface="Arial"/>
              </a:rPr>
              <a:t>50 TB</a:t>
            </a:r>
          </a:p>
        </p:txBody>
      </p:sp>
      <p:sp>
        <p:nvSpPr>
          <p:cNvPr id="6" name="">
            <a:extLst xmlns:a="http://schemas.openxmlformats.org/drawingml/2006/main">
              <a:ext uri="{FF2B5EF4-FFF2-40B4-BE49-F238E27FC236}">
                <a16:creationId xmlns:a16="http://schemas.microsoft.com/office/drawing/2014/main" id="{1212DC96-6029-4052-8898-5BD18ECD72DF}"/>
              </a:ext>
            </a:extLst>
          </p:cNvPr>
          <p:cNvSpPr>
            <a:spLocks xmlns:a="http://schemas.openxmlformats.org/drawingml/2006/main" noGrp="1"/>
          </p:cNvSpPr>
          <p:nvPr/>
        </p:nvSpPr>
        <p:spPr>
          <a:xfrm xmlns:a="http://schemas.openxmlformats.org/drawingml/2006/main">
            <a:off x="685800" y="3609975"/>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Tối đa một object trên Amazon S3</a:t>
            </a:r>
          </a:p>
        </p:txBody>
      </p:sp>
      <p:sp>
        <p:nvSpPr>
          <p:cNvPr id="7" name="">
            <a:extLst xmlns:a="http://schemas.openxmlformats.org/drawingml/2006/main">
              <a:ext uri="{FF2B5EF4-FFF2-40B4-BE49-F238E27FC236}">
                <a16:creationId xmlns:a16="http://schemas.microsoft.com/office/drawing/2014/main" id="{8807AA8C-A48A-49B8-BD04-DED49832524B}"/>
              </a:ext>
            </a:extLst>
          </p:cNvPr>
          <p:cNvSpPr>
            <a:spLocks xmlns:a="http://schemas.openxmlformats.org/drawingml/2006/main" noGrp="1"/>
          </p:cNvSpPr>
          <p:nvPr/>
        </p:nvSpPr>
        <p:spPr>
          <a:xfrm xmlns:a="http://schemas.openxmlformats.org/drawingml/2006/main">
            <a:off x="685800" y="4629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8CDD5"/>
                </a:solidFill>
                <a:latin typeface="Arial"/>
                <a:ea typeface="Arial"/>
                <a:cs typeface="Arial"/>
              </a:defRPr>
            </a:defPPr>
            <a:lvl1pPr algn="l">
              <a:defRPr sz="1875" b="0">
                <a:solidFill>
                  <a:srgbClr val="A8CDD5"/>
                </a:solidFill>
                <a:latin typeface="Arial"/>
                <a:ea typeface="Arial"/>
                <a:cs typeface="Arial"/>
              </a:defRPr>
            </a:lvl1pPr>
            <a:lvl2pPr algn="l">
              <a:defRPr sz="1875" b="0">
                <a:solidFill>
                  <a:srgbClr val="A8CDD5"/>
                </a:solidFill>
                <a:latin typeface="Arial"/>
                <a:ea typeface="Arial"/>
                <a:cs typeface="Arial"/>
              </a:defRPr>
            </a:lvl2pPr>
            <a:lvl3pPr algn="l">
              <a:defRPr sz="1875" b="0">
                <a:solidFill>
                  <a:srgbClr val="A8CDD5"/>
                </a:solidFill>
                <a:latin typeface="Arial"/>
                <a:ea typeface="Arial"/>
                <a:cs typeface="Arial"/>
              </a:defRPr>
            </a:lvl3pPr>
            <a:lvl4pPr algn="l">
              <a:defRPr sz="1875" b="0">
                <a:solidFill>
                  <a:srgbClr val="A8CDD5"/>
                </a:solidFill>
                <a:latin typeface="Arial"/>
                <a:ea typeface="Arial"/>
                <a:cs typeface="Arial"/>
              </a:defRPr>
            </a:lvl4pPr>
            <a:lvl5pPr algn="l">
              <a:defRPr sz="1875" b="0">
                <a:solidFill>
                  <a:srgbClr val="A8CDD5"/>
                </a:solidFill>
                <a:latin typeface="Arial"/>
                <a:ea typeface="Arial"/>
                <a:cs typeface="Arial"/>
              </a:defRPr>
            </a:lvl5pPr>
            <a:lvl6pPr algn="l">
              <a:defRPr sz="1875" b="0">
                <a:solidFill>
                  <a:srgbClr val="A8CDD5"/>
                </a:solidFill>
                <a:latin typeface="Arial"/>
                <a:ea typeface="Arial"/>
                <a:cs typeface="Arial"/>
              </a:defRPr>
            </a:lvl6pPr>
            <a:lvl7pPr algn="l">
              <a:defRPr sz="1875" b="0">
                <a:solidFill>
                  <a:srgbClr val="A8CDD5"/>
                </a:solidFill>
                <a:latin typeface="Arial"/>
                <a:ea typeface="Arial"/>
                <a:cs typeface="Arial"/>
              </a:defRPr>
            </a:lvl7pPr>
            <a:lvl8pPr algn="l">
              <a:defRPr sz="1875" b="0">
                <a:solidFill>
                  <a:srgbClr val="A8CDD5"/>
                </a:solidFill>
                <a:latin typeface="Arial"/>
                <a:ea typeface="Arial"/>
                <a:cs typeface="Arial"/>
              </a:defRPr>
            </a:lvl8pPr>
            <a:lvl9pPr algn="l">
              <a:defRPr sz="1875" b="0">
                <a:solidFill>
                  <a:srgbClr val="A8CDD5"/>
                </a:solidFill>
                <a:latin typeface="Arial"/>
                <a:ea typeface="Arial"/>
                <a:cs typeface="Arial"/>
              </a:defRPr>
            </a:lvl9pPr>
          </a:lstStyle>
          <a:p xmlns:a="http://schemas.openxmlformats.org/drawingml/2006/main">
            <a:pPr algn="l">
              <a:defRPr sz="1875" b="0">
                <a:solidFill>
                  <a:srgbClr val="A8CDD5"/>
                </a:solidFill>
                <a:latin typeface="Arial"/>
                <a:ea typeface="Arial"/>
                <a:cs typeface="Arial"/>
              </a:defRPr>
            </a:pPr>
            <a:r>
              <a:rPr sz="1875" b="0">
                <a:solidFill>
                  <a:srgbClr val="A8CDD5"/>
                </a:solidFill>
                <a:latin typeface="Arial"/>
                <a:ea typeface="Arial"/>
                <a:cs typeface="Arial"/>
              </a:rPr>
              <a:t>Giới hạn hiện hành từ 02/12/2025</a:t>
            </a:r>
          </a:p>
        </p:txBody>
      </p:sp>
      <p:sp>
        <p:nvSpPr>
          <p:cNvPr id="8" name="">
            <a:extLst xmlns:a="http://schemas.openxmlformats.org/drawingml/2006/main">
              <a:ext uri="{FF2B5EF4-FFF2-40B4-BE49-F238E27FC236}">
                <a16:creationId xmlns:a16="http://schemas.microsoft.com/office/drawing/2014/main" id="{3B664AE8-6062-4C62-9BEA-AF79E0671E1D}"/>
              </a:ext>
            </a:extLst>
          </p:cNvPr>
          <p:cNvSpPr>
            <a:spLocks xmlns:a="http://schemas.openxmlformats.org/drawingml/2006/main" noGrp="1"/>
          </p:cNvSpPr>
          <p:nvPr/>
        </p:nvSpPr>
        <p:spPr>
          <a:xfrm xmlns:a="http://schemas.openxmlformats.org/drawingml/2006/main">
            <a:off x="6477000" y="22002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Arial"/>
                <a:ea typeface="Arial"/>
                <a:cs typeface="Arial"/>
              </a:defRPr>
            </a:defPPr>
            <a:lvl1pPr algn="l">
              <a:defRPr sz="2700" b="1">
                <a:solidFill>
                  <a:srgbClr val="FFFFFF"/>
                </a:solidFill>
                <a:latin typeface="Arial"/>
                <a:ea typeface="Arial"/>
                <a:cs typeface="Arial"/>
              </a:defRPr>
            </a:lvl1pPr>
            <a:lvl2pPr algn="l">
              <a:defRPr sz="2700" b="1">
                <a:solidFill>
                  <a:srgbClr val="FFFFFF"/>
                </a:solidFill>
                <a:latin typeface="Arial"/>
                <a:ea typeface="Arial"/>
                <a:cs typeface="Arial"/>
              </a:defRPr>
            </a:lvl2pPr>
            <a:lvl3pPr algn="l">
              <a:defRPr sz="2700" b="1">
                <a:solidFill>
                  <a:srgbClr val="FFFFFF"/>
                </a:solidFill>
                <a:latin typeface="Arial"/>
                <a:ea typeface="Arial"/>
                <a:cs typeface="Arial"/>
              </a:defRPr>
            </a:lvl3pPr>
            <a:lvl4pPr algn="l">
              <a:defRPr sz="2700" b="1">
                <a:solidFill>
                  <a:srgbClr val="FFFFFF"/>
                </a:solidFill>
                <a:latin typeface="Arial"/>
                <a:ea typeface="Arial"/>
                <a:cs typeface="Arial"/>
              </a:defRPr>
            </a:lvl4pPr>
            <a:lvl5pPr algn="l">
              <a:defRPr sz="2700" b="1">
                <a:solidFill>
                  <a:srgbClr val="FFFFFF"/>
                </a:solidFill>
                <a:latin typeface="Arial"/>
                <a:ea typeface="Arial"/>
                <a:cs typeface="Arial"/>
              </a:defRPr>
            </a:lvl5pPr>
            <a:lvl6pPr algn="l">
              <a:defRPr sz="2700" b="1">
                <a:solidFill>
                  <a:srgbClr val="FFFFFF"/>
                </a:solidFill>
                <a:latin typeface="Arial"/>
                <a:ea typeface="Arial"/>
                <a:cs typeface="Arial"/>
              </a:defRPr>
            </a:lvl6pPr>
            <a:lvl7pPr algn="l">
              <a:defRPr sz="2700" b="1">
                <a:solidFill>
                  <a:srgbClr val="FFFFFF"/>
                </a:solidFill>
                <a:latin typeface="Arial"/>
                <a:ea typeface="Arial"/>
                <a:cs typeface="Arial"/>
              </a:defRPr>
            </a:lvl7pPr>
            <a:lvl8pPr algn="l">
              <a:defRPr sz="2700" b="1">
                <a:solidFill>
                  <a:srgbClr val="FFFFFF"/>
                </a:solidFill>
                <a:latin typeface="Arial"/>
                <a:ea typeface="Arial"/>
                <a:cs typeface="Arial"/>
              </a:defRPr>
            </a:lvl8pPr>
            <a:lvl9pPr algn="l">
              <a:defRPr sz="2700" b="1">
                <a:solidFill>
                  <a:srgbClr val="FFFFFF"/>
                </a:solidFill>
                <a:latin typeface="Arial"/>
                <a:ea typeface="Arial"/>
                <a:cs typeface="Arial"/>
              </a:defRPr>
            </a:lvl9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bucket + key + version</a:t>
            </a:r>
          </a:p>
        </p:txBody>
      </p:sp>
      <p:sp>
        <p:nvSpPr>
          <p:cNvPr id="9" name="">
            <a:extLst xmlns:a="http://schemas.openxmlformats.org/drawingml/2006/main">
              <a:ext uri="{FF2B5EF4-FFF2-40B4-BE49-F238E27FC236}">
                <a16:creationId xmlns:a16="http://schemas.microsoft.com/office/drawing/2014/main" id="{C70FD136-7BC0-48BE-8C1A-1C6E09AB49CA}"/>
              </a:ext>
            </a:extLst>
          </p:cNvPr>
          <p:cNvSpPr>
            <a:spLocks xmlns:a="http://schemas.openxmlformats.org/drawingml/2006/main" noGrp="1"/>
          </p:cNvSpPr>
          <p:nvPr/>
        </p:nvSpPr>
        <p:spPr>
          <a:xfrm xmlns:a="http://schemas.openxmlformats.org/drawingml/2006/main">
            <a:off x="6477000" y="3114675"/>
            <a:ext cx="5105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Object gồm nội dung và metadata. Tags là tập nhãn được quản lý riêng.</a:t>
            </a:r>
          </a:p>
        </p:txBody>
      </p:sp>
      <p:sp>
        <p:nvSpPr>
          <p:cNvPr id="10" name="">
            <a:extLst xmlns:a="http://schemas.openxmlformats.org/drawingml/2006/main">
              <a:ext uri="{FF2B5EF4-FFF2-40B4-BE49-F238E27FC236}">
                <a16:creationId xmlns:a16="http://schemas.microsoft.com/office/drawing/2014/main" id="{86A0855C-22ED-4669-9BB6-DEE74F579FAC}"/>
              </a:ext>
            </a:extLst>
          </p:cNvPr>
          <p:cNvSpPr>
            <a:spLocks xmlns:a="http://schemas.openxmlformats.org/drawingml/2006/main" noGrp="1"/>
          </p:cNvSpPr>
          <p:nvPr/>
        </p:nvSpPr>
        <p:spPr>
          <a:xfrm xmlns:a="http://schemas.openxmlformats.org/drawingml/2006/main">
            <a:off x="6477000" y="4429125"/>
            <a:ext cx="5105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General purpose bucket dùng key phẳng. Dấu / thường biểu diễn prefix.</a:t>
            </a:r>
          </a:p>
        </p:txBody>
      </p:sp>
      <p:sp>
        <p:nvSpPr>
          <p:cNvPr id="11" name="">
            <a:extLst xmlns:a="http://schemas.openxmlformats.org/drawingml/2006/main">
              <a:ext uri="{FF2B5EF4-FFF2-40B4-BE49-F238E27FC236}">
                <a16:creationId xmlns:a16="http://schemas.microsoft.com/office/drawing/2014/main" id="{B0C01433-537E-40E5-A8B2-942E1820569C}"/>
              </a:ext>
            </a:extLst>
          </p:cNvPr>
          <p:cNvSpPr>
            <a:spLocks xmlns:a="http://schemas.openxmlformats.org/drawingml/2006/main" noGrp="1"/>
          </p:cNvSpPr>
          <p:nvPr/>
        </p:nvSpPr>
        <p:spPr>
          <a:xfrm xmlns:a="http://schemas.openxmlformats.org/drawingml/2006/main">
            <a:off x="6477000" y="5581650"/>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9989"/>
                </a:solidFill>
                <a:latin typeface="Arial"/>
                <a:ea typeface="Arial"/>
                <a:cs typeface="Arial"/>
              </a:defRPr>
            </a:defPPr>
            <a:lvl1pPr algn="l">
              <a:defRPr sz="1800" b="0">
                <a:solidFill>
                  <a:srgbClr val="FF9989"/>
                </a:solidFill>
                <a:latin typeface="Arial"/>
                <a:ea typeface="Arial"/>
                <a:cs typeface="Arial"/>
              </a:defRPr>
            </a:lvl1pPr>
            <a:lvl2pPr algn="l">
              <a:defRPr sz="1800" b="0">
                <a:solidFill>
                  <a:srgbClr val="FF9989"/>
                </a:solidFill>
                <a:latin typeface="Arial"/>
                <a:ea typeface="Arial"/>
                <a:cs typeface="Arial"/>
              </a:defRPr>
            </a:lvl2pPr>
            <a:lvl3pPr algn="l">
              <a:defRPr sz="1800" b="0">
                <a:solidFill>
                  <a:srgbClr val="FF9989"/>
                </a:solidFill>
                <a:latin typeface="Arial"/>
                <a:ea typeface="Arial"/>
                <a:cs typeface="Arial"/>
              </a:defRPr>
            </a:lvl3pPr>
            <a:lvl4pPr algn="l">
              <a:defRPr sz="1800" b="0">
                <a:solidFill>
                  <a:srgbClr val="FF9989"/>
                </a:solidFill>
                <a:latin typeface="Arial"/>
                <a:ea typeface="Arial"/>
                <a:cs typeface="Arial"/>
              </a:defRPr>
            </a:lvl4pPr>
            <a:lvl5pPr algn="l">
              <a:defRPr sz="1800" b="0">
                <a:solidFill>
                  <a:srgbClr val="FF9989"/>
                </a:solidFill>
                <a:latin typeface="Arial"/>
                <a:ea typeface="Arial"/>
                <a:cs typeface="Arial"/>
              </a:defRPr>
            </a:lvl5pPr>
            <a:lvl6pPr algn="l">
              <a:defRPr sz="1800" b="0">
                <a:solidFill>
                  <a:srgbClr val="FF9989"/>
                </a:solidFill>
                <a:latin typeface="Arial"/>
                <a:ea typeface="Arial"/>
                <a:cs typeface="Arial"/>
              </a:defRPr>
            </a:lvl6pPr>
            <a:lvl7pPr algn="l">
              <a:defRPr sz="1800" b="0">
                <a:solidFill>
                  <a:srgbClr val="FF9989"/>
                </a:solidFill>
                <a:latin typeface="Arial"/>
                <a:ea typeface="Arial"/>
                <a:cs typeface="Arial"/>
              </a:defRPr>
            </a:lvl7pPr>
            <a:lvl8pPr algn="l">
              <a:defRPr sz="1800" b="0">
                <a:solidFill>
                  <a:srgbClr val="FF9989"/>
                </a:solidFill>
                <a:latin typeface="Arial"/>
                <a:ea typeface="Arial"/>
                <a:cs typeface="Arial"/>
              </a:defRPr>
            </a:lvl8pPr>
            <a:lvl9pPr algn="l">
              <a:defRPr sz="1800" b="0">
                <a:solidFill>
                  <a:srgbClr val="FF9989"/>
                </a:solidFill>
                <a:latin typeface="Arial"/>
                <a:ea typeface="Arial"/>
                <a:cs typeface="Arial"/>
              </a:defRPr>
            </a:lvl9pPr>
          </a:lstStyle>
          <a:p xmlns:a="http://schemas.openxmlformats.org/drawingml/2006/main">
            <a:pPr algn="l">
              <a:defRPr sz="1800" b="0">
                <a:solidFill>
                  <a:srgbClr val="FF9989"/>
                </a:solidFill>
                <a:latin typeface="Arial"/>
                <a:ea typeface="Arial"/>
                <a:cs typeface="Arial"/>
              </a:defRPr>
            </a:pPr>
            <a:r>
              <a:rPr sz="1800" b="0">
                <a:solidFill>
                  <a:srgbClr val="FF9989"/>
                </a:solidFill>
                <a:latin typeface="Arial"/>
                <a:ea typeface="Arial"/>
                <a:cs typeface="Arial"/>
              </a:rPr>
              <a:t>Version ID của object chưa được versioning là null.</a:t>
            </a:r>
          </a:p>
        </p:txBody>
      </p:sp>
    </p:spTree>
    <p:extLst>
      <p:ext uri="{BB962C8B-B14F-4D97-AF65-F5344CB8AC3E}">
        <p14:creationId xmlns:p14="http://schemas.microsoft.com/office/powerpoint/2010/main" val="1780448912"/>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D4E39-F06A-419D-95D2-597825715F9E}"/>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  BỐI CẢNH VÀ NỀN TẢNG</a:t>
            </a:r>
          </a:p>
        </p:txBody>
      </p:sp>
      <p:sp>
        <p:nvSpPr>
          <p:cNvPr id="2" name="">
            <a:extLst xmlns:a="http://schemas.openxmlformats.org/drawingml/2006/main">
              <a:ext uri="{FF2B5EF4-FFF2-40B4-BE49-F238E27FC236}">
                <a16:creationId xmlns:a16="http://schemas.microsoft.com/office/drawing/2014/main" id="{F452F4D2-F6AE-4C7E-AC48-EAA67926FB33}"/>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Block, File và Object Storage</a:t>
            </a:r>
          </a:p>
        </p:txBody>
      </p:sp>
      <p:sp>
        <p:nvSpPr>
          <p:cNvPr id="3" name="">
            <a:extLst xmlns:a="http://schemas.openxmlformats.org/drawingml/2006/main">
              <a:ext uri="{FF2B5EF4-FFF2-40B4-BE49-F238E27FC236}">
                <a16:creationId xmlns:a16="http://schemas.microsoft.com/office/drawing/2014/main" id="{56A45861-8C72-4822-BA07-717A84E3C199}"/>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06DAFF22-EC9E-4347-849E-C08B1EBAEAD0}"/>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86B97DF3-4789-414A-8A75-E3B6BA82AE57}"/>
              </a:ext>
            </a:extLst>
          </p:cNvPr>
          <p:cNvGraphicFramePr/>
          <p:nvPr/>
        </p:nvGraphicFramePr>
        <p:xfrm>
          <a:off xmlns:a="http://schemas.openxmlformats.org/drawingml/2006/main" x="609600" y="2038350"/>
          <a:ext xmlns:a="http://schemas.openxmlformats.org/drawingml/2006/main" cx="10972800" cy="3333750"/>
        </p:xfrm>
        <a:graphic xmlns:a="http://schemas.openxmlformats.org/drawingml/2006/main">
          <a:graphicData uri="http://schemas.openxmlformats.org/drawingml/2006/table">
            <a:tbl>
              <a:tblPr firstRow="1"/>
              <a:tblGrid>
                <a:gridCol w="1809750"/>
                <a:gridCol w="2857500"/>
                <a:gridCol w="2857500"/>
                <a:gridCol w="3448050"/>
              </a:tblGrid>
              <a:tr h="833438">
                <a:tc>
                  <a:txBody>
                    <a:bodyPr wrap="square" lIns="152400" tIns="114300" rIns="114300" bIns="114300">
                      <a:noAutofit/>
                    </a:bodyPr>
                    <a:lstStyle/>
                    <a:p>
                      <a:r>
                        <a:rPr sz="1875" b="1">
                          <a:solidFill>
                            <a:srgbClr val="FFFFFF"/>
                          </a:solidFill>
                          <a:latin typeface="Arial"/>
                          <a:ea typeface="Arial"/>
                          <a:cs typeface="Arial"/>
                        </a:rPr>
                        <a:t>Tiêu chí</a:t>
                      </a:r>
                    </a:p>
                  </a:txBody>
                  <a:tcPr marL="91440" marR="91440" marT="45720" marB="45720" anchor="ctr">
                    <a:lnL w="9525">
                      <a:solidFill>
                        <a:srgbClr val="C8DADD"/>
                      </a:solidFill>
                      <a:prstDash val="solid"/>
                    </a:lnL>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c>
                  <a:txBody>
                    <a:bodyPr wrap="square" lIns="152400" tIns="114300" rIns="114300" bIns="114300">
                      <a:noAutofit/>
                    </a:bodyPr>
                    <a:lstStyle/>
                    <a:p>
                      <a:r>
                        <a:rPr sz="1875" b="1">
                          <a:solidFill>
                            <a:srgbClr val="FFFFFF"/>
                          </a:solidFill>
                          <a:latin typeface="Arial"/>
                          <a:ea typeface="Arial"/>
                          <a:cs typeface="Arial"/>
                        </a:rPr>
                        <a:t>Block</a:t>
                      </a:r>
                    </a:p>
                  </a:txBody>
                  <a:tcPr marL="91440" marR="91440" marT="45720" marB="45720" anchor="ctr">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c>
                  <a:txBody>
                    <a:bodyPr wrap="square" lIns="152400" tIns="114300" rIns="114300" bIns="114300">
                      <a:noAutofit/>
                    </a:bodyPr>
                    <a:lstStyle/>
                    <a:p>
                      <a:r>
                        <a:rPr sz="1875" b="1">
                          <a:solidFill>
                            <a:srgbClr val="FFFFFF"/>
                          </a:solidFill>
                          <a:latin typeface="Arial"/>
                          <a:ea typeface="Arial"/>
                          <a:cs typeface="Arial"/>
                        </a:rPr>
                        <a:t>File</a:t>
                      </a:r>
                    </a:p>
                  </a:txBody>
                  <a:tcPr marL="91440" marR="91440" marT="45720" marB="45720" anchor="ctr">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c>
                  <a:txBody>
                    <a:bodyPr wrap="square" lIns="152400" tIns="114300" rIns="114300" bIns="114300">
                      <a:noAutofit/>
                    </a:bodyPr>
                    <a:lstStyle/>
                    <a:p>
                      <a:r>
                        <a:rPr sz="1875" b="1">
                          <a:solidFill>
                            <a:srgbClr val="FFFFFF"/>
                          </a:solidFill>
                          <a:latin typeface="Arial"/>
                          <a:ea typeface="Arial"/>
                          <a:cs typeface="Arial"/>
                        </a:rPr>
                        <a:t>Object</a:t>
                      </a:r>
                    </a:p>
                  </a:txBody>
                  <a:tcPr marL="91440" marR="91440" marT="45720" marB="45720" anchor="ctr">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r>
              <a:tr h="833438">
                <a:tc>
                  <a:txBody>
                    <a:bodyPr wrap="square" lIns="152400" tIns="114300" rIns="114300" bIns="114300">
                      <a:noAutofit/>
                    </a:bodyPr>
                    <a:lstStyle/>
                    <a:p>
                      <a:r>
                        <a:rPr sz="1875" b="1">
                          <a:solidFill>
                            <a:srgbClr val="163A4C"/>
                          </a:solidFill>
                          <a:latin typeface="Arial"/>
                          <a:ea typeface="Arial"/>
                          <a:cs typeface="Arial"/>
                        </a:rPr>
                        <a:t>Đơn vị</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Khối dữ liệu</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Tệp và thư mục</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Object trong bucket</a:t>
                      </a:r>
                    </a:p>
                  </a:txBody>
                  <a:tcPr marL="91440" marR="91440" marT="45720" marB="45720" anchor="ctr">
                    <a:lnR w="9525">
                      <a:solidFill>
                        <a:srgbClr val="C8DADD"/>
                      </a:solidFill>
                      <a:prstDash val="solid"/>
                    </a:lnR>
                    <a:lnB w="9525">
                      <a:solidFill>
                        <a:srgbClr val="C8DADD"/>
                      </a:solidFill>
                      <a:prstDash val="solid"/>
                    </a:lnB>
                    <a:solidFill>
                      <a:srgbClr val="FFFFFF"/>
                    </a:solidFill>
                  </a:tcPr>
                </a:tc>
              </a:tr>
              <a:tr h="833438">
                <a:tc>
                  <a:txBody>
                    <a:bodyPr wrap="square" lIns="152400" tIns="114300" rIns="114300" bIns="114300">
                      <a:noAutofit/>
                    </a:bodyPr>
                    <a:lstStyle/>
                    <a:p>
                      <a:r>
                        <a:rPr sz="1875" b="1">
                          <a:solidFill>
                            <a:srgbClr val="163A4C"/>
                          </a:solidFill>
                          <a:latin typeface="Arial"/>
                          <a:ea typeface="Arial"/>
                          <a:cs typeface="Arial"/>
                        </a:rPr>
                        <a:t>Truy cập</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75" b="0">
                          <a:solidFill>
                            <a:srgbClr val="163A4C"/>
                          </a:solidFill>
                          <a:latin typeface="Arial"/>
                          <a:ea typeface="Arial"/>
                          <a:cs typeface="Arial"/>
                        </a:rPr>
                        <a:t>SCSI / iSCSI</a:t>
                      </a:r>
                    </a:p>
                    <a:p>
                      <a:r>
                        <a:rPr sz="1875" b="0">
                          <a:solidFill>
                            <a:srgbClr val="163A4C"/>
                          </a:solidFill>
                          <a:latin typeface="Arial"/>
                          <a:ea typeface="Arial"/>
                          <a:cs typeface="Arial"/>
                        </a:rPr>
                        <a:t>NVMe</a:t>
                      </a:r>
                    </a:p>
                  </a:txBody>
                  <a:tcPr marL="91440" marR="91440" marT="45720" marB="45720" anchor="ctr">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75" b="0">
                          <a:solidFill>
                            <a:srgbClr val="163A4C"/>
                          </a:solidFill>
                          <a:latin typeface="Arial"/>
                          <a:ea typeface="Arial"/>
                          <a:cs typeface="Arial"/>
                        </a:rPr>
                        <a:t>NFS / SMB</a:t>
                      </a:r>
                    </a:p>
                  </a:txBody>
                  <a:tcPr marL="91440" marR="91440" marT="45720" marB="45720" anchor="ctr">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75" b="0">
                          <a:solidFill>
                            <a:srgbClr val="163A4C"/>
                          </a:solidFill>
                          <a:latin typeface="Arial"/>
                          <a:ea typeface="Arial"/>
                          <a:cs typeface="Arial"/>
                        </a:rPr>
                        <a:t>HTTP API</a:t>
                      </a:r>
                    </a:p>
                  </a:txBody>
                  <a:tcPr marL="91440" marR="91440" marT="45720" marB="45720" anchor="ctr">
                    <a:lnR w="9525">
                      <a:solidFill>
                        <a:srgbClr val="C8DADD"/>
                      </a:solidFill>
                      <a:prstDash val="solid"/>
                    </a:lnR>
                    <a:lnB w="9525">
                      <a:solidFill>
                        <a:srgbClr val="C8DADD"/>
                      </a:solidFill>
                      <a:prstDash val="solid"/>
                    </a:lnB>
                    <a:solidFill>
                      <a:srgbClr val="E9F1F2"/>
                    </a:solidFill>
                  </a:tcPr>
                </a:tc>
              </a:tr>
              <a:tr h="833438">
                <a:tc>
                  <a:txBody>
                    <a:bodyPr wrap="square" lIns="152400" tIns="114300" rIns="114300" bIns="114300">
                      <a:noAutofit/>
                    </a:bodyPr>
                    <a:lstStyle/>
                    <a:p>
                      <a:r>
                        <a:rPr sz="1875" b="1">
                          <a:solidFill>
                            <a:srgbClr val="163A4C"/>
                          </a:solidFill>
                          <a:latin typeface="Arial"/>
                          <a:ea typeface="Arial"/>
                          <a:cs typeface="Arial"/>
                        </a:rPr>
                        <a:t>Phù hợp</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Hệ điều hành</a:t>
                      </a:r>
                    </a:p>
                    <a:p>
                      <a:r>
                        <a:rPr sz="1875" b="0">
                          <a:solidFill>
                            <a:srgbClr val="163A4C"/>
                          </a:solidFill>
                          <a:latin typeface="Arial"/>
                          <a:ea typeface="Arial"/>
                          <a:cs typeface="Arial"/>
                        </a:rPr>
                        <a:t>Cơ sở dữ liệu</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Tệp chia sẻ</a:t>
                      </a:r>
                    </a:p>
                    <a:p>
                      <a:r>
                        <a:rPr sz="1875" b="0">
                          <a:solidFill>
                            <a:srgbClr val="163A4C"/>
                          </a:solidFill>
                          <a:latin typeface="Arial"/>
                          <a:ea typeface="Arial"/>
                          <a:cs typeface="Arial"/>
                        </a:rPr>
                        <a:t>Ứng dụng file</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75" b="0">
                          <a:solidFill>
                            <a:srgbClr val="163A4C"/>
                          </a:solidFill>
                          <a:latin typeface="Arial"/>
                          <a:ea typeface="Arial"/>
                          <a:cs typeface="Arial"/>
                        </a:rPr>
                        <a:t>Media, tài liệu</a:t>
                      </a:r>
                    </a:p>
                    <a:p>
                      <a:r>
                        <a:rPr sz="1875" b="0">
                          <a:solidFill>
                            <a:srgbClr val="163A4C"/>
                          </a:solidFill>
                          <a:latin typeface="Arial"/>
                          <a:ea typeface="Arial"/>
                          <a:cs typeface="Arial"/>
                        </a:rPr>
                        <a:t>Data lake</a:t>
                      </a:r>
                    </a:p>
                  </a:txBody>
                  <a:tcPr marL="91440" marR="91440" marT="45720" marB="45720" anchor="ctr">
                    <a:lnR w="9525">
                      <a:solidFill>
                        <a:srgbClr val="C8DADD"/>
                      </a:solidFill>
                      <a:prstDash val="solid"/>
                    </a:lnR>
                    <a:lnB w="9525">
                      <a:solidFill>
                        <a:srgbClr val="C8DADD"/>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D5E5B7B-8680-4C74-9857-6AB9E53916A5}"/>
              </a:ext>
            </a:extLst>
          </p:cNvPr>
          <p:cNvSpPr>
            <a:spLocks xmlns:a="http://schemas.openxmlformats.org/drawingml/2006/main" noGrp="1"/>
          </p:cNvSpPr>
          <p:nvPr/>
        </p:nvSpPr>
        <p:spPr>
          <a:xfrm xmlns:a="http://schemas.openxmlformats.org/drawingml/2006/main">
            <a:off x="609600" y="56769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57C88"/>
                </a:solidFill>
                <a:latin typeface="Arial"/>
                <a:ea typeface="Arial"/>
                <a:cs typeface="Arial"/>
              </a:defRPr>
            </a:defPPr>
            <a:lvl1pPr algn="l">
              <a:defRPr sz="2025" b="0">
                <a:solidFill>
                  <a:srgbClr val="657C88"/>
                </a:solidFill>
                <a:latin typeface="Arial"/>
                <a:ea typeface="Arial"/>
                <a:cs typeface="Arial"/>
              </a:defRPr>
            </a:lvl1pPr>
            <a:lvl2pPr algn="l">
              <a:defRPr sz="2025" b="0">
                <a:solidFill>
                  <a:srgbClr val="657C88"/>
                </a:solidFill>
                <a:latin typeface="Arial"/>
                <a:ea typeface="Arial"/>
                <a:cs typeface="Arial"/>
              </a:defRPr>
            </a:lvl2pPr>
            <a:lvl3pPr algn="l">
              <a:defRPr sz="2025" b="0">
                <a:solidFill>
                  <a:srgbClr val="657C88"/>
                </a:solidFill>
                <a:latin typeface="Arial"/>
                <a:ea typeface="Arial"/>
                <a:cs typeface="Arial"/>
              </a:defRPr>
            </a:lvl3pPr>
            <a:lvl4pPr algn="l">
              <a:defRPr sz="2025" b="0">
                <a:solidFill>
                  <a:srgbClr val="657C88"/>
                </a:solidFill>
                <a:latin typeface="Arial"/>
                <a:ea typeface="Arial"/>
                <a:cs typeface="Arial"/>
              </a:defRPr>
            </a:lvl4pPr>
            <a:lvl5pPr algn="l">
              <a:defRPr sz="2025" b="0">
                <a:solidFill>
                  <a:srgbClr val="657C88"/>
                </a:solidFill>
                <a:latin typeface="Arial"/>
                <a:ea typeface="Arial"/>
                <a:cs typeface="Arial"/>
              </a:defRPr>
            </a:lvl5pPr>
            <a:lvl6pPr algn="l">
              <a:defRPr sz="2025" b="0">
                <a:solidFill>
                  <a:srgbClr val="657C88"/>
                </a:solidFill>
                <a:latin typeface="Arial"/>
                <a:ea typeface="Arial"/>
                <a:cs typeface="Arial"/>
              </a:defRPr>
            </a:lvl6pPr>
            <a:lvl7pPr algn="l">
              <a:defRPr sz="2025" b="0">
                <a:solidFill>
                  <a:srgbClr val="657C88"/>
                </a:solidFill>
                <a:latin typeface="Arial"/>
                <a:ea typeface="Arial"/>
                <a:cs typeface="Arial"/>
              </a:defRPr>
            </a:lvl7pPr>
            <a:lvl8pPr algn="l">
              <a:defRPr sz="2025" b="0">
                <a:solidFill>
                  <a:srgbClr val="657C88"/>
                </a:solidFill>
                <a:latin typeface="Arial"/>
                <a:ea typeface="Arial"/>
                <a:cs typeface="Arial"/>
              </a:defRPr>
            </a:lvl8pPr>
            <a:lvl9pPr algn="l">
              <a:defRPr sz="2025" b="0">
                <a:solidFill>
                  <a:srgbClr val="657C88"/>
                </a:solidFill>
                <a:latin typeface="Arial"/>
                <a:ea typeface="Arial"/>
                <a:cs typeface="Arial"/>
              </a:defRPr>
            </a:lvl9pPr>
          </a:lstStyle>
          <a:p xmlns:a="http://schemas.openxmlformats.org/drawingml/2006/main">
            <a:pPr algn="l">
              <a:defRPr sz="2025" b="0">
                <a:solidFill>
                  <a:srgbClr val="657C88"/>
                </a:solidFill>
                <a:latin typeface="Arial"/>
                <a:ea typeface="Arial"/>
                <a:cs typeface="Arial"/>
              </a:defRPr>
            </a:pPr>
            <a:r>
              <a:rPr sz="2025" b="0">
                <a:solidFill>
                  <a:srgbClr val="657C88"/>
                </a:solidFill>
                <a:latin typeface="Arial"/>
                <a:ea typeface="Arial"/>
                <a:cs typeface="Arial"/>
              </a:rPr>
              <a:t>Chi phí và khả năng mở rộng phụ thuộc workload cùng cách triển khai.</a:t>
            </a:r>
          </a:p>
        </p:txBody>
      </p:sp>
    </p:spTree>
    <p:extLst>
      <p:ext uri="{BB962C8B-B14F-4D97-AF65-F5344CB8AC3E}">
        <p14:creationId xmlns:p14="http://schemas.microsoft.com/office/powerpoint/2010/main" val="1645235773"/>
      </p:ext>
    </p:extLst>
  </p:cSld>
</p:sld>
</file>

<file path=ppt/slides/slide5.xml><?xml version="1.0" encoding="utf-8"?>
<p:sld xmlns:p="http://schemas.openxmlformats.org/presentationml/2006/main">
  <p:cSld>
    <p:bg>
      <p:bgPr>
        <a:solidFill xmlns:a="http://schemas.openxmlformats.org/drawingml/2006/main">
          <a:srgbClr val="075D6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6C42F0-6AA9-478A-B984-28F01B4464CD}"/>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  BỐI CẢNH VÀ NỀN TẢNG</a:t>
            </a:r>
          </a:p>
        </p:txBody>
      </p:sp>
      <p:sp>
        <p:nvSpPr>
          <p:cNvPr id="2" name="">
            <a:extLst xmlns:a="http://schemas.openxmlformats.org/drawingml/2006/main">
              <a:ext uri="{FF2B5EF4-FFF2-40B4-BE49-F238E27FC236}">
                <a16:creationId xmlns:a16="http://schemas.microsoft.com/office/drawing/2014/main" id="{1A9338E1-5C77-4B91-BD4C-3CED715A650D}"/>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Hệ sinh thái ứng dụng của S3</a:t>
            </a:r>
          </a:p>
        </p:txBody>
      </p:sp>
      <p:sp>
        <p:nvSpPr>
          <p:cNvPr id="3" name="">
            <a:extLst xmlns:a="http://schemas.openxmlformats.org/drawingml/2006/main">
              <a:ext uri="{FF2B5EF4-FFF2-40B4-BE49-F238E27FC236}">
                <a16:creationId xmlns:a16="http://schemas.microsoft.com/office/drawing/2014/main" id="{53602A75-7D8F-4148-81E4-28039DD99CF9}"/>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F38E8BAC-265C-40A0-939C-D608802429CD}"/>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EA165B6-30ED-4204-ACAE-A34F104091BD}"/>
              </a:ext>
            </a:extLst>
          </p:cNvPr>
          <p:cNvSpPr>
            <a:spLocks xmlns:a="http://schemas.openxmlformats.org/drawingml/2006/main" noGrp="1"/>
          </p:cNvSpPr>
          <p:nvPr/>
        </p:nvSpPr>
        <p:spPr>
          <a:xfrm xmlns:a="http://schemas.openxmlformats.org/drawingml/2006/main">
            <a:off x="60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Web và media</a:t>
            </a:r>
          </a:p>
        </p:txBody>
      </p:sp>
      <p:sp>
        <p:nvSpPr>
          <p:cNvPr id="6" name="">
            <a:extLst xmlns:a="http://schemas.openxmlformats.org/drawingml/2006/main">
              <a:ext uri="{FF2B5EF4-FFF2-40B4-BE49-F238E27FC236}">
                <a16:creationId xmlns:a16="http://schemas.microsoft.com/office/drawing/2014/main" id="{B67BD447-E7E0-4C01-BE07-B4B979975C85}"/>
              </a:ext>
            </a:extLst>
          </p:cNvPr>
          <p:cNvSpPr>
            <a:spLocks xmlns:a="http://schemas.openxmlformats.org/drawingml/2006/main" noGrp="1"/>
          </p:cNvSpPr>
          <p:nvPr/>
        </p:nvSpPr>
        <p:spPr>
          <a:xfrm xmlns:a="http://schemas.openxmlformats.org/drawingml/2006/main">
            <a:off x="60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Lưu static assets, ảnh và video. Kết hợp CDN để phân phối nội dung.</a:t>
            </a:r>
          </a:p>
        </p:txBody>
      </p:sp>
      <p:sp>
        <p:nvSpPr>
          <p:cNvPr id="7" name="">
            <a:extLst xmlns:a="http://schemas.openxmlformats.org/drawingml/2006/main">
              <a:ext uri="{FF2B5EF4-FFF2-40B4-BE49-F238E27FC236}">
                <a16:creationId xmlns:a16="http://schemas.microsoft.com/office/drawing/2014/main" id="{11F28248-30AC-4691-879E-8EEF1B005DDA}"/>
              </a:ext>
            </a:extLst>
          </p:cNvPr>
          <p:cNvSpPr>
            <a:spLocks xmlns:a="http://schemas.openxmlformats.org/drawingml/2006/main" noGrp="1"/>
          </p:cNvSpPr>
          <p:nvPr/>
        </p:nvSpPr>
        <p:spPr>
          <a:xfrm xmlns:a="http://schemas.openxmlformats.org/drawingml/2006/main">
            <a:off x="441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FF9989"/>
                </a:solidFill>
                <a:latin typeface="Arial"/>
                <a:ea typeface="Arial"/>
                <a:cs typeface="Arial"/>
              </a:defRPr>
            </a:defPPr>
            <a:lvl1pPr algn="l">
              <a:defRPr sz="2775" b="1">
                <a:solidFill>
                  <a:srgbClr val="FF9989"/>
                </a:solidFill>
                <a:latin typeface="Arial"/>
                <a:ea typeface="Arial"/>
                <a:cs typeface="Arial"/>
              </a:defRPr>
            </a:lvl1pPr>
            <a:lvl2pPr algn="l">
              <a:defRPr sz="2775" b="1">
                <a:solidFill>
                  <a:srgbClr val="FF9989"/>
                </a:solidFill>
                <a:latin typeface="Arial"/>
                <a:ea typeface="Arial"/>
                <a:cs typeface="Arial"/>
              </a:defRPr>
            </a:lvl2pPr>
            <a:lvl3pPr algn="l">
              <a:defRPr sz="2775" b="1">
                <a:solidFill>
                  <a:srgbClr val="FF9989"/>
                </a:solidFill>
                <a:latin typeface="Arial"/>
                <a:ea typeface="Arial"/>
                <a:cs typeface="Arial"/>
              </a:defRPr>
            </a:lvl3pPr>
            <a:lvl4pPr algn="l">
              <a:defRPr sz="2775" b="1">
                <a:solidFill>
                  <a:srgbClr val="FF9989"/>
                </a:solidFill>
                <a:latin typeface="Arial"/>
                <a:ea typeface="Arial"/>
                <a:cs typeface="Arial"/>
              </a:defRPr>
            </a:lvl4pPr>
            <a:lvl5pPr algn="l">
              <a:defRPr sz="2775" b="1">
                <a:solidFill>
                  <a:srgbClr val="FF9989"/>
                </a:solidFill>
                <a:latin typeface="Arial"/>
                <a:ea typeface="Arial"/>
                <a:cs typeface="Arial"/>
              </a:defRPr>
            </a:lvl5pPr>
            <a:lvl6pPr algn="l">
              <a:defRPr sz="2775" b="1">
                <a:solidFill>
                  <a:srgbClr val="FF9989"/>
                </a:solidFill>
                <a:latin typeface="Arial"/>
                <a:ea typeface="Arial"/>
                <a:cs typeface="Arial"/>
              </a:defRPr>
            </a:lvl6pPr>
            <a:lvl7pPr algn="l">
              <a:defRPr sz="2775" b="1">
                <a:solidFill>
                  <a:srgbClr val="FF9989"/>
                </a:solidFill>
                <a:latin typeface="Arial"/>
                <a:ea typeface="Arial"/>
                <a:cs typeface="Arial"/>
              </a:defRPr>
            </a:lvl7pPr>
            <a:lvl8pPr algn="l">
              <a:defRPr sz="2775" b="1">
                <a:solidFill>
                  <a:srgbClr val="FF9989"/>
                </a:solidFill>
                <a:latin typeface="Arial"/>
                <a:ea typeface="Arial"/>
                <a:cs typeface="Arial"/>
              </a:defRPr>
            </a:lvl8pPr>
            <a:lvl9pPr algn="l">
              <a:defRPr sz="2775" b="1">
                <a:solidFill>
                  <a:srgbClr val="FF9989"/>
                </a:solidFill>
                <a:latin typeface="Arial"/>
                <a:ea typeface="Arial"/>
                <a:cs typeface="Arial"/>
              </a:defRPr>
            </a:lvl9pPr>
          </a:lstStyle>
          <a:p xmlns:a="http://schemas.openxmlformats.org/drawingml/2006/main">
            <a:pPr algn="l">
              <a:defRPr sz="2775" b="1">
                <a:solidFill>
                  <a:srgbClr val="FF9989"/>
                </a:solidFill>
                <a:latin typeface="Arial"/>
                <a:ea typeface="Arial"/>
                <a:cs typeface="Arial"/>
              </a:defRPr>
            </a:pPr>
            <a:r>
              <a:rPr sz="2775" b="1">
                <a:solidFill>
                  <a:srgbClr val="FF9989"/>
                </a:solidFill>
                <a:latin typeface="Arial"/>
                <a:ea typeface="Arial"/>
                <a:cs typeface="Arial"/>
              </a:rPr>
              <a:t>Data lake</a:t>
            </a:r>
          </a:p>
        </p:txBody>
      </p:sp>
      <p:sp>
        <p:nvSpPr>
          <p:cNvPr id="8" name="">
            <a:extLst xmlns:a="http://schemas.openxmlformats.org/drawingml/2006/main">
              <a:ext uri="{FF2B5EF4-FFF2-40B4-BE49-F238E27FC236}">
                <a16:creationId xmlns:a16="http://schemas.microsoft.com/office/drawing/2014/main" id="{110324DE-1F78-481F-BD41-CC519E487BD4}"/>
              </a:ext>
            </a:extLst>
          </p:cNvPr>
          <p:cNvSpPr>
            <a:spLocks xmlns:a="http://schemas.openxmlformats.org/drawingml/2006/main" noGrp="1"/>
          </p:cNvSpPr>
          <p:nvPr/>
        </p:nvSpPr>
        <p:spPr>
          <a:xfrm xmlns:a="http://schemas.openxmlformats.org/drawingml/2006/main">
            <a:off x="441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Tập trung Parquet, ORC hoặc CSV để Spark, Athena và các dịch vụ phân tích xử lý.</a:t>
            </a:r>
          </a:p>
        </p:txBody>
      </p:sp>
      <p:sp>
        <p:nvSpPr>
          <p:cNvPr id="9" name="">
            <a:extLst xmlns:a="http://schemas.openxmlformats.org/drawingml/2006/main">
              <a:ext uri="{FF2B5EF4-FFF2-40B4-BE49-F238E27FC236}">
                <a16:creationId xmlns:a16="http://schemas.microsoft.com/office/drawing/2014/main" id="{6634036E-19DA-4E24-B10C-5DDC8E6DB314}"/>
              </a:ext>
            </a:extLst>
          </p:cNvPr>
          <p:cNvSpPr>
            <a:spLocks xmlns:a="http://schemas.openxmlformats.org/drawingml/2006/main" noGrp="1"/>
          </p:cNvSpPr>
          <p:nvPr/>
        </p:nvSpPr>
        <p:spPr>
          <a:xfrm xmlns:a="http://schemas.openxmlformats.org/drawingml/2006/main">
            <a:off x="822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Backup và DR</a:t>
            </a:r>
          </a:p>
        </p:txBody>
      </p:sp>
      <p:sp>
        <p:nvSpPr>
          <p:cNvPr id="10" name="">
            <a:extLst xmlns:a="http://schemas.openxmlformats.org/drawingml/2006/main">
              <a:ext uri="{FF2B5EF4-FFF2-40B4-BE49-F238E27FC236}">
                <a16:creationId xmlns:a16="http://schemas.microsoft.com/office/drawing/2014/main" id="{D4462816-CEA3-4048-8374-3E35DC6FAC2C}"/>
              </a:ext>
            </a:extLst>
          </p:cNvPr>
          <p:cNvSpPr>
            <a:spLocks xmlns:a="http://schemas.openxmlformats.org/drawingml/2006/main" noGrp="1"/>
          </p:cNvSpPr>
          <p:nvPr/>
        </p:nvSpPr>
        <p:spPr>
          <a:xfrm xmlns:a="http://schemas.openxmlformats.org/drawingml/2006/main">
            <a:off x="822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Lưu bản sao hệ thống và dữ liệu. Chính sách retention đi cùng thử nghiệm phục hồi.</a:t>
            </a:r>
          </a:p>
        </p:txBody>
      </p:sp>
    </p:spTree>
    <p:extLst>
      <p:ext uri="{BB962C8B-B14F-4D97-AF65-F5344CB8AC3E}">
        <p14:creationId xmlns:p14="http://schemas.microsoft.com/office/powerpoint/2010/main" val="1402356918"/>
      </p:ext>
    </p:extLst>
  </p:cSld>
</p:sld>
</file>

<file path=ppt/slides/slide6.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65C842-3541-4557-B462-520B9F1C18F6}"/>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  BỐI CẢNH VÀ NỀN TẢNG</a:t>
            </a:r>
          </a:p>
        </p:txBody>
      </p:sp>
      <p:sp>
        <p:nvSpPr>
          <p:cNvPr id="2" name="">
            <a:extLst xmlns:a="http://schemas.openxmlformats.org/drawingml/2006/main">
              <a:ext uri="{FF2B5EF4-FFF2-40B4-BE49-F238E27FC236}">
                <a16:creationId xmlns:a16="http://schemas.microsoft.com/office/drawing/2014/main" id="{A3E37A0E-F81D-4A71-AD39-6F78EBAD8681}"/>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Các đặc tính vận hành cốt lõi</a:t>
            </a:r>
          </a:p>
        </p:txBody>
      </p:sp>
      <p:sp>
        <p:nvSpPr>
          <p:cNvPr id="3" name="">
            <a:extLst xmlns:a="http://schemas.openxmlformats.org/drawingml/2006/main">
              <a:ext uri="{FF2B5EF4-FFF2-40B4-BE49-F238E27FC236}">
                <a16:creationId xmlns:a16="http://schemas.microsoft.com/office/drawing/2014/main" id="{8A8CEED1-96FA-41DC-B6EF-446A81EC101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F5F763C3-EDDC-47C5-B833-F5F278735499}"/>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266199A-7399-42B5-ACAA-9D34D60D66FE}"/>
              </a:ext>
            </a:extLst>
          </p:cNvPr>
          <p:cNvSpPr>
            <a:spLocks xmlns:a="http://schemas.openxmlformats.org/drawingml/2006/main" noGrp="1"/>
          </p:cNvSpPr>
          <p:nvPr/>
        </p:nvSpPr>
        <p:spPr>
          <a:xfrm xmlns:a="http://schemas.openxmlformats.org/drawingml/2006/main">
            <a:off x="609600" y="2133600"/>
            <a:ext cx="619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650" b="1">
                <a:solidFill>
                  <a:srgbClr val="58D9E8"/>
                </a:solidFill>
                <a:latin typeface="Arial"/>
                <a:ea typeface="Arial"/>
                <a:cs typeface="Arial"/>
              </a:defRPr>
            </a:defPPr>
            <a:lvl1pPr algn="l">
              <a:defRPr sz="7650" b="1">
                <a:solidFill>
                  <a:srgbClr val="58D9E8"/>
                </a:solidFill>
                <a:latin typeface="Arial"/>
                <a:ea typeface="Arial"/>
                <a:cs typeface="Arial"/>
              </a:defRPr>
            </a:lvl1pPr>
            <a:lvl2pPr algn="l">
              <a:defRPr sz="7650" b="1">
                <a:solidFill>
                  <a:srgbClr val="58D9E8"/>
                </a:solidFill>
                <a:latin typeface="Arial"/>
                <a:ea typeface="Arial"/>
                <a:cs typeface="Arial"/>
              </a:defRPr>
            </a:lvl2pPr>
            <a:lvl3pPr algn="l">
              <a:defRPr sz="7650" b="1">
                <a:solidFill>
                  <a:srgbClr val="58D9E8"/>
                </a:solidFill>
                <a:latin typeface="Arial"/>
                <a:ea typeface="Arial"/>
                <a:cs typeface="Arial"/>
              </a:defRPr>
            </a:lvl3pPr>
            <a:lvl4pPr algn="l">
              <a:defRPr sz="7650" b="1">
                <a:solidFill>
                  <a:srgbClr val="58D9E8"/>
                </a:solidFill>
                <a:latin typeface="Arial"/>
                <a:ea typeface="Arial"/>
                <a:cs typeface="Arial"/>
              </a:defRPr>
            </a:lvl4pPr>
            <a:lvl5pPr algn="l">
              <a:defRPr sz="7650" b="1">
                <a:solidFill>
                  <a:srgbClr val="58D9E8"/>
                </a:solidFill>
                <a:latin typeface="Arial"/>
                <a:ea typeface="Arial"/>
                <a:cs typeface="Arial"/>
              </a:defRPr>
            </a:lvl5pPr>
            <a:lvl6pPr algn="l">
              <a:defRPr sz="7650" b="1">
                <a:solidFill>
                  <a:srgbClr val="58D9E8"/>
                </a:solidFill>
                <a:latin typeface="Arial"/>
                <a:ea typeface="Arial"/>
                <a:cs typeface="Arial"/>
              </a:defRPr>
            </a:lvl6pPr>
            <a:lvl7pPr algn="l">
              <a:defRPr sz="7650" b="1">
                <a:solidFill>
                  <a:srgbClr val="58D9E8"/>
                </a:solidFill>
                <a:latin typeface="Arial"/>
                <a:ea typeface="Arial"/>
                <a:cs typeface="Arial"/>
              </a:defRPr>
            </a:lvl7pPr>
            <a:lvl8pPr algn="l">
              <a:defRPr sz="7650" b="1">
                <a:solidFill>
                  <a:srgbClr val="58D9E8"/>
                </a:solidFill>
                <a:latin typeface="Arial"/>
                <a:ea typeface="Arial"/>
                <a:cs typeface="Arial"/>
              </a:defRPr>
            </a:lvl8pPr>
            <a:lvl9pPr algn="l">
              <a:defRPr sz="7650" b="1">
                <a:solidFill>
                  <a:srgbClr val="58D9E8"/>
                </a:solidFill>
                <a:latin typeface="Arial"/>
                <a:ea typeface="Arial"/>
                <a:cs typeface="Arial"/>
              </a:defRPr>
            </a:lvl9pPr>
          </a:lstStyle>
          <a:p xmlns:a="http://schemas.openxmlformats.org/drawingml/2006/main">
            <a:pPr algn="l">
              <a:defRPr sz="7650" b="1">
                <a:solidFill>
                  <a:srgbClr val="58D9E8"/>
                </a:solidFill>
                <a:latin typeface="Arial"/>
                <a:ea typeface="Arial"/>
                <a:cs typeface="Arial"/>
              </a:defRPr>
            </a:pPr>
            <a:r>
              <a:rPr sz="7650" b="1">
                <a:solidFill>
                  <a:srgbClr val="58D9E8"/>
                </a:solidFill>
                <a:latin typeface="Arial"/>
                <a:ea typeface="Arial"/>
                <a:cs typeface="Arial"/>
              </a:rPr>
              <a:t>11 số 9</a:t>
            </a:r>
          </a:p>
        </p:txBody>
      </p:sp>
      <p:sp>
        <p:nvSpPr>
          <p:cNvPr id="6" name="">
            <a:extLst xmlns:a="http://schemas.openxmlformats.org/drawingml/2006/main">
              <a:ext uri="{FF2B5EF4-FFF2-40B4-BE49-F238E27FC236}">
                <a16:creationId xmlns:a16="http://schemas.microsoft.com/office/drawing/2014/main" id="{568E9902-473D-423A-8EF0-38D053BE1E6E}"/>
              </a:ext>
            </a:extLst>
          </p:cNvPr>
          <p:cNvSpPr>
            <a:spLocks xmlns:a="http://schemas.openxmlformats.org/drawingml/2006/main" noGrp="1"/>
          </p:cNvSpPr>
          <p:nvPr/>
        </p:nvSpPr>
        <p:spPr>
          <a:xfrm xmlns:a="http://schemas.openxmlformats.org/drawingml/2006/main">
            <a:off x="685800" y="3400425"/>
            <a:ext cx="598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Độ bền thiết kế của S3 Standard theo năm</a:t>
            </a:r>
          </a:p>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99,999999999%</a:t>
            </a:r>
          </a:p>
        </p:txBody>
      </p:sp>
      <p:sp>
        <p:nvSpPr>
          <p:cNvPr id="7" name="">
            <a:extLst xmlns:a="http://schemas.openxmlformats.org/drawingml/2006/main">
              <a:ext uri="{FF2B5EF4-FFF2-40B4-BE49-F238E27FC236}">
                <a16:creationId xmlns:a16="http://schemas.microsoft.com/office/drawing/2014/main" id="{772E2C5F-7170-4FD2-B1A3-F9DD24FE857B}"/>
              </a:ext>
            </a:extLst>
          </p:cNvPr>
          <p:cNvSpPr>
            <a:spLocks xmlns:a="http://schemas.openxmlformats.org/drawingml/2006/main" noGrp="1"/>
          </p:cNvSpPr>
          <p:nvPr/>
        </p:nvSpPr>
        <p:spPr>
          <a:xfrm xmlns:a="http://schemas.openxmlformats.org/drawingml/2006/main">
            <a:off x="7581900" y="21907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225" b="1">
                <a:solidFill>
                  <a:srgbClr val="FFFFFF"/>
                </a:solidFill>
                <a:latin typeface="Arial"/>
                <a:ea typeface="Arial"/>
                <a:cs typeface="Arial"/>
              </a:defRPr>
            </a:defPPr>
            <a:lvl1pPr algn="l">
              <a:defRPr sz="6225" b="1">
                <a:solidFill>
                  <a:srgbClr val="FFFFFF"/>
                </a:solidFill>
                <a:latin typeface="Arial"/>
                <a:ea typeface="Arial"/>
                <a:cs typeface="Arial"/>
              </a:defRPr>
            </a:lvl1pPr>
            <a:lvl2pPr algn="l">
              <a:defRPr sz="6225" b="1">
                <a:solidFill>
                  <a:srgbClr val="FFFFFF"/>
                </a:solidFill>
                <a:latin typeface="Arial"/>
                <a:ea typeface="Arial"/>
                <a:cs typeface="Arial"/>
              </a:defRPr>
            </a:lvl2pPr>
            <a:lvl3pPr algn="l">
              <a:defRPr sz="6225" b="1">
                <a:solidFill>
                  <a:srgbClr val="FFFFFF"/>
                </a:solidFill>
                <a:latin typeface="Arial"/>
                <a:ea typeface="Arial"/>
                <a:cs typeface="Arial"/>
              </a:defRPr>
            </a:lvl3pPr>
            <a:lvl4pPr algn="l">
              <a:defRPr sz="6225" b="1">
                <a:solidFill>
                  <a:srgbClr val="FFFFFF"/>
                </a:solidFill>
                <a:latin typeface="Arial"/>
                <a:ea typeface="Arial"/>
                <a:cs typeface="Arial"/>
              </a:defRPr>
            </a:lvl4pPr>
            <a:lvl5pPr algn="l">
              <a:defRPr sz="6225" b="1">
                <a:solidFill>
                  <a:srgbClr val="FFFFFF"/>
                </a:solidFill>
                <a:latin typeface="Arial"/>
                <a:ea typeface="Arial"/>
                <a:cs typeface="Arial"/>
              </a:defRPr>
            </a:lvl5pPr>
            <a:lvl6pPr algn="l">
              <a:defRPr sz="6225" b="1">
                <a:solidFill>
                  <a:srgbClr val="FFFFFF"/>
                </a:solidFill>
                <a:latin typeface="Arial"/>
                <a:ea typeface="Arial"/>
                <a:cs typeface="Arial"/>
              </a:defRPr>
            </a:lvl6pPr>
            <a:lvl7pPr algn="l">
              <a:defRPr sz="6225" b="1">
                <a:solidFill>
                  <a:srgbClr val="FFFFFF"/>
                </a:solidFill>
                <a:latin typeface="Arial"/>
                <a:ea typeface="Arial"/>
                <a:cs typeface="Arial"/>
              </a:defRPr>
            </a:lvl7pPr>
            <a:lvl8pPr algn="l">
              <a:defRPr sz="6225" b="1">
                <a:solidFill>
                  <a:srgbClr val="FFFFFF"/>
                </a:solidFill>
                <a:latin typeface="Arial"/>
                <a:ea typeface="Arial"/>
                <a:cs typeface="Arial"/>
              </a:defRPr>
            </a:lvl8pPr>
            <a:lvl9pPr algn="l">
              <a:defRPr sz="6225" b="1">
                <a:solidFill>
                  <a:srgbClr val="FFFFFF"/>
                </a:solidFill>
                <a:latin typeface="Arial"/>
                <a:ea typeface="Arial"/>
                <a:cs typeface="Arial"/>
              </a:defRPr>
            </a:lvl9pPr>
          </a:lstStyle>
          <a:p xmlns:a="http://schemas.openxmlformats.org/drawingml/2006/main">
            <a:pPr algn="l">
              <a:defRPr sz="6225" b="1">
                <a:solidFill>
                  <a:srgbClr val="FFFFFF"/>
                </a:solidFill>
                <a:latin typeface="Arial"/>
                <a:ea typeface="Arial"/>
                <a:cs typeface="Arial"/>
              </a:defRPr>
            </a:pPr>
            <a:r>
              <a:rPr sz="6225" b="1">
                <a:solidFill>
                  <a:srgbClr val="FFFFFF"/>
                </a:solidFill>
                <a:latin typeface="Arial"/>
                <a:ea typeface="Arial"/>
                <a:cs typeface="Arial"/>
              </a:rPr>
              <a:t>99,99%</a:t>
            </a:r>
          </a:p>
        </p:txBody>
      </p:sp>
      <p:sp>
        <p:nvSpPr>
          <p:cNvPr id="8" name="">
            <a:extLst xmlns:a="http://schemas.openxmlformats.org/drawingml/2006/main">
              <a:ext uri="{FF2B5EF4-FFF2-40B4-BE49-F238E27FC236}">
                <a16:creationId xmlns:a16="http://schemas.microsoft.com/office/drawing/2014/main" id="{15C461E8-288E-440D-8087-4C1D40EC06EE}"/>
              </a:ext>
            </a:extLst>
          </p:cNvPr>
          <p:cNvSpPr>
            <a:spLocks xmlns:a="http://schemas.openxmlformats.org/drawingml/2006/main" noGrp="1"/>
          </p:cNvSpPr>
          <p:nvPr/>
        </p:nvSpPr>
        <p:spPr>
          <a:xfrm xmlns:a="http://schemas.openxmlformats.org/drawingml/2006/main">
            <a:off x="7620000" y="3409950"/>
            <a:ext cx="3962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Availability thiết kế</a:t>
            </a:r>
          </a:p>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SLA có điều kiện riêng</a:t>
            </a:r>
          </a:p>
        </p:txBody>
      </p:sp>
      <p:sp>
        <p:nvSpPr>
          <p:cNvPr id="9" name="">
            <a:extLst xmlns:a="http://schemas.openxmlformats.org/drawingml/2006/main">
              <a:ext uri="{FF2B5EF4-FFF2-40B4-BE49-F238E27FC236}">
                <a16:creationId xmlns:a16="http://schemas.microsoft.com/office/drawing/2014/main" id="{C6049787-5C60-490E-8B5E-767C3B10CCF3}"/>
              </a:ext>
            </a:extLst>
          </p:cNvPr>
          <p:cNvSpPr>
            <a:spLocks xmlns:a="http://schemas.openxmlformats.org/drawingml/2006/main" noGrp="1"/>
          </p:cNvSpPr>
          <p:nvPr/>
        </p:nvSpPr>
        <p:spPr>
          <a:xfrm xmlns:a="http://schemas.openxmlformats.org/drawingml/2006/main">
            <a:off x="685800" y="48006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FF9989"/>
                </a:solidFill>
                <a:latin typeface="Arial"/>
                <a:ea typeface="Arial"/>
                <a:cs typeface="Arial"/>
              </a:defRPr>
            </a:defPPr>
            <a:lvl1pPr algn="l">
              <a:defRPr sz="2775" b="1">
                <a:solidFill>
                  <a:srgbClr val="FF9989"/>
                </a:solidFill>
                <a:latin typeface="Arial"/>
                <a:ea typeface="Arial"/>
                <a:cs typeface="Arial"/>
              </a:defRPr>
            </a:lvl1pPr>
            <a:lvl2pPr algn="l">
              <a:defRPr sz="2775" b="1">
                <a:solidFill>
                  <a:srgbClr val="FF9989"/>
                </a:solidFill>
                <a:latin typeface="Arial"/>
                <a:ea typeface="Arial"/>
                <a:cs typeface="Arial"/>
              </a:defRPr>
            </a:lvl2pPr>
            <a:lvl3pPr algn="l">
              <a:defRPr sz="2775" b="1">
                <a:solidFill>
                  <a:srgbClr val="FF9989"/>
                </a:solidFill>
                <a:latin typeface="Arial"/>
                <a:ea typeface="Arial"/>
                <a:cs typeface="Arial"/>
              </a:defRPr>
            </a:lvl3pPr>
            <a:lvl4pPr algn="l">
              <a:defRPr sz="2775" b="1">
                <a:solidFill>
                  <a:srgbClr val="FF9989"/>
                </a:solidFill>
                <a:latin typeface="Arial"/>
                <a:ea typeface="Arial"/>
                <a:cs typeface="Arial"/>
              </a:defRPr>
            </a:lvl4pPr>
            <a:lvl5pPr algn="l">
              <a:defRPr sz="2775" b="1">
                <a:solidFill>
                  <a:srgbClr val="FF9989"/>
                </a:solidFill>
                <a:latin typeface="Arial"/>
                <a:ea typeface="Arial"/>
                <a:cs typeface="Arial"/>
              </a:defRPr>
            </a:lvl5pPr>
            <a:lvl6pPr algn="l">
              <a:defRPr sz="2775" b="1">
                <a:solidFill>
                  <a:srgbClr val="FF9989"/>
                </a:solidFill>
                <a:latin typeface="Arial"/>
                <a:ea typeface="Arial"/>
                <a:cs typeface="Arial"/>
              </a:defRPr>
            </a:lvl6pPr>
            <a:lvl7pPr algn="l">
              <a:defRPr sz="2775" b="1">
                <a:solidFill>
                  <a:srgbClr val="FF9989"/>
                </a:solidFill>
                <a:latin typeface="Arial"/>
                <a:ea typeface="Arial"/>
                <a:cs typeface="Arial"/>
              </a:defRPr>
            </a:lvl7pPr>
            <a:lvl8pPr algn="l">
              <a:defRPr sz="2775" b="1">
                <a:solidFill>
                  <a:srgbClr val="FF9989"/>
                </a:solidFill>
                <a:latin typeface="Arial"/>
                <a:ea typeface="Arial"/>
                <a:cs typeface="Arial"/>
              </a:defRPr>
            </a:lvl8pPr>
            <a:lvl9pPr algn="l">
              <a:defRPr sz="2775" b="1">
                <a:solidFill>
                  <a:srgbClr val="FF9989"/>
                </a:solidFill>
                <a:latin typeface="Arial"/>
                <a:ea typeface="Arial"/>
                <a:cs typeface="Arial"/>
              </a:defRPr>
            </a:lvl9pPr>
          </a:lstStyle>
          <a:p xmlns:a="http://schemas.openxmlformats.org/drawingml/2006/main">
            <a:pPr algn="l">
              <a:defRPr sz="2775" b="1">
                <a:solidFill>
                  <a:srgbClr val="FF9989"/>
                </a:solidFill>
                <a:latin typeface="Arial"/>
                <a:ea typeface="Arial"/>
                <a:cs typeface="Arial"/>
              </a:defRPr>
            </a:pPr>
            <a:r>
              <a:rPr sz="2775" b="1">
                <a:solidFill>
                  <a:srgbClr val="FF9989"/>
                </a:solidFill>
                <a:latin typeface="Arial"/>
                <a:ea typeface="Arial"/>
                <a:cs typeface="Arial"/>
              </a:rPr>
              <a:t>Strong consistency</a:t>
            </a:r>
          </a:p>
        </p:txBody>
      </p:sp>
      <p:sp>
        <p:nvSpPr>
          <p:cNvPr id="10" name="">
            <a:extLst xmlns:a="http://schemas.openxmlformats.org/drawingml/2006/main">
              <a:ext uri="{FF2B5EF4-FFF2-40B4-BE49-F238E27FC236}">
                <a16:creationId xmlns:a16="http://schemas.microsoft.com/office/drawing/2014/main" id="{841A2BBE-89F2-4BB2-82CD-6D3925FA54B4}"/>
              </a:ext>
            </a:extLst>
          </p:cNvPr>
          <p:cNvSpPr>
            <a:spLocks xmlns:a="http://schemas.openxmlformats.org/drawingml/2006/main" noGrp="1"/>
          </p:cNvSpPr>
          <p:nvPr/>
        </p:nvSpPr>
        <p:spPr>
          <a:xfrm xmlns:a="http://schemas.openxmlformats.org/drawingml/2006/main">
            <a:off x="685800" y="54292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PUT mới, ghi đè và DELETE. GET / HEAD / LIST sau ghi thành công phản ánh dữ liệu mới.</a:t>
            </a:r>
          </a:p>
        </p:txBody>
      </p:sp>
    </p:spTree>
    <p:extLst>
      <p:ext uri="{BB962C8B-B14F-4D97-AF65-F5344CB8AC3E}">
        <p14:creationId xmlns:p14="http://schemas.microsoft.com/office/powerpoint/2010/main" val="164996976"/>
      </p:ext>
    </p:extLst>
  </p:cSld>
</p:sld>
</file>

<file path=ppt/slides/slide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46192F-6538-4D54-8074-1FEDCFE7334C}"/>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AE1DC725-82FF-45C3-8101-A5CAB27D5F45}"/>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Phân tầng lưu trữ</a:t>
            </a:r>
          </a:p>
        </p:txBody>
      </p:sp>
      <p:sp>
        <p:nvSpPr>
          <p:cNvPr id="3" name="">
            <a:extLst xmlns:a="http://schemas.openxmlformats.org/drawingml/2006/main">
              <a:ext uri="{FF2B5EF4-FFF2-40B4-BE49-F238E27FC236}">
                <a16:creationId xmlns:a16="http://schemas.microsoft.com/office/drawing/2014/main" id="{921F1C5F-0011-4F95-A834-2923C2CF53E6}"/>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4237E404-95D4-4279-9BA3-0B23D5469143}"/>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9FB1AE81-A393-4F79-9201-2747C7115D9D}"/>
              </a:ext>
            </a:extLst>
          </p:cNvPr>
          <p:cNvGraphicFramePr/>
          <p:nvPr/>
        </p:nvGraphicFramePr>
        <p:xfrm>
          <a:off xmlns:a="http://schemas.openxmlformats.org/drawingml/2006/main" x="609600" y="2038350"/>
          <a:ext xmlns:a="http://schemas.openxmlformats.org/drawingml/2006/main" cx="10972800" cy="3810000"/>
        </p:xfrm>
        <a:graphic xmlns:a="http://schemas.openxmlformats.org/drawingml/2006/main">
          <a:graphicData uri="http://schemas.openxmlformats.org/drawingml/2006/table">
            <a:tbl>
              <a:tblPr firstRow="1"/>
              <a:tblGrid>
                <a:gridCol w="2857500"/>
                <a:gridCol w="3333750"/>
                <a:gridCol w="4781550"/>
              </a:tblGrid>
              <a:tr h="762000">
                <a:tc>
                  <a:txBody>
                    <a:bodyPr wrap="square" lIns="152400" tIns="114300" rIns="114300" bIns="114300">
                      <a:noAutofit/>
                    </a:bodyPr>
                    <a:lstStyle/>
                    <a:p>
                      <a:r>
                        <a:rPr sz="1800" b="1">
                          <a:solidFill>
                            <a:srgbClr val="FFFFFF"/>
                          </a:solidFill>
                          <a:latin typeface="Arial"/>
                          <a:ea typeface="Arial"/>
                          <a:cs typeface="Arial"/>
                        </a:rPr>
                        <a:t>Nhu cầu</a:t>
                      </a:r>
                    </a:p>
                  </a:txBody>
                  <a:tcPr marL="91440" marR="91440" marT="45720" marB="45720" anchor="ctr">
                    <a:lnL w="9525">
                      <a:solidFill>
                        <a:srgbClr val="C8DADD"/>
                      </a:solidFill>
                      <a:prstDash val="solid"/>
                    </a:lnL>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c>
                  <a:txBody>
                    <a:bodyPr wrap="square" lIns="152400" tIns="114300" rIns="114300" bIns="114300">
                      <a:noAutofit/>
                    </a:bodyPr>
                    <a:lstStyle/>
                    <a:p>
                      <a:r>
                        <a:rPr sz="1800" b="1">
                          <a:solidFill>
                            <a:srgbClr val="FFFFFF"/>
                          </a:solidFill>
                          <a:latin typeface="Arial"/>
                          <a:ea typeface="Arial"/>
                          <a:cs typeface="Arial"/>
                        </a:rPr>
                        <a:t>Lớp lưu trữ</a:t>
                      </a:r>
                    </a:p>
                  </a:txBody>
                  <a:tcPr marL="91440" marR="91440" marT="45720" marB="45720" anchor="ctr">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c>
                  <a:txBody>
                    <a:bodyPr wrap="square" lIns="152400" tIns="114300" rIns="114300" bIns="114300">
                      <a:noAutofit/>
                    </a:bodyPr>
                    <a:lstStyle/>
                    <a:p>
                      <a:r>
                        <a:rPr sz="1800" b="1">
                          <a:solidFill>
                            <a:srgbClr val="FFFFFF"/>
                          </a:solidFill>
                          <a:latin typeface="Arial"/>
                          <a:ea typeface="Arial"/>
                          <a:cs typeface="Arial"/>
                        </a:rPr>
                        <a:t>Điểm cần cân nhắc</a:t>
                      </a:r>
                    </a:p>
                  </a:txBody>
                  <a:tcPr marL="91440" marR="91440" marT="45720" marB="45720" anchor="ctr">
                    <a:lnR w="9525">
                      <a:solidFill>
                        <a:srgbClr val="C8DADD"/>
                      </a:solidFill>
                      <a:prstDash val="solid"/>
                    </a:lnR>
                    <a:lnT w="9525">
                      <a:solidFill>
                        <a:srgbClr val="C8DADD"/>
                      </a:solidFill>
                      <a:prstDash val="solid"/>
                    </a:lnT>
                    <a:lnB w="9525">
                      <a:solidFill>
                        <a:srgbClr val="C8DADD"/>
                      </a:solidFill>
                      <a:prstDash val="solid"/>
                    </a:lnB>
                    <a:solidFill>
                      <a:srgbClr val="075D68"/>
                    </a:solidFill>
                  </a:tcPr>
                </a:tc>
              </a:tr>
              <a:tr h="762000">
                <a:tc>
                  <a:txBody>
                    <a:bodyPr wrap="square" lIns="152400" tIns="114300" rIns="114300" bIns="114300">
                      <a:noAutofit/>
                    </a:bodyPr>
                    <a:lstStyle/>
                    <a:p>
                      <a:r>
                        <a:rPr sz="1800" b="1">
                          <a:solidFill>
                            <a:srgbClr val="163A4C"/>
                          </a:solidFill>
                          <a:latin typeface="Arial"/>
                          <a:ea typeface="Arial"/>
                          <a:cs typeface="Arial"/>
                        </a:rPr>
                        <a:t>Truy cập thường xuyên</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00" b="0">
                          <a:solidFill>
                            <a:srgbClr val="163A4C"/>
                          </a:solidFill>
                          <a:latin typeface="Arial"/>
                          <a:ea typeface="Arial"/>
                          <a:cs typeface="Arial"/>
                        </a:rPr>
                        <a:t>Standard</a:t>
                      </a:r>
                    </a:p>
                    <a:p>
                      <a:r>
                        <a:rPr sz="1800" b="0">
                          <a:solidFill>
                            <a:srgbClr val="163A4C"/>
                          </a:solidFill>
                          <a:latin typeface="Arial"/>
                          <a:ea typeface="Arial"/>
                          <a:cs typeface="Arial"/>
                        </a:rPr>
                        <a:t>Intelligent-Tiering</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00" b="0">
                          <a:solidFill>
                            <a:srgbClr val="163A4C"/>
                          </a:solidFill>
                          <a:latin typeface="Arial"/>
                          <a:ea typeface="Arial"/>
                          <a:cs typeface="Arial"/>
                        </a:rPr>
                        <a:t>Tần suất truy cập và phí giám sát</a:t>
                      </a:r>
                    </a:p>
                  </a:txBody>
                  <a:tcPr marL="91440" marR="91440" marT="45720" marB="45720" anchor="ctr">
                    <a:lnR w="9525">
                      <a:solidFill>
                        <a:srgbClr val="C8DADD"/>
                      </a:solidFill>
                      <a:prstDash val="solid"/>
                    </a:lnR>
                    <a:lnB w="9525">
                      <a:solidFill>
                        <a:srgbClr val="C8DADD"/>
                      </a:solidFill>
                      <a:prstDash val="solid"/>
                    </a:lnB>
                    <a:solidFill>
                      <a:srgbClr val="FFFFFF"/>
                    </a:solidFill>
                  </a:tcPr>
                </a:tc>
              </a:tr>
              <a:tr h="762000">
                <a:tc>
                  <a:txBody>
                    <a:bodyPr wrap="square" lIns="152400" tIns="114300" rIns="114300" bIns="114300">
                      <a:noAutofit/>
                    </a:bodyPr>
                    <a:lstStyle/>
                    <a:p>
                      <a:r>
                        <a:rPr sz="1800" b="1">
                          <a:solidFill>
                            <a:srgbClr val="163A4C"/>
                          </a:solidFill>
                          <a:latin typeface="Arial"/>
                          <a:ea typeface="Arial"/>
                          <a:cs typeface="Arial"/>
                        </a:rPr>
                        <a:t>Ít truy cập, lấy ngay</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00" b="0">
                          <a:solidFill>
                            <a:srgbClr val="163A4C"/>
                          </a:solidFill>
                          <a:latin typeface="Arial"/>
                          <a:ea typeface="Arial"/>
                          <a:cs typeface="Arial"/>
                        </a:rPr>
                        <a:t>Standard-IA</a:t>
                      </a:r>
                    </a:p>
                    <a:p>
                      <a:r>
                        <a:rPr sz="1800" b="0">
                          <a:solidFill>
                            <a:srgbClr val="163A4C"/>
                          </a:solidFill>
                          <a:latin typeface="Arial"/>
                          <a:ea typeface="Arial"/>
                          <a:cs typeface="Arial"/>
                        </a:rPr>
                        <a:t>Glacier Instant Retrieval</a:t>
                      </a:r>
                    </a:p>
                  </a:txBody>
                  <a:tcPr marL="91440" marR="91440" marT="45720" marB="45720" anchor="ctr">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00" b="0">
                          <a:solidFill>
                            <a:srgbClr val="163A4C"/>
                          </a:solidFill>
                          <a:latin typeface="Arial"/>
                          <a:ea typeface="Arial"/>
                          <a:cs typeface="Arial"/>
                        </a:rPr>
                        <a:t>Phí retrieval, thời gian lưu tối thiểu</a:t>
                      </a:r>
                    </a:p>
                  </a:txBody>
                  <a:tcPr marL="91440" marR="91440" marT="45720" marB="45720" anchor="ctr">
                    <a:lnR w="9525">
                      <a:solidFill>
                        <a:srgbClr val="C8DADD"/>
                      </a:solidFill>
                      <a:prstDash val="solid"/>
                    </a:lnR>
                    <a:lnB w="9525">
                      <a:solidFill>
                        <a:srgbClr val="C8DADD"/>
                      </a:solidFill>
                      <a:prstDash val="solid"/>
                    </a:lnB>
                    <a:solidFill>
                      <a:srgbClr val="E9F1F2"/>
                    </a:solidFill>
                  </a:tcPr>
                </a:tc>
              </a:tr>
              <a:tr h="762000">
                <a:tc>
                  <a:txBody>
                    <a:bodyPr wrap="square" lIns="152400" tIns="114300" rIns="114300" bIns="114300">
                      <a:noAutofit/>
                    </a:bodyPr>
                    <a:lstStyle/>
                    <a:p>
                      <a:r>
                        <a:rPr sz="1800" b="1">
                          <a:solidFill>
                            <a:srgbClr val="163A4C"/>
                          </a:solidFill>
                          <a:latin typeface="Arial"/>
                          <a:ea typeface="Arial"/>
                          <a:cs typeface="Arial"/>
                        </a:rPr>
                        <a:t>Độ trễ rất thấp</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00" b="0">
                          <a:solidFill>
                            <a:srgbClr val="163A4C"/>
                          </a:solidFill>
                          <a:latin typeface="Arial"/>
                          <a:ea typeface="Arial"/>
                          <a:cs typeface="Arial"/>
                        </a:rPr>
                        <a:t>Express One Zone</a:t>
                      </a:r>
                    </a:p>
                  </a:txBody>
                  <a:tcPr marL="91440" marR="91440" marT="45720" marB="45720" anchor="ctr">
                    <a:lnR w="9525">
                      <a:solidFill>
                        <a:srgbClr val="C8DADD"/>
                      </a:solidFill>
                      <a:prstDash val="solid"/>
                    </a:lnR>
                    <a:lnB w="9525">
                      <a:solidFill>
                        <a:srgbClr val="C8DADD"/>
                      </a:solidFill>
                      <a:prstDash val="solid"/>
                    </a:lnB>
                    <a:solidFill>
                      <a:srgbClr val="FFFFFF"/>
                    </a:solidFill>
                  </a:tcPr>
                </a:tc>
                <a:tc>
                  <a:txBody>
                    <a:bodyPr wrap="square" lIns="152400" tIns="114300" rIns="114300" bIns="114300">
                      <a:noAutofit/>
                    </a:bodyPr>
                    <a:lstStyle/>
                    <a:p>
                      <a:r>
                        <a:rPr sz="1800" b="0">
                          <a:solidFill>
                            <a:srgbClr val="163A4C"/>
                          </a:solidFill>
                          <a:latin typeface="Arial"/>
                          <a:ea typeface="Arial"/>
                          <a:cs typeface="Arial"/>
                        </a:rPr>
                        <a:t>Một AZ</a:t>
                      </a:r>
                    </a:p>
                  </a:txBody>
                  <a:tcPr marL="91440" marR="91440" marT="45720" marB="45720" anchor="ctr">
                    <a:lnR w="9525">
                      <a:solidFill>
                        <a:srgbClr val="C8DADD"/>
                      </a:solidFill>
                      <a:prstDash val="solid"/>
                    </a:lnR>
                    <a:lnB w="9525">
                      <a:solidFill>
                        <a:srgbClr val="C8DADD"/>
                      </a:solidFill>
                      <a:prstDash val="solid"/>
                    </a:lnB>
                    <a:solidFill>
                      <a:srgbClr val="FFFFFF"/>
                    </a:solidFill>
                  </a:tcPr>
                </a:tc>
              </a:tr>
              <a:tr h="762000">
                <a:tc>
                  <a:txBody>
                    <a:bodyPr wrap="square" lIns="152400" tIns="114300" rIns="114300" bIns="114300">
                      <a:noAutofit/>
                    </a:bodyPr>
                    <a:lstStyle/>
                    <a:p>
                      <a:r>
                        <a:rPr sz="1800" b="1">
                          <a:solidFill>
                            <a:srgbClr val="163A4C"/>
                          </a:solidFill>
                          <a:latin typeface="Arial"/>
                          <a:ea typeface="Arial"/>
                          <a:cs typeface="Arial"/>
                        </a:rPr>
                        <a:t>Lưu dài hạn</a:t>
                      </a:r>
                    </a:p>
                  </a:txBody>
                  <a:tcPr marL="91440" marR="91440" marT="45720" marB="45720" anchor="ctr">
                    <a:lnL w="9525">
                      <a:solidFill>
                        <a:srgbClr val="C8DADD"/>
                      </a:solidFill>
                      <a:prstDash val="solid"/>
                    </a:lnL>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00" b="0">
                          <a:solidFill>
                            <a:srgbClr val="163A4C"/>
                          </a:solidFill>
                          <a:latin typeface="Arial"/>
                          <a:ea typeface="Arial"/>
                          <a:cs typeface="Arial"/>
                        </a:rPr>
                        <a:t>Glacier Flexible</a:t>
                      </a:r>
                    </a:p>
                    <a:p>
                      <a:r>
                        <a:rPr sz="1800" b="0">
                          <a:solidFill>
                            <a:srgbClr val="163A4C"/>
                          </a:solidFill>
                          <a:latin typeface="Arial"/>
                          <a:ea typeface="Arial"/>
                          <a:cs typeface="Arial"/>
                        </a:rPr>
                        <a:t>Glacier Deep Archive</a:t>
                      </a:r>
                    </a:p>
                  </a:txBody>
                  <a:tcPr marL="91440" marR="91440" marT="45720" marB="45720" anchor="ctr">
                    <a:lnR w="9525">
                      <a:solidFill>
                        <a:srgbClr val="C8DADD"/>
                      </a:solidFill>
                      <a:prstDash val="solid"/>
                    </a:lnR>
                    <a:lnB w="9525">
                      <a:solidFill>
                        <a:srgbClr val="C8DADD"/>
                      </a:solidFill>
                      <a:prstDash val="solid"/>
                    </a:lnB>
                    <a:solidFill>
                      <a:srgbClr val="E9F1F2"/>
                    </a:solidFill>
                  </a:tcPr>
                </a:tc>
                <a:tc>
                  <a:txBody>
                    <a:bodyPr wrap="square" lIns="152400" tIns="114300" rIns="114300" bIns="114300">
                      <a:noAutofit/>
                    </a:bodyPr>
                    <a:lstStyle/>
                    <a:p>
                      <a:r>
                        <a:rPr sz="1800" b="0">
                          <a:solidFill>
                            <a:srgbClr val="163A4C"/>
                          </a:solidFill>
                          <a:latin typeface="Arial"/>
                          <a:ea typeface="Arial"/>
                          <a:cs typeface="Arial"/>
                        </a:rPr>
                        <a:t>Restore trước khi đọc</a:t>
                      </a:r>
                    </a:p>
                    <a:p>
                      <a:r>
                        <a:rPr sz="1800" b="0">
                          <a:solidFill>
                            <a:srgbClr val="163A4C"/>
                          </a:solidFill>
                          <a:latin typeface="Arial"/>
                          <a:ea typeface="Arial"/>
                          <a:cs typeface="Arial"/>
                        </a:rPr>
                        <a:t>Flexible: phút–12 giờ</a:t>
                      </a:r>
                    </a:p>
                    <a:p>
                      <a:r>
                        <a:rPr sz="1800" b="0">
                          <a:solidFill>
                            <a:srgbClr val="163A4C"/>
                          </a:solidFill>
                          <a:latin typeface="Arial"/>
                          <a:ea typeface="Arial"/>
                          <a:cs typeface="Arial"/>
                        </a:rPr>
                        <a:t>Deep Archive: khoảng 12–48 giờ</a:t>
                      </a:r>
                    </a:p>
                  </a:txBody>
                  <a:tcPr marL="91440" marR="91440" marT="45720" marB="45720" anchor="ctr">
                    <a:lnR w="9525">
                      <a:solidFill>
                        <a:srgbClr val="C8DADD"/>
                      </a:solidFill>
                      <a:prstDash val="solid"/>
                    </a:lnR>
                    <a:lnB w="9525">
                      <a:solidFill>
                        <a:srgbClr val="C8DADD"/>
                      </a:solidFill>
                      <a:prstDash val="solid"/>
                    </a:lnB>
                    <a:solidFill>
                      <a:srgbClr val="E9F1F2"/>
                    </a:solidFill>
                  </a:tcPr>
                </a:tc>
              </a:tr>
            </a:tbl>
          </a:graphicData>
        </a:graphic>
      </p:graphicFrame>
    </p:spTree>
    <p:extLst>
      <p:ext uri="{BB962C8B-B14F-4D97-AF65-F5344CB8AC3E}">
        <p14:creationId xmlns:p14="http://schemas.microsoft.com/office/powerpoint/2010/main" val="1260455458"/>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68A46F-ADCD-481E-B9B1-9B52ED6B8CE6}"/>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16BCCE60-DA9A-423A-8358-D6F3F59EE49A}"/>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Quản trị vòng đời dữ liệu</a:t>
            </a:r>
          </a:p>
        </p:txBody>
      </p:sp>
      <p:sp>
        <p:nvSpPr>
          <p:cNvPr id="3" name="">
            <a:extLst xmlns:a="http://schemas.openxmlformats.org/drawingml/2006/main">
              <a:ext uri="{FF2B5EF4-FFF2-40B4-BE49-F238E27FC236}">
                <a16:creationId xmlns:a16="http://schemas.microsoft.com/office/drawing/2014/main" id="{051C24FD-F492-4D5E-9333-5E1D9522684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604A49EC-CAA9-43F9-A1AC-42658D1B943F}"/>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8ABFABF-9279-4E42-956E-FC0830D28C0A}"/>
              </a:ext>
            </a:extLst>
          </p:cNvPr>
          <p:cNvSpPr>
            <a:spLocks xmlns:a="http://schemas.openxmlformats.org/drawingml/2006/main" noGrp="1"/>
          </p:cNvSpPr>
          <p:nvPr/>
        </p:nvSpPr>
        <p:spPr>
          <a:xfrm xmlns:a="http://schemas.openxmlformats.org/drawingml/2006/main">
            <a:off x="609600" y="22193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75D68"/>
                </a:solidFill>
                <a:latin typeface="Arial"/>
                <a:ea typeface="Arial"/>
                <a:cs typeface="Arial"/>
              </a:defRPr>
            </a:defPPr>
            <a:lvl1pPr algn="l">
              <a:defRPr sz="5400" b="1">
                <a:solidFill>
                  <a:srgbClr val="075D68"/>
                </a:solidFill>
                <a:latin typeface="Arial"/>
                <a:ea typeface="Arial"/>
                <a:cs typeface="Arial"/>
              </a:defRPr>
            </a:lvl1pPr>
            <a:lvl2pPr algn="l">
              <a:defRPr sz="5400" b="1">
                <a:solidFill>
                  <a:srgbClr val="075D68"/>
                </a:solidFill>
                <a:latin typeface="Arial"/>
                <a:ea typeface="Arial"/>
                <a:cs typeface="Arial"/>
              </a:defRPr>
            </a:lvl2pPr>
            <a:lvl3pPr algn="l">
              <a:defRPr sz="5400" b="1">
                <a:solidFill>
                  <a:srgbClr val="075D68"/>
                </a:solidFill>
                <a:latin typeface="Arial"/>
                <a:ea typeface="Arial"/>
                <a:cs typeface="Arial"/>
              </a:defRPr>
            </a:lvl3pPr>
            <a:lvl4pPr algn="l">
              <a:defRPr sz="5400" b="1">
                <a:solidFill>
                  <a:srgbClr val="075D68"/>
                </a:solidFill>
                <a:latin typeface="Arial"/>
                <a:ea typeface="Arial"/>
                <a:cs typeface="Arial"/>
              </a:defRPr>
            </a:lvl4pPr>
            <a:lvl5pPr algn="l">
              <a:defRPr sz="5400" b="1">
                <a:solidFill>
                  <a:srgbClr val="075D68"/>
                </a:solidFill>
                <a:latin typeface="Arial"/>
                <a:ea typeface="Arial"/>
                <a:cs typeface="Arial"/>
              </a:defRPr>
            </a:lvl5pPr>
            <a:lvl6pPr algn="l">
              <a:defRPr sz="5400" b="1">
                <a:solidFill>
                  <a:srgbClr val="075D68"/>
                </a:solidFill>
                <a:latin typeface="Arial"/>
                <a:ea typeface="Arial"/>
                <a:cs typeface="Arial"/>
              </a:defRPr>
            </a:lvl6pPr>
            <a:lvl7pPr algn="l">
              <a:defRPr sz="5400" b="1">
                <a:solidFill>
                  <a:srgbClr val="075D68"/>
                </a:solidFill>
                <a:latin typeface="Arial"/>
                <a:ea typeface="Arial"/>
                <a:cs typeface="Arial"/>
              </a:defRPr>
            </a:lvl7pPr>
            <a:lvl8pPr algn="l">
              <a:defRPr sz="5400" b="1">
                <a:solidFill>
                  <a:srgbClr val="075D68"/>
                </a:solidFill>
                <a:latin typeface="Arial"/>
                <a:ea typeface="Arial"/>
                <a:cs typeface="Arial"/>
              </a:defRPr>
            </a:lvl8pPr>
            <a:lvl9pPr algn="l">
              <a:defRPr sz="5400" b="1">
                <a:solidFill>
                  <a:srgbClr val="075D68"/>
                </a:solidFill>
                <a:latin typeface="Arial"/>
                <a:ea typeface="Arial"/>
                <a:cs typeface="Arial"/>
              </a:defRPr>
            </a:lvl9pPr>
          </a:lstStyle>
          <a:p xmlns:a="http://schemas.openxmlformats.org/drawingml/2006/main">
            <a:pPr algn="l">
              <a:defRPr sz="5400" b="1">
                <a:solidFill>
                  <a:srgbClr val="075D68"/>
                </a:solidFill>
                <a:latin typeface="Arial"/>
                <a:ea typeface="Arial"/>
                <a:cs typeface="Arial"/>
              </a:defRPr>
            </a:pPr>
            <a:r>
              <a:rPr sz="5400" b="1">
                <a:solidFill>
                  <a:srgbClr val="075D68"/>
                </a:solidFill>
                <a:latin typeface="Arial"/>
                <a:ea typeface="Arial"/>
                <a:cs typeface="Arial"/>
              </a:rPr>
              <a:t>Rules</a:t>
            </a:r>
          </a:p>
        </p:txBody>
      </p:sp>
      <p:sp>
        <p:nvSpPr>
          <p:cNvPr id="6" name="">
            <a:extLst xmlns:a="http://schemas.openxmlformats.org/drawingml/2006/main">
              <a:ext uri="{FF2B5EF4-FFF2-40B4-BE49-F238E27FC236}">
                <a16:creationId xmlns:a16="http://schemas.microsoft.com/office/drawing/2014/main" id="{F51F3E0E-F482-44E8-BA31-6BA76E7328FE}"/>
              </a:ext>
            </a:extLst>
          </p:cNvPr>
          <p:cNvSpPr>
            <a:spLocks xmlns:a="http://schemas.openxmlformats.org/drawingml/2006/main" noGrp="1"/>
          </p:cNvSpPr>
          <p:nvPr/>
        </p:nvSpPr>
        <p:spPr>
          <a:xfrm xmlns:a="http://schemas.openxmlformats.org/drawingml/2006/main">
            <a:off x="609600" y="328612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3A4C"/>
                </a:solidFill>
                <a:latin typeface="Arial"/>
                <a:ea typeface="Arial"/>
                <a:cs typeface="Arial"/>
              </a:defRPr>
            </a:defPPr>
            <a:lvl1pPr algn="l">
              <a:defRPr sz="2325" b="0">
                <a:solidFill>
                  <a:srgbClr val="163A4C"/>
                </a:solidFill>
                <a:latin typeface="Arial"/>
                <a:ea typeface="Arial"/>
                <a:cs typeface="Arial"/>
              </a:defRPr>
            </a:lvl1pPr>
            <a:lvl2pPr algn="l">
              <a:defRPr sz="2325" b="0">
                <a:solidFill>
                  <a:srgbClr val="163A4C"/>
                </a:solidFill>
                <a:latin typeface="Arial"/>
                <a:ea typeface="Arial"/>
                <a:cs typeface="Arial"/>
              </a:defRPr>
            </a:lvl2pPr>
            <a:lvl3pPr algn="l">
              <a:defRPr sz="2325" b="0">
                <a:solidFill>
                  <a:srgbClr val="163A4C"/>
                </a:solidFill>
                <a:latin typeface="Arial"/>
                <a:ea typeface="Arial"/>
                <a:cs typeface="Arial"/>
              </a:defRPr>
            </a:lvl3pPr>
            <a:lvl4pPr algn="l">
              <a:defRPr sz="2325" b="0">
                <a:solidFill>
                  <a:srgbClr val="163A4C"/>
                </a:solidFill>
                <a:latin typeface="Arial"/>
                <a:ea typeface="Arial"/>
                <a:cs typeface="Arial"/>
              </a:defRPr>
            </a:lvl4pPr>
            <a:lvl5pPr algn="l">
              <a:defRPr sz="2325" b="0">
                <a:solidFill>
                  <a:srgbClr val="163A4C"/>
                </a:solidFill>
                <a:latin typeface="Arial"/>
                <a:ea typeface="Arial"/>
                <a:cs typeface="Arial"/>
              </a:defRPr>
            </a:lvl5pPr>
            <a:lvl6pPr algn="l">
              <a:defRPr sz="2325" b="0">
                <a:solidFill>
                  <a:srgbClr val="163A4C"/>
                </a:solidFill>
                <a:latin typeface="Arial"/>
                <a:ea typeface="Arial"/>
                <a:cs typeface="Arial"/>
              </a:defRPr>
            </a:lvl6pPr>
            <a:lvl7pPr algn="l">
              <a:defRPr sz="2325" b="0">
                <a:solidFill>
                  <a:srgbClr val="163A4C"/>
                </a:solidFill>
                <a:latin typeface="Arial"/>
                <a:ea typeface="Arial"/>
                <a:cs typeface="Arial"/>
              </a:defRPr>
            </a:lvl7pPr>
            <a:lvl8pPr algn="l">
              <a:defRPr sz="2325" b="0">
                <a:solidFill>
                  <a:srgbClr val="163A4C"/>
                </a:solidFill>
                <a:latin typeface="Arial"/>
                <a:ea typeface="Arial"/>
                <a:cs typeface="Arial"/>
              </a:defRPr>
            </a:lvl8pPr>
            <a:lvl9pPr algn="l">
              <a:defRPr sz="2325" b="0">
                <a:solidFill>
                  <a:srgbClr val="163A4C"/>
                </a:solidFill>
                <a:latin typeface="Arial"/>
                <a:ea typeface="Arial"/>
                <a:cs typeface="Arial"/>
              </a:defRPr>
            </a:lvl9pPr>
          </a:lstStyle>
          <a:p xmlns:a="http://schemas.openxmlformats.org/drawingml/2006/main">
            <a:pPr algn="l">
              <a:defRPr sz="2325" b="0">
                <a:solidFill>
                  <a:srgbClr val="163A4C"/>
                </a:solidFill>
                <a:latin typeface="Arial"/>
                <a:ea typeface="Arial"/>
                <a:cs typeface="Arial"/>
              </a:defRPr>
            </a:pPr>
            <a:r>
              <a:rPr sz="2325" b="0">
                <a:solidFill>
                  <a:srgbClr val="163A4C"/>
                </a:solidFill>
                <a:latin typeface="Arial"/>
                <a:ea typeface="Arial"/>
                <a:cs typeface="Arial"/>
              </a:rPr>
              <a:t>Lọc theo prefix hoặc tag. Chuyển lớp và hết hạn theo nhu cầu giữ dữ liệu.</a:t>
            </a:r>
          </a:p>
        </p:txBody>
      </p:sp>
      <p:sp>
        <p:nvSpPr>
          <p:cNvPr id="7" name="">
            <a:extLst xmlns:a="http://schemas.openxmlformats.org/drawingml/2006/main">
              <a:ext uri="{FF2B5EF4-FFF2-40B4-BE49-F238E27FC236}">
                <a16:creationId xmlns:a16="http://schemas.microsoft.com/office/drawing/2014/main" id="{ADEC3C88-0EE3-4413-8CA7-52C2AFE4D545}"/>
              </a:ext>
            </a:extLst>
          </p:cNvPr>
          <p:cNvSpPr>
            <a:spLocks xmlns:a="http://schemas.openxmlformats.org/drawingml/2006/main" noGrp="1"/>
          </p:cNvSpPr>
          <p:nvPr/>
        </p:nvSpPr>
        <p:spPr>
          <a:xfrm xmlns:a="http://schemas.openxmlformats.org/drawingml/2006/main">
            <a:off x="609600" y="521970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57C88"/>
                </a:solidFill>
                <a:latin typeface="Arial"/>
                <a:ea typeface="Arial"/>
                <a:cs typeface="Arial"/>
              </a:defRPr>
            </a:defPPr>
            <a:lvl1pPr algn="l">
              <a:defRPr sz="2025" b="0">
                <a:solidFill>
                  <a:srgbClr val="657C88"/>
                </a:solidFill>
                <a:latin typeface="Arial"/>
                <a:ea typeface="Arial"/>
                <a:cs typeface="Arial"/>
              </a:defRPr>
            </a:lvl1pPr>
            <a:lvl2pPr algn="l">
              <a:defRPr sz="2025" b="0">
                <a:solidFill>
                  <a:srgbClr val="657C88"/>
                </a:solidFill>
                <a:latin typeface="Arial"/>
                <a:ea typeface="Arial"/>
                <a:cs typeface="Arial"/>
              </a:defRPr>
            </a:lvl2pPr>
            <a:lvl3pPr algn="l">
              <a:defRPr sz="2025" b="0">
                <a:solidFill>
                  <a:srgbClr val="657C88"/>
                </a:solidFill>
                <a:latin typeface="Arial"/>
                <a:ea typeface="Arial"/>
                <a:cs typeface="Arial"/>
              </a:defRPr>
            </a:lvl3pPr>
            <a:lvl4pPr algn="l">
              <a:defRPr sz="2025" b="0">
                <a:solidFill>
                  <a:srgbClr val="657C88"/>
                </a:solidFill>
                <a:latin typeface="Arial"/>
                <a:ea typeface="Arial"/>
                <a:cs typeface="Arial"/>
              </a:defRPr>
            </a:lvl4pPr>
            <a:lvl5pPr algn="l">
              <a:defRPr sz="2025" b="0">
                <a:solidFill>
                  <a:srgbClr val="657C88"/>
                </a:solidFill>
                <a:latin typeface="Arial"/>
                <a:ea typeface="Arial"/>
                <a:cs typeface="Arial"/>
              </a:defRPr>
            </a:lvl5pPr>
            <a:lvl6pPr algn="l">
              <a:defRPr sz="2025" b="0">
                <a:solidFill>
                  <a:srgbClr val="657C88"/>
                </a:solidFill>
                <a:latin typeface="Arial"/>
                <a:ea typeface="Arial"/>
                <a:cs typeface="Arial"/>
              </a:defRPr>
            </a:lvl6pPr>
            <a:lvl7pPr algn="l">
              <a:defRPr sz="2025" b="0">
                <a:solidFill>
                  <a:srgbClr val="657C88"/>
                </a:solidFill>
                <a:latin typeface="Arial"/>
                <a:ea typeface="Arial"/>
                <a:cs typeface="Arial"/>
              </a:defRPr>
            </a:lvl7pPr>
            <a:lvl8pPr algn="l">
              <a:defRPr sz="2025" b="0">
                <a:solidFill>
                  <a:srgbClr val="657C88"/>
                </a:solidFill>
                <a:latin typeface="Arial"/>
                <a:ea typeface="Arial"/>
                <a:cs typeface="Arial"/>
              </a:defRPr>
            </a:lvl8pPr>
            <a:lvl9pPr algn="l">
              <a:defRPr sz="2025" b="0">
                <a:solidFill>
                  <a:srgbClr val="657C88"/>
                </a:solidFill>
                <a:latin typeface="Arial"/>
                <a:ea typeface="Arial"/>
                <a:cs typeface="Arial"/>
              </a:defRPr>
            </a:lvl9pPr>
          </a:lstStyle>
          <a:p xmlns:a="http://schemas.openxmlformats.org/drawingml/2006/main">
            <a:pPr algn="l">
              <a:defRPr sz="2025" b="0">
                <a:solidFill>
                  <a:srgbClr val="657C88"/>
                </a:solidFill>
                <a:latin typeface="Arial"/>
                <a:ea typeface="Arial"/>
                <a:cs typeface="Arial"/>
              </a:defRPr>
            </a:pPr>
            <a:r>
              <a:rPr sz="2025" b="0">
                <a:solidFill>
                  <a:srgbClr val="657C88"/>
                </a:solidFill>
                <a:latin typeface="Arial"/>
                <a:ea typeface="Arial"/>
                <a:cs typeface="Arial"/>
              </a:rPr>
              <a:t>Mốc thời gian là chính sách theo workload.</a:t>
            </a:r>
          </a:p>
        </p:txBody>
      </p:sp>
      <p:sp>
        <p:nvSpPr>
          <p:cNvPr id="8" name="">
            <a:extLst xmlns:a="http://schemas.openxmlformats.org/drawingml/2006/main">
              <a:ext uri="{FF2B5EF4-FFF2-40B4-BE49-F238E27FC236}">
                <a16:creationId xmlns:a16="http://schemas.microsoft.com/office/drawing/2014/main" id="{29420768-87A9-48AD-84FC-19E71F8037C3}"/>
              </a:ext>
            </a:extLst>
          </p:cNvPr>
          <p:cNvSpPr>
            <a:spLocks xmlns:a="http://schemas.openxmlformats.org/drawingml/2006/main" noGrp="1"/>
          </p:cNvSpPr>
          <p:nvPr/>
        </p:nvSpPr>
        <p:spPr>
          <a:xfrm xmlns:a="http://schemas.openxmlformats.org/drawingml/2006/main">
            <a:off x="6477000" y="2266950"/>
            <a:ext cx="5105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3A4C"/>
                </a:solidFill>
                <a:latin typeface="Arial"/>
                <a:ea typeface="Arial"/>
                <a:cs typeface="Arial"/>
              </a:defRPr>
            </a:defPPr>
            <a:lvl1pPr algn="l">
              <a:defRPr sz="2925" b="1">
                <a:solidFill>
                  <a:srgbClr val="163A4C"/>
                </a:solidFill>
                <a:latin typeface="Arial"/>
                <a:ea typeface="Arial"/>
                <a:cs typeface="Arial"/>
              </a:defRPr>
            </a:lvl1pPr>
            <a:lvl2pPr algn="l">
              <a:defRPr sz="2925" b="1">
                <a:solidFill>
                  <a:srgbClr val="163A4C"/>
                </a:solidFill>
                <a:latin typeface="Arial"/>
                <a:ea typeface="Arial"/>
                <a:cs typeface="Arial"/>
              </a:defRPr>
            </a:lvl2pPr>
            <a:lvl3pPr algn="l">
              <a:defRPr sz="2925" b="1">
                <a:solidFill>
                  <a:srgbClr val="163A4C"/>
                </a:solidFill>
                <a:latin typeface="Arial"/>
                <a:ea typeface="Arial"/>
                <a:cs typeface="Arial"/>
              </a:defRPr>
            </a:lvl3pPr>
            <a:lvl4pPr algn="l">
              <a:defRPr sz="2925" b="1">
                <a:solidFill>
                  <a:srgbClr val="163A4C"/>
                </a:solidFill>
                <a:latin typeface="Arial"/>
                <a:ea typeface="Arial"/>
                <a:cs typeface="Arial"/>
              </a:defRPr>
            </a:lvl4pPr>
            <a:lvl5pPr algn="l">
              <a:defRPr sz="2925" b="1">
                <a:solidFill>
                  <a:srgbClr val="163A4C"/>
                </a:solidFill>
                <a:latin typeface="Arial"/>
                <a:ea typeface="Arial"/>
                <a:cs typeface="Arial"/>
              </a:defRPr>
            </a:lvl5pPr>
            <a:lvl6pPr algn="l">
              <a:defRPr sz="2925" b="1">
                <a:solidFill>
                  <a:srgbClr val="163A4C"/>
                </a:solidFill>
                <a:latin typeface="Arial"/>
                <a:ea typeface="Arial"/>
                <a:cs typeface="Arial"/>
              </a:defRPr>
            </a:lvl6pPr>
            <a:lvl7pPr algn="l">
              <a:defRPr sz="2925" b="1">
                <a:solidFill>
                  <a:srgbClr val="163A4C"/>
                </a:solidFill>
                <a:latin typeface="Arial"/>
                <a:ea typeface="Arial"/>
                <a:cs typeface="Arial"/>
              </a:defRPr>
            </a:lvl7pPr>
            <a:lvl8pPr algn="l">
              <a:defRPr sz="2925" b="1">
                <a:solidFill>
                  <a:srgbClr val="163A4C"/>
                </a:solidFill>
                <a:latin typeface="Arial"/>
                <a:ea typeface="Arial"/>
                <a:cs typeface="Arial"/>
              </a:defRPr>
            </a:lvl8pPr>
            <a:lvl9pPr algn="l">
              <a:defRPr sz="2925" b="1">
                <a:solidFill>
                  <a:srgbClr val="163A4C"/>
                </a:solidFill>
                <a:latin typeface="Arial"/>
                <a:ea typeface="Arial"/>
                <a:cs typeface="Arial"/>
              </a:defRPr>
            </a:lvl9pPr>
          </a:lstStyle>
          <a:p xmlns:a="http://schemas.openxmlformats.org/drawingml/2006/main">
            <a:pPr algn="l">
              <a:defRPr sz="2925" b="1">
                <a:solidFill>
                  <a:srgbClr val="163A4C"/>
                </a:solidFill>
                <a:latin typeface="Arial"/>
                <a:ea typeface="Arial"/>
                <a:cs typeface="Arial"/>
              </a:defRPr>
            </a:pPr>
            <a:r>
              <a:rPr sz="2925" b="1">
                <a:solidFill>
                  <a:srgbClr val="163A4C"/>
                </a:solidFill>
                <a:latin typeface="Arial"/>
                <a:ea typeface="Arial"/>
                <a:cs typeface="Arial"/>
              </a:rPr>
              <a:t>Current / noncurrent</a:t>
            </a:r>
          </a:p>
        </p:txBody>
      </p:sp>
      <p:sp>
        <p:nvSpPr>
          <p:cNvPr id="9" name="">
            <a:extLst xmlns:a="http://schemas.openxmlformats.org/drawingml/2006/main">
              <a:ext uri="{FF2B5EF4-FFF2-40B4-BE49-F238E27FC236}">
                <a16:creationId xmlns:a16="http://schemas.microsoft.com/office/drawing/2014/main" id="{E1B1D985-756E-4FC2-BBAC-148A2D7217CF}"/>
              </a:ext>
            </a:extLst>
          </p:cNvPr>
          <p:cNvSpPr>
            <a:spLocks xmlns:a="http://schemas.openxmlformats.org/drawingml/2006/main" noGrp="1"/>
          </p:cNvSpPr>
          <p:nvPr/>
        </p:nvSpPr>
        <p:spPr>
          <a:xfrm xmlns:a="http://schemas.openxmlformats.org/drawingml/2006/main">
            <a:off x="6477000" y="3333750"/>
            <a:ext cx="5105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3A4C"/>
                </a:solidFill>
                <a:latin typeface="Arial"/>
                <a:ea typeface="Arial"/>
                <a:cs typeface="Arial"/>
              </a:defRPr>
            </a:defPPr>
            <a:lvl1pPr algn="l">
              <a:defRPr sz="2325" b="0">
                <a:solidFill>
                  <a:srgbClr val="163A4C"/>
                </a:solidFill>
                <a:latin typeface="Arial"/>
                <a:ea typeface="Arial"/>
                <a:cs typeface="Arial"/>
              </a:defRPr>
            </a:lvl1pPr>
            <a:lvl2pPr algn="l">
              <a:defRPr sz="2325" b="0">
                <a:solidFill>
                  <a:srgbClr val="163A4C"/>
                </a:solidFill>
                <a:latin typeface="Arial"/>
                <a:ea typeface="Arial"/>
                <a:cs typeface="Arial"/>
              </a:defRPr>
            </a:lvl2pPr>
            <a:lvl3pPr algn="l">
              <a:defRPr sz="2325" b="0">
                <a:solidFill>
                  <a:srgbClr val="163A4C"/>
                </a:solidFill>
                <a:latin typeface="Arial"/>
                <a:ea typeface="Arial"/>
                <a:cs typeface="Arial"/>
              </a:defRPr>
            </a:lvl3pPr>
            <a:lvl4pPr algn="l">
              <a:defRPr sz="2325" b="0">
                <a:solidFill>
                  <a:srgbClr val="163A4C"/>
                </a:solidFill>
                <a:latin typeface="Arial"/>
                <a:ea typeface="Arial"/>
                <a:cs typeface="Arial"/>
              </a:defRPr>
            </a:lvl4pPr>
            <a:lvl5pPr algn="l">
              <a:defRPr sz="2325" b="0">
                <a:solidFill>
                  <a:srgbClr val="163A4C"/>
                </a:solidFill>
                <a:latin typeface="Arial"/>
                <a:ea typeface="Arial"/>
                <a:cs typeface="Arial"/>
              </a:defRPr>
            </a:lvl5pPr>
            <a:lvl6pPr algn="l">
              <a:defRPr sz="2325" b="0">
                <a:solidFill>
                  <a:srgbClr val="163A4C"/>
                </a:solidFill>
                <a:latin typeface="Arial"/>
                <a:ea typeface="Arial"/>
                <a:cs typeface="Arial"/>
              </a:defRPr>
            </a:lvl6pPr>
            <a:lvl7pPr algn="l">
              <a:defRPr sz="2325" b="0">
                <a:solidFill>
                  <a:srgbClr val="163A4C"/>
                </a:solidFill>
                <a:latin typeface="Arial"/>
                <a:ea typeface="Arial"/>
                <a:cs typeface="Arial"/>
              </a:defRPr>
            </a:lvl7pPr>
            <a:lvl8pPr algn="l">
              <a:defRPr sz="2325" b="0">
                <a:solidFill>
                  <a:srgbClr val="163A4C"/>
                </a:solidFill>
                <a:latin typeface="Arial"/>
                <a:ea typeface="Arial"/>
                <a:cs typeface="Arial"/>
              </a:defRPr>
            </a:lvl8pPr>
            <a:lvl9pPr algn="l">
              <a:defRPr sz="2325" b="0">
                <a:solidFill>
                  <a:srgbClr val="163A4C"/>
                </a:solidFill>
                <a:latin typeface="Arial"/>
                <a:ea typeface="Arial"/>
                <a:cs typeface="Arial"/>
              </a:defRPr>
            </a:lvl9pPr>
          </a:lstStyle>
          <a:p xmlns:a="http://schemas.openxmlformats.org/drawingml/2006/main">
            <a:pPr algn="l">
              <a:defRPr sz="2325" b="0">
                <a:solidFill>
                  <a:srgbClr val="163A4C"/>
                </a:solidFill>
                <a:latin typeface="Arial"/>
                <a:ea typeface="Arial"/>
                <a:cs typeface="Arial"/>
              </a:defRPr>
            </a:pPr>
            <a:r>
              <a:rPr sz="2325" b="0">
                <a:solidFill>
                  <a:srgbClr val="163A4C"/>
                </a:solidFill>
                <a:latin typeface="Arial"/>
                <a:ea typeface="Arial"/>
                <a:cs typeface="Arial"/>
              </a:rPr>
              <a:t>Expiration trên bucket versioning thường thêm delete marker.</a:t>
            </a:r>
          </a:p>
        </p:txBody>
      </p:sp>
      <p:sp>
        <p:nvSpPr>
          <p:cNvPr id="10" name="">
            <a:extLst xmlns:a="http://schemas.openxmlformats.org/drawingml/2006/main">
              <a:ext uri="{FF2B5EF4-FFF2-40B4-BE49-F238E27FC236}">
                <a16:creationId xmlns:a16="http://schemas.microsoft.com/office/drawing/2014/main" id="{2009AB91-315F-4A11-AA6D-224157164850}"/>
              </a:ext>
            </a:extLst>
          </p:cNvPr>
          <p:cNvSpPr>
            <a:spLocks xmlns:a="http://schemas.openxmlformats.org/drawingml/2006/main" noGrp="1"/>
          </p:cNvSpPr>
          <p:nvPr/>
        </p:nvSpPr>
        <p:spPr>
          <a:xfrm xmlns:a="http://schemas.openxmlformats.org/drawingml/2006/main">
            <a:off x="6477000" y="47148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NoncurrentVersionExpiration dọn version cũ. Cân nhắc phí lưu tối thiểu và truy xuất.</a:t>
            </a:r>
          </a:p>
        </p:txBody>
      </p:sp>
    </p:spTree>
    <p:extLst>
      <p:ext uri="{BB962C8B-B14F-4D97-AF65-F5344CB8AC3E}">
        <p14:creationId xmlns:p14="http://schemas.microsoft.com/office/powerpoint/2010/main" val="351630251"/>
      </p:ext>
    </p:extLst>
  </p:cSld>
</p:sld>
</file>

<file path=ppt/slides/slide9.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01FB08-535F-4336-BF25-25C83DFE773E}"/>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A33548F8-0FA1-4266-817D-7E1F122C0447}"/>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Bảo mật và kiểm soát truy cập</a:t>
            </a:r>
          </a:p>
        </p:txBody>
      </p:sp>
      <p:sp>
        <p:nvSpPr>
          <p:cNvPr id="3" name="">
            <a:extLst xmlns:a="http://schemas.openxmlformats.org/drawingml/2006/main">
              <a:ext uri="{FF2B5EF4-FFF2-40B4-BE49-F238E27FC236}">
                <a16:creationId xmlns:a16="http://schemas.microsoft.com/office/drawing/2014/main" id="{E6E8A027-7C98-4CDF-B2E1-A95429CA03AC}"/>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F1AE0282-4C24-4C53-AE86-F277CF9BFF66}"/>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8B9DCA1-66C7-4238-8BAC-45947EB31671}"/>
              </a:ext>
            </a:extLst>
          </p:cNvPr>
          <p:cNvSpPr>
            <a:spLocks xmlns:a="http://schemas.openxmlformats.org/drawingml/2006/main" noGrp="1"/>
          </p:cNvSpPr>
          <p:nvPr/>
        </p:nvSpPr>
        <p:spPr>
          <a:xfrm xmlns:a="http://schemas.openxmlformats.org/drawingml/2006/main">
            <a:off x="609600" y="221932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Quyền truy cập</a:t>
            </a:r>
          </a:p>
        </p:txBody>
      </p:sp>
      <p:sp>
        <p:nvSpPr>
          <p:cNvPr id="6" name="">
            <a:extLst xmlns:a="http://schemas.openxmlformats.org/drawingml/2006/main">
              <a:ext uri="{FF2B5EF4-FFF2-40B4-BE49-F238E27FC236}">
                <a16:creationId xmlns:a16="http://schemas.microsoft.com/office/drawing/2014/main" id="{F2C5B3FC-012C-4FE5-A91A-1C911077EF8D}"/>
              </a:ext>
            </a:extLst>
          </p:cNvPr>
          <p:cNvSpPr>
            <a:spLocks xmlns:a="http://schemas.openxmlformats.org/drawingml/2006/main" noGrp="1"/>
          </p:cNvSpPr>
          <p:nvPr/>
        </p:nvSpPr>
        <p:spPr>
          <a:xfrm xmlns:a="http://schemas.openxmlformats.org/drawingml/2006/main">
            <a:off x="609600" y="320992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IAM và bucket policy kiểm soát danh tính, tài nguyên và điều kiện.</a:t>
            </a:r>
          </a:p>
          <a:p xmlns:a="http://schemas.openxmlformats.org/drawingml/2006/main">
            <a:r>
              <a:t/>
            </a:r>
          </a:p>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Block Public Access giảm nguy cơ công khai nhầm trên AWS.</a:t>
            </a:r>
          </a:p>
        </p:txBody>
      </p:sp>
      <p:sp>
        <p:nvSpPr>
          <p:cNvPr id="7" name="">
            <a:extLst xmlns:a="http://schemas.openxmlformats.org/drawingml/2006/main">
              <a:ext uri="{FF2B5EF4-FFF2-40B4-BE49-F238E27FC236}">
                <a16:creationId xmlns:a16="http://schemas.microsoft.com/office/drawing/2014/main" id="{510EC164-9FC2-48B8-8ECB-CD1E88D6319E}"/>
              </a:ext>
            </a:extLst>
          </p:cNvPr>
          <p:cNvSpPr>
            <a:spLocks xmlns:a="http://schemas.openxmlformats.org/drawingml/2006/main" noGrp="1"/>
          </p:cNvSpPr>
          <p:nvPr/>
        </p:nvSpPr>
        <p:spPr>
          <a:xfrm xmlns:a="http://schemas.openxmlformats.org/drawingml/2006/main">
            <a:off x="6477000" y="221932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Mã hóa</a:t>
            </a:r>
          </a:p>
        </p:txBody>
      </p:sp>
      <p:sp>
        <p:nvSpPr>
          <p:cNvPr id="8" name="">
            <a:extLst xmlns:a="http://schemas.openxmlformats.org/drawingml/2006/main">
              <a:ext uri="{FF2B5EF4-FFF2-40B4-BE49-F238E27FC236}">
                <a16:creationId xmlns:a16="http://schemas.microsoft.com/office/drawing/2014/main" id="{395F9AD3-2036-4E17-9E6D-D32440310D9C}"/>
              </a:ext>
            </a:extLst>
          </p:cNvPr>
          <p:cNvSpPr>
            <a:spLocks xmlns:a="http://schemas.openxmlformats.org/drawingml/2006/main" noGrp="1"/>
          </p:cNvSpPr>
          <p:nvPr/>
        </p:nvSpPr>
        <p:spPr>
          <a:xfrm xmlns:a="http://schemas.openxmlformats.org/drawingml/2006/main">
            <a:off x="6477000" y="320992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TLS bảo vệ truyền tải. S3 mã hóa object mới bằng SSE-S3 mặc định.</a:t>
            </a:r>
          </a:p>
          <a:p xmlns:a="http://schemas.openxmlformats.org/drawingml/2006/main">
            <a:r>
              <a:t/>
            </a:r>
          </a:p>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SSE-KMS và SSE-C có cách quản trị khóa khác nhau.</a:t>
            </a:r>
          </a:p>
        </p:txBody>
      </p:sp>
    </p:spTree>
    <p:extLst>
      <p:ext uri="{BB962C8B-B14F-4D97-AF65-F5344CB8AC3E}">
        <p14:creationId xmlns:p14="http://schemas.microsoft.com/office/powerpoint/2010/main" val="1193908017"/>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FAB56BD-B45D-4623-A578-5E9D10B93CDD}"/>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1526C17A-7AB4-4948-A68E-90BD6369D740}"/>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Cơ chế Presigned URL</a:t>
            </a:r>
          </a:p>
        </p:txBody>
      </p:sp>
      <p:sp>
        <p:nvSpPr>
          <p:cNvPr id="3" name="">
            <a:extLst xmlns:a="http://schemas.openxmlformats.org/drawingml/2006/main">
              <a:ext uri="{FF2B5EF4-FFF2-40B4-BE49-F238E27FC236}">
                <a16:creationId xmlns:a16="http://schemas.microsoft.com/office/drawing/2014/main" id="{9CAC92A2-D122-44F0-BB24-AE10FB4C1CDB}"/>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1EC96D17-F4D2-483B-A8F5-80CA662E8BF6}"/>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C287B7C-C9CD-4023-99C2-31B0FF1E40E9}"/>
              </a:ext>
            </a:extLst>
          </p:cNvPr>
          <p:cNvSpPr>
            <a:spLocks xmlns:a="http://schemas.openxmlformats.org/drawingml/2006/main" noGrp="1"/>
          </p:cNvSpPr>
          <p:nvPr/>
        </p:nvSpPr>
        <p:spPr>
          <a:xfrm xmlns:a="http://schemas.openxmlformats.org/drawingml/2006/main">
            <a:off x="609600" y="2000250"/>
            <a:ext cx="2667000" cy="838200"/>
          </a:xfrm>
          <a:prstGeom xmlns:a="http://schemas.openxmlformats.org/drawingml/2006/main" prst="rect">
            <a:avLst/>
          </a:prstGeom>
          <a:solidFill xmlns:a="http://schemas.openxmlformats.org/drawingml/2006/main">
            <a:srgbClr val="075D68"/>
          </a:solidFill>
          <a:ln xmlns:a="http://schemas.openxmlformats.org/drawingml/2006/main" w="9525">
            <a:solidFill>
              <a:srgbClr val="075D68"/>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Trình duyệt</a:t>
            </a:r>
          </a:p>
        </p:txBody>
      </p:sp>
      <p:sp>
        <p:nvSpPr>
          <p:cNvPr id="6" name="">
            <a:extLst xmlns:a="http://schemas.openxmlformats.org/drawingml/2006/main">
              <a:ext uri="{FF2B5EF4-FFF2-40B4-BE49-F238E27FC236}">
                <a16:creationId xmlns:a16="http://schemas.microsoft.com/office/drawing/2014/main" id="{13EEB3B7-3697-4B6F-972F-8F885ECE443B}"/>
              </a:ext>
            </a:extLst>
          </p:cNvPr>
          <p:cNvSpPr>
            <a:spLocks xmlns:a="http://schemas.openxmlformats.org/drawingml/2006/main" noGrp="1"/>
          </p:cNvSpPr>
          <p:nvPr/>
        </p:nvSpPr>
        <p:spPr>
          <a:xfrm xmlns:a="http://schemas.openxmlformats.org/drawingml/2006/main">
            <a:off x="4762500" y="2000250"/>
            <a:ext cx="2667000" cy="838200"/>
          </a:xfrm>
          <a:prstGeom xmlns:a="http://schemas.openxmlformats.org/drawingml/2006/main" prst="rect">
            <a:avLst/>
          </a:prstGeom>
          <a:solidFill xmlns:a="http://schemas.openxmlformats.org/drawingml/2006/main">
            <a:srgbClr val="163A4C"/>
          </a:solidFill>
          <a:ln xmlns:a="http://schemas.openxmlformats.org/drawingml/2006/main" w="9525">
            <a:solidFill>
              <a:srgbClr val="163A4C"/>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C08AD51E-6538-453F-AA12-BE3D62EF70B5}"/>
              </a:ext>
            </a:extLst>
          </p:cNvPr>
          <p:cNvSpPr>
            <a:spLocks xmlns:a="http://schemas.openxmlformats.org/drawingml/2006/main" noGrp="1"/>
          </p:cNvSpPr>
          <p:nvPr/>
        </p:nvSpPr>
        <p:spPr>
          <a:xfrm xmlns:a="http://schemas.openxmlformats.org/drawingml/2006/main">
            <a:off x="8915400" y="2000250"/>
            <a:ext cx="2667000" cy="838200"/>
          </a:xfrm>
          <a:prstGeom xmlns:a="http://schemas.openxmlformats.org/drawingml/2006/main" prst="rect">
            <a:avLst/>
          </a:prstGeom>
          <a:solidFill xmlns:a="http://schemas.openxmlformats.org/drawingml/2006/main">
            <a:srgbClr val="187B8B"/>
          </a:solidFill>
          <a:ln xmlns:a="http://schemas.openxmlformats.org/drawingml/2006/main" w="9525">
            <a:solidFill>
              <a:srgbClr val="187B8B"/>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Object storage</a:t>
            </a:r>
          </a:p>
        </p:txBody>
      </p:sp>
      <p:cxnSp>
        <p:nvCxnSpPr>
          <p:cNvPr id="8" name="">
            <a:extLst xmlns:a="http://schemas.openxmlformats.org/drawingml/2006/main">
              <a:ext uri="{FF2B5EF4-FFF2-40B4-BE49-F238E27FC236}">
                <a16:creationId xmlns:a16="http://schemas.microsoft.com/office/drawing/2014/main" id="{650C3C5A-D196-44C1-A89B-CF6FDF455797}"/>
              </a:ext>
            </a:extLst>
          </p:cNvPr>
          <p:cNvCxnSpPr/>
          <p:nvPr/>
        </p:nvCxnSpPr>
        <p:spPr>
          <a:xfrm xmlns:a="http://schemas.openxmlformats.org/drawingml/2006/main">
            <a:off x="1943100" y="2838450"/>
            <a:ext cx="0" cy="3009900"/>
          </a:xfrm>
          <a:prstGeom xmlns:a="http://schemas.openxmlformats.org/drawingml/2006/main" prst="straightConnector1">
            <a:avLst/>
          </a:prstGeom>
          <a:ln xmlns:a="http://schemas.openxmlformats.org/drawingml/2006/main" w="9525">
            <a:solidFill>
              <a:srgbClr val="8BA7B0"/>
            </a:solidFill>
            <a:prstDash val="dash"/>
          </a:ln>
        </p:spPr>
      </p:cxnSp>
      <p:cxnSp>
        <p:nvCxnSpPr>
          <p:cNvPr id="9" name="">
            <a:extLst xmlns:a="http://schemas.openxmlformats.org/drawingml/2006/main">
              <a:ext uri="{FF2B5EF4-FFF2-40B4-BE49-F238E27FC236}">
                <a16:creationId xmlns:a16="http://schemas.microsoft.com/office/drawing/2014/main" id="{D5F48AAE-35FC-499F-A8C1-4736362DEB30}"/>
              </a:ext>
            </a:extLst>
          </p:cNvPr>
          <p:cNvCxnSpPr/>
          <p:nvPr/>
        </p:nvCxnSpPr>
        <p:spPr>
          <a:xfrm xmlns:a="http://schemas.openxmlformats.org/drawingml/2006/main">
            <a:off x="6096000" y="2838450"/>
            <a:ext cx="0" cy="3009900"/>
          </a:xfrm>
          <a:prstGeom xmlns:a="http://schemas.openxmlformats.org/drawingml/2006/main" prst="straightConnector1">
            <a:avLst/>
          </a:prstGeom>
          <a:ln xmlns:a="http://schemas.openxmlformats.org/drawingml/2006/main" w="9525">
            <a:solidFill>
              <a:srgbClr val="8BA7B0"/>
            </a:solidFill>
            <a:prstDash val="dash"/>
          </a:ln>
        </p:spPr>
      </p:cxnSp>
      <p:cxnSp>
        <p:nvCxnSpPr>
          <p:cNvPr id="10" name="">
            <a:extLst xmlns:a="http://schemas.openxmlformats.org/drawingml/2006/main">
              <a:ext uri="{FF2B5EF4-FFF2-40B4-BE49-F238E27FC236}">
                <a16:creationId xmlns:a16="http://schemas.microsoft.com/office/drawing/2014/main" id="{E61E9020-E86A-48AB-96D3-04F012EF74F8}"/>
              </a:ext>
            </a:extLst>
          </p:cNvPr>
          <p:cNvCxnSpPr/>
          <p:nvPr/>
        </p:nvCxnSpPr>
        <p:spPr>
          <a:xfrm xmlns:a="http://schemas.openxmlformats.org/drawingml/2006/main">
            <a:off x="10248900" y="2838450"/>
            <a:ext cx="0" cy="3009900"/>
          </a:xfrm>
          <a:prstGeom xmlns:a="http://schemas.openxmlformats.org/drawingml/2006/main" prst="straightConnector1">
            <a:avLst/>
          </a:prstGeom>
          <a:ln xmlns:a="http://schemas.openxmlformats.org/drawingml/2006/main" w="9525">
            <a:solidFill>
              <a:srgbClr val="8BA7B0"/>
            </a:solidFill>
            <a:prstDash val="dash"/>
          </a:ln>
        </p:spPr>
      </p:cxnSp>
      <p:cxnSp>
        <p:nvCxnSpPr>
          <p:cNvPr id="11" name="">
            <a:extLst xmlns:a="http://schemas.openxmlformats.org/drawingml/2006/main">
              <a:ext uri="{FF2B5EF4-FFF2-40B4-BE49-F238E27FC236}">
                <a16:creationId xmlns:a16="http://schemas.microsoft.com/office/drawing/2014/main" id="{1AB24502-E6C4-4C1D-B58B-FBAF5D11174F}"/>
              </a:ext>
            </a:extLst>
          </p:cNvPr>
          <p:cNvCxnSpPr/>
          <p:nvPr/>
        </p:nvCxnSpPr>
        <p:spPr>
          <a:xfrm xmlns:a="http://schemas.openxmlformats.org/drawingml/2006/main">
            <a:off x="1943100" y="3533775"/>
            <a:ext cx="4152900" cy="0"/>
          </a:xfrm>
          <a:prstGeom xmlns:a="http://schemas.openxmlformats.org/drawingml/2006/main" prst="straightConnector1">
            <a:avLst/>
          </a:prstGeom>
          <a:ln xmlns:a="http://schemas.openxmlformats.org/drawingml/2006/main" w="28575">
            <a:solidFill>
              <a:srgbClr val="075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AAE75F68-56FA-455F-A331-118180D35BB5}"/>
              </a:ext>
            </a:extLst>
          </p:cNvPr>
          <p:cNvSpPr>
            <a:spLocks xmlns:a="http://schemas.openxmlformats.org/drawingml/2006/main" noGrp="1"/>
          </p:cNvSpPr>
          <p:nvPr/>
        </p:nvSpPr>
        <p:spPr>
          <a:xfrm xmlns:a="http://schemas.openxmlformats.org/drawingml/2006/main">
            <a:off x="1943100" y="3114675"/>
            <a:ext cx="415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075D68"/>
                </a:solidFill>
                <a:latin typeface="Arial"/>
                <a:ea typeface="Arial"/>
                <a:cs typeface="Arial"/>
              </a:defRPr>
            </a:defPPr>
            <a:lvl1pPr algn="ctr">
              <a:defRPr sz="1875" b="1">
                <a:solidFill>
                  <a:srgbClr val="075D68"/>
                </a:solidFill>
                <a:latin typeface="Arial"/>
                <a:ea typeface="Arial"/>
                <a:cs typeface="Arial"/>
              </a:defRPr>
            </a:lvl1pPr>
            <a:lvl2pPr algn="ctr">
              <a:defRPr sz="1875" b="1">
                <a:solidFill>
                  <a:srgbClr val="075D68"/>
                </a:solidFill>
                <a:latin typeface="Arial"/>
                <a:ea typeface="Arial"/>
                <a:cs typeface="Arial"/>
              </a:defRPr>
            </a:lvl2pPr>
            <a:lvl3pPr algn="ctr">
              <a:defRPr sz="1875" b="1">
                <a:solidFill>
                  <a:srgbClr val="075D68"/>
                </a:solidFill>
                <a:latin typeface="Arial"/>
                <a:ea typeface="Arial"/>
                <a:cs typeface="Arial"/>
              </a:defRPr>
            </a:lvl3pPr>
            <a:lvl4pPr algn="ctr">
              <a:defRPr sz="1875" b="1">
                <a:solidFill>
                  <a:srgbClr val="075D68"/>
                </a:solidFill>
                <a:latin typeface="Arial"/>
                <a:ea typeface="Arial"/>
                <a:cs typeface="Arial"/>
              </a:defRPr>
            </a:lvl4pPr>
            <a:lvl5pPr algn="ctr">
              <a:defRPr sz="1875" b="1">
                <a:solidFill>
                  <a:srgbClr val="075D68"/>
                </a:solidFill>
                <a:latin typeface="Arial"/>
                <a:ea typeface="Arial"/>
                <a:cs typeface="Arial"/>
              </a:defRPr>
            </a:lvl5pPr>
            <a:lvl6pPr algn="ctr">
              <a:defRPr sz="1875" b="1">
                <a:solidFill>
                  <a:srgbClr val="075D68"/>
                </a:solidFill>
                <a:latin typeface="Arial"/>
                <a:ea typeface="Arial"/>
                <a:cs typeface="Arial"/>
              </a:defRPr>
            </a:lvl6pPr>
            <a:lvl7pPr algn="ctr">
              <a:defRPr sz="1875" b="1">
                <a:solidFill>
                  <a:srgbClr val="075D68"/>
                </a:solidFill>
                <a:latin typeface="Arial"/>
                <a:ea typeface="Arial"/>
                <a:cs typeface="Arial"/>
              </a:defRPr>
            </a:lvl7pPr>
            <a:lvl8pPr algn="ctr">
              <a:defRPr sz="1875" b="1">
                <a:solidFill>
                  <a:srgbClr val="075D68"/>
                </a:solidFill>
                <a:latin typeface="Arial"/>
                <a:ea typeface="Arial"/>
                <a:cs typeface="Arial"/>
              </a:defRPr>
            </a:lvl8pPr>
            <a:lvl9pPr algn="ctr">
              <a:defRPr sz="1875" b="1">
                <a:solidFill>
                  <a:srgbClr val="075D68"/>
                </a:solidFill>
                <a:latin typeface="Arial"/>
                <a:ea typeface="Arial"/>
                <a:cs typeface="Arial"/>
              </a:defRPr>
            </a:lvl9pPr>
          </a:lstStyle>
          <a:p xmlns:a="http://schemas.openxmlformats.org/drawingml/2006/main">
            <a:pPr algn="ctr">
              <a:defRPr sz="1875" b="1">
                <a:solidFill>
                  <a:srgbClr val="075D68"/>
                </a:solidFill>
                <a:latin typeface="Arial"/>
                <a:ea typeface="Arial"/>
                <a:cs typeface="Arial"/>
              </a:defRPr>
            </a:pPr>
            <a:r>
              <a:rPr sz="1875" b="1">
                <a:solidFill>
                  <a:srgbClr val="075D68"/>
                </a:solidFill>
                <a:latin typeface="Arial"/>
                <a:ea typeface="Arial"/>
                <a:cs typeface="Arial"/>
              </a:rPr>
              <a:t>1  Xin phép theo tài liệu</a:t>
            </a:r>
          </a:p>
        </p:txBody>
      </p:sp>
      <p:sp>
        <p:nvSpPr>
          <p:cNvPr id="13" name="">
            <a:extLst xmlns:a="http://schemas.openxmlformats.org/drawingml/2006/main">
              <a:ext uri="{FF2B5EF4-FFF2-40B4-BE49-F238E27FC236}">
                <a16:creationId xmlns:a16="http://schemas.microsoft.com/office/drawing/2014/main" id="{B1E6710F-8413-4A28-9E0E-8BA7B5176F75}"/>
              </a:ext>
            </a:extLst>
          </p:cNvPr>
          <p:cNvSpPr>
            <a:spLocks xmlns:a="http://schemas.openxmlformats.org/drawingml/2006/main" noGrp="1"/>
          </p:cNvSpPr>
          <p:nvPr/>
        </p:nvSpPr>
        <p:spPr>
          <a:xfrm xmlns:a="http://schemas.openxmlformats.org/drawingml/2006/main">
            <a:off x="4781550" y="3790950"/>
            <a:ext cx="2628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63A4C"/>
                </a:solidFill>
                <a:latin typeface="Arial"/>
                <a:ea typeface="Arial"/>
                <a:cs typeface="Arial"/>
              </a:defRPr>
            </a:defPPr>
            <a:lvl1pPr algn="ctr">
              <a:defRPr sz="1800" b="1">
                <a:solidFill>
                  <a:srgbClr val="163A4C"/>
                </a:solidFill>
                <a:latin typeface="Arial"/>
                <a:ea typeface="Arial"/>
                <a:cs typeface="Arial"/>
              </a:defRPr>
            </a:lvl1pPr>
            <a:lvl2pPr algn="ctr">
              <a:defRPr sz="1800" b="1">
                <a:solidFill>
                  <a:srgbClr val="163A4C"/>
                </a:solidFill>
                <a:latin typeface="Arial"/>
                <a:ea typeface="Arial"/>
                <a:cs typeface="Arial"/>
              </a:defRPr>
            </a:lvl2pPr>
            <a:lvl3pPr algn="ctr">
              <a:defRPr sz="1800" b="1">
                <a:solidFill>
                  <a:srgbClr val="163A4C"/>
                </a:solidFill>
                <a:latin typeface="Arial"/>
                <a:ea typeface="Arial"/>
                <a:cs typeface="Arial"/>
              </a:defRPr>
            </a:lvl3pPr>
            <a:lvl4pPr algn="ctr">
              <a:defRPr sz="1800" b="1">
                <a:solidFill>
                  <a:srgbClr val="163A4C"/>
                </a:solidFill>
                <a:latin typeface="Arial"/>
                <a:ea typeface="Arial"/>
                <a:cs typeface="Arial"/>
              </a:defRPr>
            </a:lvl4pPr>
            <a:lvl5pPr algn="ctr">
              <a:defRPr sz="1800" b="1">
                <a:solidFill>
                  <a:srgbClr val="163A4C"/>
                </a:solidFill>
                <a:latin typeface="Arial"/>
                <a:ea typeface="Arial"/>
                <a:cs typeface="Arial"/>
              </a:defRPr>
            </a:lvl5pPr>
            <a:lvl6pPr algn="ctr">
              <a:defRPr sz="1800" b="1">
                <a:solidFill>
                  <a:srgbClr val="163A4C"/>
                </a:solidFill>
                <a:latin typeface="Arial"/>
                <a:ea typeface="Arial"/>
                <a:cs typeface="Arial"/>
              </a:defRPr>
            </a:lvl6pPr>
            <a:lvl7pPr algn="ctr">
              <a:defRPr sz="1800" b="1">
                <a:solidFill>
                  <a:srgbClr val="163A4C"/>
                </a:solidFill>
                <a:latin typeface="Arial"/>
                <a:ea typeface="Arial"/>
                <a:cs typeface="Arial"/>
              </a:defRPr>
            </a:lvl7pPr>
            <a:lvl8pPr algn="ctr">
              <a:defRPr sz="1800" b="1">
                <a:solidFill>
                  <a:srgbClr val="163A4C"/>
                </a:solidFill>
                <a:latin typeface="Arial"/>
                <a:ea typeface="Arial"/>
                <a:cs typeface="Arial"/>
              </a:defRPr>
            </a:lvl8pPr>
            <a:lvl9pPr algn="ctr">
              <a:defRPr sz="1800" b="1">
                <a:solidFill>
                  <a:srgbClr val="163A4C"/>
                </a:solidFill>
                <a:latin typeface="Arial"/>
                <a:ea typeface="Arial"/>
                <a:cs typeface="Arial"/>
              </a:defRPr>
            </a:lvl9pPr>
          </a:lstStyle>
          <a:p xmlns:a="http://schemas.openxmlformats.org/drawingml/2006/main">
            <a:pPr algn="ctr">
              <a:defRPr sz="1800" b="1">
                <a:solidFill>
                  <a:srgbClr val="163A4C"/>
                </a:solidFill>
                <a:latin typeface="Arial"/>
                <a:ea typeface="Arial"/>
                <a:cs typeface="Arial"/>
              </a:defRPr>
            </a:pPr>
            <a:r>
              <a:rPr sz="1800" b="1">
                <a:solidFill>
                  <a:srgbClr val="163A4C"/>
                </a:solidFill>
                <a:latin typeface="Arial"/>
                <a:ea typeface="Arial"/>
                <a:cs typeface="Arial"/>
              </a:rPr>
              <a:t>Kiểm tra quyền và ký URL</a:t>
            </a:r>
          </a:p>
        </p:txBody>
      </p:sp>
      <p:cxnSp>
        <p:nvCxnSpPr>
          <p:cNvPr id="14" name="">
            <a:extLst xmlns:a="http://schemas.openxmlformats.org/drawingml/2006/main">
              <a:ext uri="{FF2B5EF4-FFF2-40B4-BE49-F238E27FC236}">
                <a16:creationId xmlns:a16="http://schemas.microsoft.com/office/drawing/2014/main" id="{FA4371FE-1B07-4F01-8242-82D4E2AF4D9A}"/>
              </a:ext>
            </a:extLst>
          </p:cNvPr>
          <p:cNvCxnSpPr/>
          <p:nvPr/>
        </p:nvCxnSpPr>
        <p:spPr>
          <a:xfrm xmlns:a="http://schemas.openxmlformats.org/drawingml/2006/main">
            <a:off x="1943100" y="4629150"/>
            <a:ext cx="4152900" cy="0"/>
          </a:xfrm>
          <a:prstGeom xmlns:a="http://schemas.openxmlformats.org/drawingml/2006/main" prst="straightConnector1">
            <a:avLst/>
          </a:prstGeom>
          <a:ln xmlns:a="http://schemas.openxmlformats.org/drawingml/2006/main" w="28575">
            <a:solidFill>
              <a:srgbClr val="163A4C"/>
            </a:solidFill>
            <a:prstDash val="solid"/>
            <a:headEnd type="triangle" w="med" len="med"/>
          </a:ln>
        </p:spPr>
      </p:cxnSp>
      <p:sp>
        <p:nvSpPr>
          <p:cNvPr id="15" name="">
            <a:extLst xmlns:a="http://schemas.openxmlformats.org/drawingml/2006/main">
              <a:ext uri="{FF2B5EF4-FFF2-40B4-BE49-F238E27FC236}">
                <a16:creationId xmlns:a16="http://schemas.microsoft.com/office/drawing/2014/main" id="{4686B343-6267-45B7-88B8-3F496A7430EA}"/>
              </a:ext>
            </a:extLst>
          </p:cNvPr>
          <p:cNvSpPr>
            <a:spLocks xmlns:a="http://schemas.openxmlformats.org/drawingml/2006/main" noGrp="1"/>
          </p:cNvSpPr>
          <p:nvPr/>
        </p:nvSpPr>
        <p:spPr>
          <a:xfrm xmlns:a="http://schemas.openxmlformats.org/drawingml/2006/main">
            <a:off x="1943100" y="4219575"/>
            <a:ext cx="415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63A4C"/>
                </a:solidFill>
                <a:latin typeface="Arial"/>
                <a:ea typeface="Arial"/>
                <a:cs typeface="Arial"/>
              </a:defRPr>
            </a:defPPr>
            <a:lvl1pPr algn="ctr">
              <a:defRPr sz="1875" b="1">
                <a:solidFill>
                  <a:srgbClr val="163A4C"/>
                </a:solidFill>
                <a:latin typeface="Arial"/>
                <a:ea typeface="Arial"/>
                <a:cs typeface="Arial"/>
              </a:defRPr>
            </a:lvl1pPr>
            <a:lvl2pPr algn="ctr">
              <a:defRPr sz="1875" b="1">
                <a:solidFill>
                  <a:srgbClr val="163A4C"/>
                </a:solidFill>
                <a:latin typeface="Arial"/>
                <a:ea typeface="Arial"/>
                <a:cs typeface="Arial"/>
              </a:defRPr>
            </a:lvl2pPr>
            <a:lvl3pPr algn="ctr">
              <a:defRPr sz="1875" b="1">
                <a:solidFill>
                  <a:srgbClr val="163A4C"/>
                </a:solidFill>
                <a:latin typeface="Arial"/>
                <a:ea typeface="Arial"/>
                <a:cs typeface="Arial"/>
              </a:defRPr>
            </a:lvl3pPr>
            <a:lvl4pPr algn="ctr">
              <a:defRPr sz="1875" b="1">
                <a:solidFill>
                  <a:srgbClr val="163A4C"/>
                </a:solidFill>
                <a:latin typeface="Arial"/>
                <a:ea typeface="Arial"/>
                <a:cs typeface="Arial"/>
              </a:defRPr>
            </a:lvl4pPr>
            <a:lvl5pPr algn="ctr">
              <a:defRPr sz="1875" b="1">
                <a:solidFill>
                  <a:srgbClr val="163A4C"/>
                </a:solidFill>
                <a:latin typeface="Arial"/>
                <a:ea typeface="Arial"/>
                <a:cs typeface="Arial"/>
              </a:defRPr>
            </a:lvl5pPr>
            <a:lvl6pPr algn="ctr">
              <a:defRPr sz="1875" b="1">
                <a:solidFill>
                  <a:srgbClr val="163A4C"/>
                </a:solidFill>
                <a:latin typeface="Arial"/>
                <a:ea typeface="Arial"/>
                <a:cs typeface="Arial"/>
              </a:defRPr>
            </a:lvl6pPr>
            <a:lvl7pPr algn="ctr">
              <a:defRPr sz="1875" b="1">
                <a:solidFill>
                  <a:srgbClr val="163A4C"/>
                </a:solidFill>
                <a:latin typeface="Arial"/>
                <a:ea typeface="Arial"/>
                <a:cs typeface="Arial"/>
              </a:defRPr>
            </a:lvl7pPr>
            <a:lvl8pPr algn="ctr">
              <a:defRPr sz="1875" b="1">
                <a:solidFill>
                  <a:srgbClr val="163A4C"/>
                </a:solidFill>
                <a:latin typeface="Arial"/>
                <a:ea typeface="Arial"/>
                <a:cs typeface="Arial"/>
              </a:defRPr>
            </a:lvl8pPr>
            <a:lvl9pPr algn="ctr">
              <a:defRPr sz="1875" b="1">
                <a:solidFill>
                  <a:srgbClr val="163A4C"/>
                </a:solidFill>
                <a:latin typeface="Arial"/>
                <a:ea typeface="Arial"/>
                <a:cs typeface="Arial"/>
              </a:defRPr>
            </a:lvl9pPr>
          </a:lstStyle>
          <a:p xmlns:a="http://schemas.openxmlformats.org/drawingml/2006/main">
            <a:pPr algn="ctr">
              <a:defRPr sz="1875" b="1">
                <a:solidFill>
                  <a:srgbClr val="163A4C"/>
                </a:solidFill>
                <a:latin typeface="Arial"/>
                <a:ea typeface="Arial"/>
                <a:cs typeface="Arial"/>
              </a:defRPr>
            </a:pPr>
            <a:r>
              <a:rPr sz="1875" b="1">
                <a:solidFill>
                  <a:srgbClr val="163A4C"/>
                </a:solidFill>
                <a:latin typeface="Arial"/>
                <a:ea typeface="Arial"/>
                <a:cs typeface="Arial"/>
              </a:rPr>
              <a:t>2  Trả URL có TTL</a:t>
            </a:r>
          </a:p>
        </p:txBody>
      </p:sp>
      <p:cxnSp>
        <p:nvCxnSpPr>
          <p:cNvPr id="16" name="">
            <a:extLst xmlns:a="http://schemas.openxmlformats.org/drawingml/2006/main">
              <a:ext uri="{FF2B5EF4-FFF2-40B4-BE49-F238E27FC236}">
                <a16:creationId xmlns:a16="http://schemas.microsoft.com/office/drawing/2014/main" id="{6FE2DC5A-DEB7-485E-8155-9392B5EC8CD8}"/>
              </a:ext>
            </a:extLst>
          </p:cNvPr>
          <p:cNvCxnSpPr/>
          <p:nvPr/>
        </p:nvCxnSpPr>
        <p:spPr>
          <a:xfrm xmlns:a="http://schemas.openxmlformats.org/drawingml/2006/main">
            <a:off x="1943100" y="5629275"/>
            <a:ext cx="8305800" cy="0"/>
          </a:xfrm>
          <a:prstGeom xmlns:a="http://schemas.openxmlformats.org/drawingml/2006/main" prst="straightConnector1">
            <a:avLst/>
          </a:prstGeom>
          <a:ln xmlns:a="http://schemas.openxmlformats.org/drawingml/2006/main" w="28575">
            <a:solidFill>
              <a:srgbClr val="075D68"/>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50F4C3F8-F86C-4D11-90B9-EF321CC920D4}"/>
              </a:ext>
            </a:extLst>
          </p:cNvPr>
          <p:cNvSpPr>
            <a:spLocks xmlns:a="http://schemas.openxmlformats.org/drawingml/2006/main" noGrp="1"/>
          </p:cNvSpPr>
          <p:nvPr/>
        </p:nvSpPr>
        <p:spPr>
          <a:xfrm xmlns:a="http://schemas.openxmlformats.org/drawingml/2006/main">
            <a:off x="1943100" y="5200650"/>
            <a:ext cx="830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75D68"/>
                </a:solidFill>
                <a:latin typeface="Arial"/>
                <a:ea typeface="Arial"/>
                <a:cs typeface="Arial"/>
              </a:defRPr>
            </a:defPPr>
            <a:lvl1pPr algn="ctr">
              <a:defRPr sz="1950" b="1">
                <a:solidFill>
                  <a:srgbClr val="075D68"/>
                </a:solidFill>
                <a:latin typeface="Arial"/>
                <a:ea typeface="Arial"/>
                <a:cs typeface="Arial"/>
              </a:defRPr>
            </a:lvl1pPr>
            <a:lvl2pPr algn="ctr">
              <a:defRPr sz="1950" b="1">
                <a:solidFill>
                  <a:srgbClr val="075D68"/>
                </a:solidFill>
                <a:latin typeface="Arial"/>
                <a:ea typeface="Arial"/>
                <a:cs typeface="Arial"/>
              </a:defRPr>
            </a:lvl2pPr>
            <a:lvl3pPr algn="ctr">
              <a:defRPr sz="1950" b="1">
                <a:solidFill>
                  <a:srgbClr val="075D68"/>
                </a:solidFill>
                <a:latin typeface="Arial"/>
                <a:ea typeface="Arial"/>
                <a:cs typeface="Arial"/>
              </a:defRPr>
            </a:lvl3pPr>
            <a:lvl4pPr algn="ctr">
              <a:defRPr sz="1950" b="1">
                <a:solidFill>
                  <a:srgbClr val="075D68"/>
                </a:solidFill>
                <a:latin typeface="Arial"/>
                <a:ea typeface="Arial"/>
                <a:cs typeface="Arial"/>
              </a:defRPr>
            </a:lvl4pPr>
            <a:lvl5pPr algn="ctr">
              <a:defRPr sz="1950" b="1">
                <a:solidFill>
                  <a:srgbClr val="075D68"/>
                </a:solidFill>
                <a:latin typeface="Arial"/>
                <a:ea typeface="Arial"/>
                <a:cs typeface="Arial"/>
              </a:defRPr>
            </a:lvl5pPr>
            <a:lvl6pPr algn="ctr">
              <a:defRPr sz="1950" b="1">
                <a:solidFill>
                  <a:srgbClr val="075D68"/>
                </a:solidFill>
                <a:latin typeface="Arial"/>
                <a:ea typeface="Arial"/>
                <a:cs typeface="Arial"/>
              </a:defRPr>
            </a:lvl6pPr>
            <a:lvl7pPr algn="ctr">
              <a:defRPr sz="1950" b="1">
                <a:solidFill>
                  <a:srgbClr val="075D68"/>
                </a:solidFill>
                <a:latin typeface="Arial"/>
                <a:ea typeface="Arial"/>
                <a:cs typeface="Arial"/>
              </a:defRPr>
            </a:lvl7pPr>
            <a:lvl8pPr algn="ctr">
              <a:defRPr sz="1950" b="1">
                <a:solidFill>
                  <a:srgbClr val="075D68"/>
                </a:solidFill>
                <a:latin typeface="Arial"/>
                <a:ea typeface="Arial"/>
                <a:cs typeface="Arial"/>
              </a:defRPr>
            </a:lvl8pPr>
            <a:lvl9pPr algn="ctr">
              <a:defRPr sz="1950" b="1">
                <a:solidFill>
                  <a:srgbClr val="075D68"/>
                </a:solidFill>
                <a:latin typeface="Arial"/>
                <a:ea typeface="Arial"/>
                <a:cs typeface="Arial"/>
              </a:defRPr>
            </a:lvl9pPr>
          </a:lstStyle>
          <a:p xmlns:a="http://schemas.openxmlformats.org/drawingml/2006/main">
            <a:pPr algn="ctr">
              <a:defRPr sz="1950" b="1">
                <a:solidFill>
                  <a:srgbClr val="075D68"/>
                </a:solidFill>
                <a:latin typeface="Arial"/>
                <a:ea typeface="Arial"/>
                <a:cs typeface="Arial"/>
              </a:defRPr>
            </a:pPr>
            <a:r>
              <a:rPr sz="1950" b="1">
                <a:solidFill>
                  <a:srgbClr val="075D68"/>
                </a:solidFill>
                <a:latin typeface="Arial"/>
                <a:ea typeface="Arial"/>
                <a:cs typeface="Arial"/>
              </a:rPr>
              <a:t>3  PUT / GET trực tiếp object bytes</a:t>
            </a:r>
          </a:p>
        </p:txBody>
      </p:sp>
    </p:spTree>
    <p:extLst>
      <p:ext uri="{BB962C8B-B14F-4D97-AF65-F5344CB8AC3E}">
        <p14:creationId xmlns:p14="http://schemas.microsoft.com/office/powerpoint/2010/main" val="941521367"/>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D8E658-E037-473F-90FF-B3CFA8D9A111}"/>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9CD2B90B-6832-4848-8F00-37DA8269225B}"/>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Versioning và Object Lock</a:t>
            </a:r>
          </a:p>
        </p:txBody>
      </p:sp>
      <p:sp>
        <p:nvSpPr>
          <p:cNvPr id="3" name="">
            <a:extLst xmlns:a="http://schemas.openxmlformats.org/drawingml/2006/main">
              <a:ext uri="{FF2B5EF4-FFF2-40B4-BE49-F238E27FC236}">
                <a16:creationId xmlns:a16="http://schemas.microsoft.com/office/drawing/2014/main" id="{1022C08B-6288-478C-A251-B96186E31DF0}"/>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4655F1E3-45E4-417B-AAD5-A75106DC462B}"/>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4B990B0-F090-493B-9394-D6712920874A}"/>
              </a:ext>
            </a:extLst>
          </p:cNvPr>
          <p:cNvSpPr>
            <a:spLocks xmlns:a="http://schemas.openxmlformats.org/drawingml/2006/main" noGrp="1"/>
          </p:cNvSpPr>
          <p:nvPr/>
        </p:nvSpPr>
        <p:spPr>
          <a:xfrm xmlns:a="http://schemas.openxmlformats.org/drawingml/2006/main">
            <a:off x="609600" y="223837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Versioning</a:t>
            </a:r>
          </a:p>
        </p:txBody>
      </p:sp>
      <p:sp>
        <p:nvSpPr>
          <p:cNvPr id="6" name="">
            <a:extLst xmlns:a="http://schemas.openxmlformats.org/drawingml/2006/main">
              <a:ext uri="{FF2B5EF4-FFF2-40B4-BE49-F238E27FC236}">
                <a16:creationId xmlns:a16="http://schemas.microsoft.com/office/drawing/2014/main" id="{4C4BC079-2C43-42F2-A3CC-8EB21A38A500}"/>
              </a:ext>
            </a:extLst>
          </p:cNvPr>
          <p:cNvSpPr>
            <a:spLocks xmlns:a="http://schemas.openxmlformats.org/drawingml/2006/main" noGrp="1"/>
          </p:cNvSpPr>
          <p:nvPr/>
        </p:nvSpPr>
        <p:spPr>
          <a:xfrm xmlns:a="http://schemas.openxmlformats.org/drawingml/2006/main">
            <a:off x="609600" y="322897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Lưu nhiều version của cùng một key.</a:t>
            </a:r>
          </a:p>
          <a:p xmlns:a="http://schemas.openxmlformats.org/drawingml/2006/main">
            <a:r>
              <a:t/>
            </a:r>
          </a:p>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Simple DELETE thêm marker khi versioning bật. Bản cũ còn tồn tại mới phục hồi được.</a:t>
            </a:r>
          </a:p>
        </p:txBody>
      </p:sp>
      <p:sp>
        <p:nvSpPr>
          <p:cNvPr id="7" name="">
            <a:extLst xmlns:a="http://schemas.openxmlformats.org/drawingml/2006/main">
              <a:ext uri="{FF2B5EF4-FFF2-40B4-BE49-F238E27FC236}">
                <a16:creationId xmlns:a16="http://schemas.microsoft.com/office/drawing/2014/main" id="{FE471161-A38A-4F5F-8244-9E005504704C}"/>
              </a:ext>
            </a:extLst>
          </p:cNvPr>
          <p:cNvSpPr>
            <a:spLocks xmlns:a="http://schemas.openxmlformats.org/drawingml/2006/main" noGrp="1"/>
          </p:cNvSpPr>
          <p:nvPr/>
        </p:nvSpPr>
        <p:spPr>
          <a:xfrm xmlns:a="http://schemas.openxmlformats.org/drawingml/2006/main">
            <a:off x="6477000" y="223837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Object Lock</a:t>
            </a:r>
          </a:p>
        </p:txBody>
      </p:sp>
      <p:sp>
        <p:nvSpPr>
          <p:cNvPr id="8" name="">
            <a:extLst xmlns:a="http://schemas.openxmlformats.org/drawingml/2006/main">
              <a:ext uri="{FF2B5EF4-FFF2-40B4-BE49-F238E27FC236}">
                <a16:creationId xmlns:a16="http://schemas.microsoft.com/office/drawing/2014/main" id="{29CBECBD-C309-44FE-920F-806524CE4406}"/>
              </a:ext>
            </a:extLst>
          </p:cNvPr>
          <p:cNvSpPr>
            <a:spLocks xmlns:a="http://schemas.openxmlformats.org/drawingml/2006/main" noGrp="1"/>
          </p:cNvSpPr>
          <p:nvPr/>
        </p:nvSpPr>
        <p:spPr>
          <a:xfrm xmlns:a="http://schemas.openxmlformats.org/drawingml/2006/main">
            <a:off x="6477000" y="322897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Bảo vệ object version theo retention hoặc legal hold.</a:t>
            </a:r>
          </a:p>
          <a:p xmlns:a="http://schemas.openxmlformats.org/drawingml/2006/main">
            <a:r>
              <a:t/>
            </a:r>
          </a:p>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Governance có quyền bypass. Compliance bảo vệ nghiêm ngặt hơn.</a:t>
            </a:r>
          </a:p>
        </p:txBody>
      </p:sp>
    </p:spTree>
    <p:extLst>
      <p:ext uri="{BB962C8B-B14F-4D97-AF65-F5344CB8AC3E}">
        <p14:creationId xmlns:p14="http://schemas.microsoft.com/office/powerpoint/2010/main" val="1531173704"/>
      </p:ext>
    </p:extLst>
  </p:cSld>
</p:sld>
</file>

<file path=ppt/slides/slide12.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5BFD5D-DD78-4541-B409-C3E3215EBBC0}"/>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II  CƠ CHẾ KỸ THUẬT S3</a:t>
            </a:r>
          </a:p>
        </p:txBody>
      </p:sp>
      <p:sp>
        <p:nvSpPr>
          <p:cNvPr id="2" name="">
            <a:extLst xmlns:a="http://schemas.openxmlformats.org/drawingml/2006/main">
              <a:ext uri="{FF2B5EF4-FFF2-40B4-BE49-F238E27FC236}">
                <a16:creationId xmlns:a16="http://schemas.microsoft.com/office/drawing/2014/main" id="{1C8C24DA-D990-421E-BA76-0DB9B76A9D86}"/>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Truyền tệp lớn và hiệu năng</a:t>
            </a:r>
          </a:p>
        </p:txBody>
      </p:sp>
      <p:sp>
        <p:nvSpPr>
          <p:cNvPr id="3" name="">
            <a:extLst xmlns:a="http://schemas.openxmlformats.org/drawingml/2006/main">
              <a:ext uri="{FF2B5EF4-FFF2-40B4-BE49-F238E27FC236}">
                <a16:creationId xmlns:a16="http://schemas.microsoft.com/office/drawing/2014/main" id="{104EDF07-3631-47AA-8297-7FF124BD396E}"/>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F25DE856-95F1-4EAF-BCE9-89901FC72662}"/>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166CCF8F-7324-4E9F-B749-4F3E9E02E375}"/>
              </a:ext>
            </a:extLst>
          </p:cNvPr>
          <p:cNvSpPr>
            <a:spLocks xmlns:a="http://schemas.openxmlformats.org/drawingml/2006/main" noGrp="1"/>
          </p:cNvSpPr>
          <p:nvPr/>
        </p:nvSpPr>
        <p:spPr>
          <a:xfrm xmlns:a="http://schemas.openxmlformats.org/drawingml/2006/main">
            <a:off x="609600" y="2181225"/>
            <a:ext cx="56769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58D9E8"/>
                </a:solidFill>
                <a:latin typeface="Arial"/>
                <a:ea typeface="Arial"/>
                <a:cs typeface="Arial"/>
              </a:defRPr>
            </a:defPPr>
            <a:lvl1pPr algn="l">
              <a:defRPr sz="6900" b="1">
                <a:solidFill>
                  <a:srgbClr val="58D9E8"/>
                </a:solidFill>
                <a:latin typeface="Arial"/>
                <a:ea typeface="Arial"/>
                <a:cs typeface="Arial"/>
              </a:defRPr>
            </a:lvl1pPr>
            <a:lvl2pPr algn="l">
              <a:defRPr sz="6900" b="1">
                <a:solidFill>
                  <a:srgbClr val="58D9E8"/>
                </a:solidFill>
                <a:latin typeface="Arial"/>
                <a:ea typeface="Arial"/>
                <a:cs typeface="Arial"/>
              </a:defRPr>
            </a:lvl2pPr>
            <a:lvl3pPr algn="l">
              <a:defRPr sz="6900" b="1">
                <a:solidFill>
                  <a:srgbClr val="58D9E8"/>
                </a:solidFill>
                <a:latin typeface="Arial"/>
                <a:ea typeface="Arial"/>
                <a:cs typeface="Arial"/>
              </a:defRPr>
            </a:lvl3pPr>
            <a:lvl4pPr algn="l">
              <a:defRPr sz="6900" b="1">
                <a:solidFill>
                  <a:srgbClr val="58D9E8"/>
                </a:solidFill>
                <a:latin typeface="Arial"/>
                <a:ea typeface="Arial"/>
                <a:cs typeface="Arial"/>
              </a:defRPr>
            </a:lvl4pPr>
            <a:lvl5pPr algn="l">
              <a:defRPr sz="6900" b="1">
                <a:solidFill>
                  <a:srgbClr val="58D9E8"/>
                </a:solidFill>
                <a:latin typeface="Arial"/>
                <a:ea typeface="Arial"/>
                <a:cs typeface="Arial"/>
              </a:defRPr>
            </a:lvl5pPr>
            <a:lvl6pPr algn="l">
              <a:defRPr sz="6900" b="1">
                <a:solidFill>
                  <a:srgbClr val="58D9E8"/>
                </a:solidFill>
                <a:latin typeface="Arial"/>
                <a:ea typeface="Arial"/>
                <a:cs typeface="Arial"/>
              </a:defRPr>
            </a:lvl6pPr>
            <a:lvl7pPr algn="l">
              <a:defRPr sz="6900" b="1">
                <a:solidFill>
                  <a:srgbClr val="58D9E8"/>
                </a:solidFill>
                <a:latin typeface="Arial"/>
                <a:ea typeface="Arial"/>
                <a:cs typeface="Arial"/>
              </a:defRPr>
            </a:lvl7pPr>
            <a:lvl8pPr algn="l">
              <a:defRPr sz="6900" b="1">
                <a:solidFill>
                  <a:srgbClr val="58D9E8"/>
                </a:solidFill>
                <a:latin typeface="Arial"/>
                <a:ea typeface="Arial"/>
                <a:cs typeface="Arial"/>
              </a:defRPr>
            </a:lvl8pPr>
            <a:lvl9pPr algn="l">
              <a:defRPr sz="6900" b="1">
                <a:solidFill>
                  <a:srgbClr val="58D9E8"/>
                </a:solidFill>
                <a:latin typeface="Arial"/>
                <a:ea typeface="Arial"/>
                <a:cs typeface="Arial"/>
              </a:defRPr>
            </a:lvl9pPr>
          </a:lstStyle>
          <a:p xmlns:a="http://schemas.openxmlformats.org/drawingml/2006/main">
            <a:pPr algn="l">
              <a:defRPr sz="6900" b="1">
                <a:solidFill>
                  <a:srgbClr val="58D9E8"/>
                </a:solidFill>
                <a:latin typeface="Arial"/>
                <a:ea typeface="Arial"/>
                <a:cs typeface="Arial"/>
              </a:defRPr>
            </a:pPr>
            <a:r>
              <a:rPr sz="6900" b="1">
                <a:solidFill>
                  <a:srgbClr val="58D9E8"/>
                </a:solidFill>
                <a:latin typeface="Arial"/>
                <a:ea typeface="Arial"/>
                <a:cs typeface="Arial"/>
              </a:rPr>
              <a:t>100 MB</a:t>
            </a:r>
          </a:p>
        </p:txBody>
      </p:sp>
      <p:sp>
        <p:nvSpPr>
          <p:cNvPr id="6" name="">
            <a:extLst xmlns:a="http://schemas.openxmlformats.org/drawingml/2006/main">
              <a:ext uri="{FF2B5EF4-FFF2-40B4-BE49-F238E27FC236}">
                <a16:creationId xmlns:a16="http://schemas.microsoft.com/office/drawing/2014/main" id="{9035D2E1-B5EE-4541-875F-E2ACAA8112FB}"/>
              </a:ext>
            </a:extLst>
          </p:cNvPr>
          <p:cNvSpPr>
            <a:spLocks xmlns:a="http://schemas.openxmlformats.org/drawingml/2006/main" noGrp="1"/>
          </p:cNvSpPr>
          <p:nvPr/>
        </p:nvSpPr>
        <p:spPr>
          <a:xfrm xmlns:a="http://schemas.openxmlformats.org/drawingml/2006/main">
            <a:off x="685800" y="3419475"/>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CEBED"/>
                </a:solidFill>
                <a:latin typeface="Arial"/>
                <a:ea typeface="Arial"/>
                <a:cs typeface="Arial"/>
              </a:defRPr>
            </a:defPPr>
            <a:lvl1pPr algn="l">
              <a:defRPr sz="2400" b="0">
                <a:solidFill>
                  <a:srgbClr val="DCEBED"/>
                </a:solidFill>
                <a:latin typeface="Arial"/>
                <a:ea typeface="Arial"/>
                <a:cs typeface="Arial"/>
              </a:defRPr>
            </a:lvl1pPr>
            <a:lvl2pPr algn="l">
              <a:defRPr sz="2400" b="0">
                <a:solidFill>
                  <a:srgbClr val="DCEBED"/>
                </a:solidFill>
                <a:latin typeface="Arial"/>
                <a:ea typeface="Arial"/>
                <a:cs typeface="Arial"/>
              </a:defRPr>
            </a:lvl2pPr>
            <a:lvl3pPr algn="l">
              <a:defRPr sz="2400" b="0">
                <a:solidFill>
                  <a:srgbClr val="DCEBED"/>
                </a:solidFill>
                <a:latin typeface="Arial"/>
                <a:ea typeface="Arial"/>
                <a:cs typeface="Arial"/>
              </a:defRPr>
            </a:lvl3pPr>
            <a:lvl4pPr algn="l">
              <a:defRPr sz="2400" b="0">
                <a:solidFill>
                  <a:srgbClr val="DCEBED"/>
                </a:solidFill>
                <a:latin typeface="Arial"/>
                <a:ea typeface="Arial"/>
                <a:cs typeface="Arial"/>
              </a:defRPr>
            </a:lvl4pPr>
            <a:lvl5pPr algn="l">
              <a:defRPr sz="2400" b="0">
                <a:solidFill>
                  <a:srgbClr val="DCEBED"/>
                </a:solidFill>
                <a:latin typeface="Arial"/>
                <a:ea typeface="Arial"/>
                <a:cs typeface="Arial"/>
              </a:defRPr>
            </a:lvl5pPr>
            <a:lvl6pPr algn="l">
              <a:defRPr sz="2400" b="0">
                <a:solidFill>
                  <a:srgbClr val="DCEBED"/>
                </a:solidFill>
                <a:latin typeface="Arial"/>
                <a:ea typeface="Arial"/>
                <a:cs typeface="Arial"/>
              </a:defRPr>
            </a:lvl6pPr>
            <a:lvl7pPr algn="l">
              <a:defRPr sz="2400" b="0">
                <a:solidFill>
                  <a:srgbClr val="DCEBED"/>
                </a:solidFill>
                <a:latin typeface="Arial"/>
                <a:ea typeface="Arial"/>
                <a:cs typeface="Arial"/>
              </a:defRPr>
            </a:lvl7pPr>
            <a:lvl8pPr algn="l">
              <a:defRPr sz="2400" b="0">
                <a:solidFill>
                  <a:srgbClr val="DCEBED"/>
                </a:solidFill>
                <a:latin typeface="Arial"/>
                <a:ea typeface="Arial"/>
                <a:cs typeface="Arial"/>
              </a:defRPr>
            </a:lvl8pPr>
            <a:lvl9pPr algn="l">
              <a:defRPr sz="2400" b="0">
                <a:solidFill>
                  <a:srgbClr val="DCEBED"/>
                </a:solidFill>
                <a:latin typeface="Arial"/>
                <a:ea typeface="Arial"/>
                <a:cs typeface="Arial"/>
              </a:defRPr>
            </a:lvl9pPr>
          </a:lstStyle>
          <a:p xmlns:a="http://schemas.openxmlformats.org/drawingml/2006/main">
            <a:pPr algn="l">
              <a:defRPr sz="2400" b="0">
                <a:solidFill>
                  <a:srgbClr val="DCEBED"/>
                </a:solidFill>
                <a:latin typeface="Arial"/>
                <a:ea typeface="Arial"/>
                <a:cs typeface="Arial"/>
              </a:defRPr>
            </a:pPr>
            <a:r>
              <a:rPr sz="2400" b="0">
                <a:solidFill>
                  <a:srgbClr val="DCEBED"/>
                </a:solidFill>
                <a:latin typeface="Arial"/>
                <a:ea typeface="Arial"/>
                <a:cs typeface="Arial"/>
              </a:rPr>
              <a:t>Ngưỡng nên cân nhắc multipart</a:t>
            </a:r>
          </a:p>
        </p:txBody>
      </p:sp>
      <p:sp>
        <p:nvSpPr>
          <p:cNvPr id="7" name="">
            <a:extLst xmlns:a="http://schemas.openxmlformats.org/drawingml/2006/main">
              <a:ext uri="{FF2B5EF4-FFF2-40B4-BE49-F238E27FC236}">
                <a16:creationId xmlns:a16="http://schemas.microsoft.com/office/drawing/2014/main" id="{B2E37242-3F6E-4B42-84C6-CD47BB28B337}"/>
              </a:ext>
            </a:extLst>
          </p:cNvPr>
          <p:cNvSpPr>
            <a:spLocks xmlns:a="http://schemas.openxmlformats.org/drawingml/2006/main" noGrp="1"/>
          </p:cNvSpPr>
          <p:nvPr/>
        </p:nvSpPr>
        <p:spPr>
          <a:xfrm xmlns:a="http://schemas.openxmlformats.org/drawingml/2006/main">
            <a:off x="685800" y="46005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PUT đơn tối đa 5 GB. Multipart cho phép tải song song và retry từng part.</a:t>
            </a:r>
          </a:p>
        </p:txBody>
      </p:sp>
      <p:sp>
        <p:nvSpPr>
          <p:cNvPr id="8" name="">
            <a:extLst xmlns:a="http://schemas.openxmlformats.org/drawingml/2006/main">
              <a:ext uri="{FF2B5EF4-FFF2-40B4-BE49-F238E27FC236}">
                <a16:creationId xmlns:a16="http://schemas.microsoft.com/office/drawing/2014/main" id="{9CB7207B-672C-4ACB-8693-786557385758}"/>
              </a:ext>
            </a:extLst>
          </p:cNvPr>
          <p:cNvSpPr>
            <a:spLocks xmlns:a="http://schemas.openxmlformats.org/drawingml/2006/main" noGrp="1"/>
          </p:cNvSpPr>
          <p:nvPr/>
        </p:nvSpPr>
        <p:spPr>
          <a:xfrm xmlns:a="http://schemas.openxmlformats.org/drawingml/2006/main">
            <a:off x="6724650" y="22764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FFFFFF"/>
                </a:solidFill>
                <a:latin typeface="Arial"/>
                <a:ea typeface="Arial"/>
                <a:cs typeface="Arial"/>
              </a:defRPr>
            </a:defPPr>
            <a:lvl1pPr algn="l">
              <a:defRPr sz="4275" b="1">
                <a:solidFill>
                  <a:srgbClr val="FFFFFF"/>
                </a:solidFill>
                <a:latin typeface="Arial"/>
                <a:ea typeface="Arial"/>
                <a:cs typeface="Arial"/>
              </a:defRPr>
            </a:lvl1pPr>
            <a:lvl2pPr algn="l">
              <a:defRPr sz="4275" b="1">
                <a:solidFill>
                  <a:srgbClr val="FFFFFF"/>
                </a:solidFill>
                <a:latin typeface="Arial"/>
                <a:ea typeface="Arial"/>
                <a:cs typeface="Arial"/>
              </a:defRPr>
            </a:lvl2pPr>
            <a:lvl3pPr algn="l">
              <a:defRPr sz="4275" b="1">
                <a:solidFill>
                  <a:srgbClr val="FFFFFF"/>
                </a:solidFill>
                <a:latin typeface="Arial"/>
                <a:ea typeface="Arial"/>
                <a:cs typeface="Arial"/>
              </a:defRPr>
            </a:lvl3pPr>
            <a:lvl4pPr algn="l">
              <a:defRPr sz="4275" b="1">
                <a:solidFill>
                  <a:srgbClr val="FFFFFF"/>
                </a:solidFill>
                <a:latin typeface="Arial"/>
                <a:ea typeface="Arial"/>
                <a:cs typeface="Arial"/>
              </a:defRPr>
            </a:lvl4pPr>
            <a:lvl5pPr algn="l">
              <a:defRPr sz="4275" b="1">
                <a:solidFill>
                  <a:srgbClr val="FFFFFF"/>
                </a:solidFill>
                <a:latin typeface="Arial"/>
                <a:ea typeface="Arial"/>
                <a:cs typeface="Arial"/>
              </a:defRPr>
            </a:lvl5pPr>
            <a:lvl6pPr algn="l">
              <a:defRPr sz="4275" b="1">
                <a:solidFill>
                  <a:srgbClr val="FFFFFF"/>
                </a:solidFill>
                <a:latin typeface="Arial"/>
                <a:ea typeface="Arial"/>
                <a:cs typeface="Arial"/>
              </a:defRPr>
            </a:lvl6pPr>
            <a:lvl7pPr algn="l">
              <a:defRPr sz="4275" b="1">
                <a:solidFill>
                  <a:srgbClr val="FFFFFF"/>
                </a:solidFill>
                <a:latin typeface="Arial"/>
                <a:ea typeface="Arial"/>
                <a:cs typeface="Arial"/>
              </a:defRPr>
            </a:lvl7pPr>
            <a:lvl8pPr algn="l">
              <a:defRPr sz="4275" b="1">
                <a:solidFill>
                  <a:srgbClr val="FFFFFF"/>
                </a:solidFill>
                <a:latin typeface="Arial"/>
                <a:ea typeface="Arial"/>
                <a:cs typeface="Arial"/>
              </a:defRPr>
            </a:lvl8pPr>
            <a:lvl9pPr algn="l">
              <a:defRPr sz="4275" b="1">
                <a:solidFill>
                  <a:srgbClr val="FFFFFF"/>
                </a:solidFill>
                <a:latin typeface="Arial"/>
                <a:ea typeface="Arial"/>
                <a:cs typeface="Arial"/>
              </a:defRPr>
            </a:lvl9pPr>
          </a:lstStyle>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3.500 / 5.500</a:t>
            </a:r>
          </a:p>
        </p:txBody>
      </p:sp>
      <p:sp>
        <p:nvSpPr>
          <p:cNvPr id="9" name="">
            <a:extLst xmlns:a="http://schemas.openxmlformats.org/drawingml/2006/main">
              <a:ext uri="{FF2B5EF4-FFF2-40B4-BE49-F238E27FC236}">
                <a16:creationId xmlns:a16="http://schemas.microsoft.com/office/drawing/2014/main" id="{202A1765-C129-438F-BF4F-4531166F319A}"/>
              </a:ext>
            </a:extLst>
          </p:cNvPr>
          <p:cNvSpPr>
            <a:spLocks xmlns:a="http://schemas.openxmlformats.org/drawingml/2006/main" noGrp="1"/>
          </p:cNvSpPr>
          <p:nvPr/>
        </p:nvSpPr>
        <p:spPr>
          <a:xfrm xmlns:a="http://schemas.openxmlformats.org/drawingml/2006/main">
            <a:off x="6781800" y="3257550"/>
            <a:ext cx="4800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Ghi / GET–HEAD mỗi giây trên mỗi prefix</a:t>
            </a:r>
          </a:p>
        </p:txBody>
      </p:sp>
      <p:sp>
        <p:nvSpPr>
          <p:cNvPr id="10" name="">
            <a:extLst xmlns:a="http://schemas.openxmlformats.org/drawingml/2006/main">
              <a:ext uri="{FF2B5EF4-FFF2-40B4-BE49-F238E27FC236}">
                <a16:creationId xmlns:a16="http://schemas.microsoft.com/office/drawing/2014/main" id="{7BA1DD60-C153-47BD-BCFC-CC1A8220ED98}"/>
              </a:ext>
            </a:extLst>
          </p:cNvPr>
          <p:cNvSpPr>
            <a:spLocks xmlns:a="http://schemas.openxmlformats.org/drawingml/2006/main" noGrp="1"/>
          </p:cNvSpPr>
          <p:nvPr/>
        </p:nvSpPr>
        <p:spPr>
          <a:xfrm xmlns:a="http://schemas.openxmlformats.org/drawingml/2006/main">
            <a:off x="6781800" y="4562475"/>
            <a:ext cx="48006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9989"/>
                </a:solidFill>
                <a:latin typeface="Arial"/>
                <a:ea typeface="Arial"/>
                <a:cs typeface="Arial"/>
              </a:defRPr>
            </a:defPPr>
            <a:lvl1pPr algn="l">
              <a:defRPr sz="2175" b="0">
                <a:solidFill>
                  <a:srgbClr val="FF9989"/>
                </a:solidFill>
                <a:latin typeface="Arial"/>
                <a:ea typeface="Arial"/>
                <a:cs typeface="Arial"/>
              </a:defRPr>
            </a:lvl1pPr>
            <a:lvl2pPr algn="l">
              <a:defRPr sz="2175" b="0">
                <a:solidFill>
                  <a:srgbClr val="FF9989"/>
                </a:solidFill>
                <a:latin typeface="Arial"/>
                <a:ea typeface="Arial"/>
                <a:cs typeface="Arial"/>
              </a:defRPr>
            </a:lvl2pPr>
            <a:lvl3pPr algn="l">
              <a:defRPr sz="2175" b="0">
                <a:solidFill>
                  <a:srgbClr val="FF9989"/>
                </a:solidFill>
                <a:latin typeface="Arial"/>
                <a:ea typeface="Arial"/>
                <a:cs typeface="Arial"/>
              </a:defRPr>
            </a:lvl3pPr>
            <a:lvl4pPr algn="l">
              <a:defRPr sz="2175" b="0">
                <a:solidFill>
                  <a:srgbClr val="FF9989"/>
                </a:solidFill>
                <a:latin typeface="Arial"/>
                <a:ea typeface="Arial"/>
                <a:cs typeface="Arial"/>
              </a:defRPr>
            </a:lvl4pPr>
            <a:lvl5pPr algn="l">
              <a:defRPr sz="2175" b="0">
                <a:solidFill>
                  <a:srgbClr val="FF9989"/>
                </a:solidFill>
                <a:latin typeface="Arial"/>
                <a:ea typeface="Arial"/>
                <a:cs typeface="Arial"/>
              </a:defRPr>
            </a:lvl5pPr>
            <a:lvl6pPr algn="l">
              <a:defRPr sz="2175" b="0">
                <a:solidFill>
                  <a:srgbClr val="FF9989"/>
                </a:solidFill>
                <a:latin typeface="Arial"/>
                <a:ea typeface="Arial"/>
                <a:cs typeface="Arial"/>
              </a:defRPr>
            </a:lvl6pPr>
            <a:lvl7pPr algn="l">
              <a:defRPr sz="2175" b="0">
                <a:solidFill>
                  <a:srgbClr val="FF9989"/>
                </a:solidFill>
                <a:latin typeface="Arial"/>
                <a:ea typeface="Arial"/>
                <a:cs typeface="Arial"/>
              </a:defRPr>
            </a:lvl7pPr>
            <a:lvl8pPr algn="l">
              <a:defRPr sz="2175" b="0">
                <a:solidFill>
                  <a:srgbClr val="FF9989"/>
                </a:solidFill>
                <a:latin typeface="Arial"/>
                <a:ea typeface="Arial"/>
                <a:cs typeface="Arial"/>
              </a:defRPr>
            </a:lvl8pPr>
            <a:lvl9pPr algn="l">
              <a:defRPr sz="2175" b="0">
                <a:solidFill>
                  <a:srgbClr val="FF9989"/>
                </a:solidFill>
                <a:latin typeface="Arial"/>
                <a:ea typeface="Arial"/>
                <a:cs typeface="Arial"/>
              </a:defRPr>
            </a:lvl9pPr>
          </a:lstStyle>
          <a:p xmlns:a="http://schemas.openxmlformats.org/drawingml/2006/main">
            <a:pPr algn="l">
              <a:defRPr sz="2175" b="0">
                <a:solidFill>
                  <a:srgbClr val="FF9989"/>
                </a:solidFill>
                <a:latin typeface="Arial"/>
                <a:ea typeface="Arial"/>
                <a:cs typeface="Arial"/>
              </a:defRPr>
            </a:pPr>
            <a:r>
              <a:rPr sz="2175" b="0">
                <a:solidFill>
                  <a:srgbClr val="FF9989"/>
                </a:solidFill>
                <a:latin typeface="Arial"/>
                <a:ea typeface="Arial"/>
                <a:cs typeface="Arial"/>
              </a:rPr>
              <a:t>Mức ít nhất được AWS công bố. Scaling diễn ra dần và client cần retry / backoff.</a:t>
            </a:r>
          </a:p>
        </p:txBody>
      </p:sp>
    </p:spTree>
    <p:extLst>
      <p:ext uri="{BB962C8B-B14F-4D97-AF65-F5344CB8AC3E}">
        <p14:creationId xmlns:p14="http://schemas.microsoft.com/office/powerpoint/2010/main" val="1841176348"/>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765F77-D427-4919-BF03-CD72541B6245}"/>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III  TÍNH NĂNG VÀ CHI PHÍ</a:t>
            </a:r>
          </a:p>
        </p:txBody>
      </p:sp>
      <p:sp>
        <p:nvSpPr>
          <p:cNvPr id="2" name="">
            <a:extLst xmlns:a="http://schemas.openxmlformats.org/drawingml/2006/main">
              <a:ext uri="{FF2B5EF4-FFF2-40B4-BE49-F238E27FC236}">
                <a16:creationId xmlns:a16="http://schemas.microsoft.com/office/drawing/2014/main" id="{24748411-BF61-437A-B0C6-ECDFD30AAA93}"/>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Kiến trúc hướng sự kiện</a:t>
            </a:r>
          </a:p>
        </p:txBody>
      </p:sp>
      <p:sp>
        <p:nvSpPr>
          <p:cNvPr id="3" name="">
            <a:extLst xmlns:a="http://schemas.openxmlformats.org/drawingml/2006/main">
              <a:ext uri="{FF2B5EF4-FFF2-40B4-BE49-F238E27FC236}">
                <a16:creationId xmlns:a16="http://schemas.microsoft.com/office/drawing/2014/main" id="{F488544A-105B-47CE-B082-99E30B87439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B623A616-7F51-4FF1-A1DF-99592E31AFD3}"/>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71589461-19F4-4742-A4CE-C6A6544A3289}"/>
              </a:ext>
            </a:extLst>
          </p:cNvPr>
          <p:cNvSpPr>
            <a:spLocks xmlns:a="http://schemas.openxmlformats.org/drawingml/2006/main" noGrp="1"/>
          </p:cNvSpPr>
          <p:nvPr/>
        </p:nvSpPr>
        <p:spPr>
          <a:xfrm xmlns:a="http://schemas.openxmlformats.org/drawingml/2006/main">
            <a:off x="609600" y="23241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Sự kiện</a:t>
            </a:r>
          </a:p>
        </p:txBody>
      </p:sp>
      <p:sp>
        <p:nvSpPr>
          <p:cNvPr id="6" name="">
            <a:extLst xmlns:a="http://schemas.openxmlformats.org/drawingml/2006/main">
              <a:ext uri="{FF2B5EF4-FFF2-40B4-BE49-F238E27FC236}">
                <a16:creationId xmlns:a16="http://schemas.microsoft.com/office/drawing/2014/main" id="{A5A2E9C9-F7EA-438A-9713-F3AA6D401C82}"/>
              </a:ext>
            </a:extLst>
          </p:cNvPr>
          <p:cNvSpPr>
            <a:spLocks xmlns:a="http://schemas.openxmlformats.org/drawingml/2006/main" noGrp="1"/>
          </p:cNvSpPr>
          <p:nvPr/>
        </p:nvSpPr>
        <p:spPr>
          <a:xfrm xmlns:a="http://schemas.openxmlformats.org/drawingml/2006/main">
            <a:off x="609600" y="35147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ObjectCreated, ObjectRemoved và ObjectRestore phát tín hiệu cho ứng dụng.</a:t>
            </a:r>
          </a:p>
        </p:txBody>
      </p:sp>
      <p:sp>
        <p:nvSpPr>
          <p:cNvPr id="7" name="">
            <a:extLst xmlns:a="http://schemas.openxmlformats.org/drawingml/2006/main">
              <a:ext uri="{FF2B5EF4-FFF2-40B4-BE49-F238E27FC236}">
                <a16:creationId xmlns:a16="http://schemas.microsoft.com/office/drawing/2014/main" id="{757E6B36-9571-4E56-95D6-925B944A62BF}"/>
              </a:ext>
            </a:extLst>
          </p:cNvPr>
          <p:cNvSpPr>
            <a:spLocks xmlns:a="http://schemas.openxmlformats.org/drawingml/2006/main" noGrp="1"/>
          </p:cNvSpPr>
          <p:nvPr/>
        </p:nvSpPr>
        <p:spPr>
          <a:xfrm xmlns:a="http://schemas.openxmlformats.org/drawingml/2006/main">
            <a:off x="4419600" y="23241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B75B4B"/>
                </a:solidFill>
                <a:latin typeface="Arial"/>
                <a:ea typeface="Arial"/>
                <a:cs typeface="Arial"/>
              </a:defRPr>
            </a:defPPr>
            <a:lvl1pPr algn="l">
              <a:defRPr sz="2775" b="1">
                <a:solidFill>
                  <a:srgbClr val="B75B4B"/>
                </a:solidFill>
                <a:latin typeface="Arial"/>
                <a:ea typeface="Arial"/>
                <a:cs typeface="Arial"/>
              </a:defRPr>
            </a:lvl1pPr>
            <a:lvl2pPr algn="l">
              <a:defRPr sz="2775" b="1">
                <a:solidFill>
                  <a:srgbClr val="B75B4B"/>
                </a:solidFill>
                <a:latin typeface="Arial"/>
                <a:ea typeface="Arial"/>
                <a:cs typeface="Arial"/>
              </a:defRPr>
            </a:lvl2pPr>
            <a:lvl3pPr algn="l">
              <a:defRPr sz="2775" b="1">
                <a:solidFill>
                  <a:srgbClr val="B75B4B"/>
                </a:solidFill>
                <a:latin typeface="Arial"/>
                <a:ea typeface="Arial"/>
                <a:cs typeface="Arial"/>
              </a:defRPr>
            </a:lvl3pPr>
            <a:lvl4pPr algn="l">
              <a:defRPr sz="2775" b="1">
                <a:solidFill>
                  <a:srgbClr val="B75B4B"/>
                </a:solidFill>
                <a:latin typeface="Arial"/>
                <a:ea typeface="Arial"/>
                <a:cs typeface="Arial"/>
              </a:defRPr>
            </a:lvl4pPr>
            <a:lvl5pPr algn="l">
              <a:defRPr sz="2775" b="1">
                <a:solidFill>
                  <a:srgbClr val="B75B4B"/>
                </a:solidFill>
                <a:latin typeface="Arial"/>
                <a:ea typeface="Arial"/>
                <a:cs typeface="Arial"/>
              </a:defRPr>
            </a:lvl5pPr>
            <a:lvl6pPr algn="l">
              <a:defRPr sz="2775" b="1">
                <a:solidFill>
                  <a:srgbClr val="B75B4B"/>
                </a:solidFill>
                <a:latin typeface="Arial"/>
                <a:ea typeface="Arial"/>
                <a:cs typeface="Arial"/>
              </a:defRPr>
            </a:lvl6pPr>
            <a:lvl7pPr algn="l">
              <a:defRPr sz="2775" b="1">
                <a:solidFill>
                  <a:srgbClr val="B75B4B"/>
                </a:solidFill>
                <a:latin typeface="Arial"/>
                <a:ea typeface="Arial"/>
                <a:cs typeface="Arial"/>
              </a:defRPr>
            </a:lvl7pPr>
            <a:lvl8pPr algn="l">
              <a:defRPr sz="2775" b="1">
                <a:solidFill>
                  <a:srgbClr val="B75B4B"/>
                </a:solidFill>
                <a:latin typeface="Arial"/>
                <a:ea typeface="Arial"/>
                <a:cs typeface="Arial"/>
              </a:defRPr>
            </a:lvl8pPr>
            <a:lvl9pPr algn="l">
              <a:defRPr sz="2775" b="1">
                <a:solidFill>
                  <a:srgbClr val="B75B4B"/>
                </a:solidFill>
                <a:latin typeface="Arial"/>
                <a:ea typeface="Arial"/>
                <a:cs typeface="Arial"/>
              </a:defRPr>
            </a:lvl9pPr>
          </a:lstStyle>
          <a:p xmlns:a="http://schemas.openxmlformats.org/drawingml/2006/main">
            <a:pPr algn="l">
              <a:defRPr sz="2775" b="1">
                <a:solidFill>
                  <a:srgbClr val="B75B4B"/>
                </a:solidFill>
                <a:latin typeface="Arial"/>
                <a:ea typeface="Arial"/>
                <a:cs typeface="Arial"/>
              </a:defRPr>
            </a:pPr>
            <a:r>
              <a:rPr sz="2775" b="1">
                <a:solidFill>
                  <a:srgbClr val="B75B4B"/>
                </a:solidFill>
                <a:latin typeface="Arial"/>
                <a:ea typeface="Arial"/>
                <a:cs typeface="Arial"/>
              </a:rPr>
              <a:t>Đích đến</a:t>
            </a:r>
          </a:p>
        </p:txBody>
      </p:sp>
      <p:sp>
        <p:nvSpPr>
          <p:cNvPr id="8" name="">
            <a:extLst xmlns:a="http://schemas.openxmlformats.org/drawingml/2006/main">
              <a:ext uri="{FF2B5EF4-FFF2-40B4-BE49-F238E27FC236}">
                <a16:creationId xmlns:a16="http://schemas.microsoft.com/office/drawing/2014/main" id="{C2A0B1F9-E9BE-42DC-B8DE-DC26499EF666}"/>
              </a:ext>
            </a:extLst>
          </p:cNvPr>
          <p:cNvSpPr>
            <a:spLocks xmlns:a="http://schemas.openxmlformats.org/drawingml/2006/main" noGrp="1"/>
          </p:cNvSpPr>
          <p:nvPr/>
        </p:nvSpPr>
        <p:spPr>
          <a:xfrm xmlns:a="http://schemas.openxmlformats.org/drawingml/2006/main">
            <a:off x="4419600" y="35147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SQS, SNS, Lambda hoặc EventBridge khởi động xử lý bất đồng bộ.</a:t>
            </a:r>
          </a:p>
        </p:txBody>
      </p:sp>
      <p:sp>
        <p:nvSpPr>
          <p:cNvPr id="9" name="">
            <a:extLst xmlns:a="http://schemas.openxmlformats.org/drawingml/2006/main">
              <a:ext uri="{FF2B5EF4-FFF2-40B4-BE49-F238E27FC236}">
                <a16:creationId xmlns:a16="http://schemas.microsoft.com/office/drawing/2014/main" id="{9B722A75-664D-414A-8366-C26352956D3F}"/>
              </a:ext>
            </a:extLst>
          </p:cNvPr>
          <p:cNvSpPr>
            <a:spLocks xmlns:a="http://schemas.openxmlformats.org/drawingml/2006/main" noGrp="1"/>
          </p:cNvSpPr>
          <p:nvPr/>
        </p:nvSpPr>
        <p:spPr>
          <a:xfrm xmlns:a="http://schemas.openxmlformats.org/drawingml/2006/main">
            <a:off x="8229600" y="23241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Consumer</a:t>
            </a:r>
          </a:p>
        </p:txBody>
      </p:sp>
      <p:sp>
        <p:nvSpPr>
          <p:cNvPr id="10" name="">
            <a:extLst xmlns:a="http://schemas.openxmlformats.org/drawingml/2006/main">
              <a:ext uri="{FF2B5EF4-FFF2-40B4-BE49-F238E27FC236}">
                <a16:creationId xmlns:a16="http://schemas.microsoft.com/office/drawing/2014/main" id="{FF6FD059-ED4E-452F-B5C7-38209CA9D5B6}"/>
              </a:ext>
            </a:extLst>
          </p:cNvPr>
          <p:cNvSpPr>
            <a:spLocks xmlns:a="http://schemas.openxmlformats.org/drawingml/2006/main" noGrp="1"/>
          </p:cNvSpPr>
          <p:nvPr/>
        </p:nvSpPr>
        <p:spPr>
          <a:xfrm xmlns:a="http://schemas.openxmlformats.org/drawingml/2006/main">
            <a:off x="8229600" y="35147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Xử lý lặp, sai thứ tự và retry. Tránh ghi output gây trigger vòng lặp.</a:t>
            </a:r>
          </a:p>
        </p:txBody>
      </p:sp>
    </p:spTree>
    <p:extLst>
      <p:ext uri="{BB962C8B-B14F-4D97-AF65-F5344CB8AC3E}">
        <p14:creationId xmlns:p14="http://schemas.microsoft.com/office/powerpoint/2010/main" val="1248933624"/>
      </p:ext>
    </p:extLst>
  </p:cSld>
</p:sld>
</file>

<file path=ppt/slides/slide14.xml><?xml version="1.0" encoding="utf-8"?>
<p:sld xmlns:p="http://schemas.openxmlformats.org/presentationml/2006/main">
  <p:cSld>
    <p:bg>
      <p:bgPr>
        <a:solidFill xmlns:a="http://schemas.openxmlformats.org/drawingml/2006/main">
          <a:srgbClr val="075D6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066D38-AC7E-4DB7-A0EC-61AE743E00C3}"/>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III  TÍNH NĂNG VÀ CHI PHÍ</a:t>
            </a:r>
          </a:p>
        </p:txBody>
      </p:sp>
      <p:sp>
        <p:nvSpPr>
          <p:cNvPr id="2" name="">
            <a:extLst xmlns:a="http://schemas.openxmlformats.org/drawingml/2006/main">
              <a:ext uri="{FF2B5EF4-FFF2-40B4-BE49-F238E27FC236}">
                <a16:creationId xmlns:a16="http://schemas.microsoft.com/office/drawing/2014/main" id="{4868662F-129F-47AB-AEF7-1F976B59B94E}"/>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Truy vấn dữ liệu tại chỗ</a:t>
            </a:r>
          </a:p>
        </p:txBody>
      </p:sp>
      <p:sp>
        <p:nvSpPr>
          <p:cNvPr id="3" name="">
            <a:extLst xmlns:a="http://schemas.openxmlformats.org/drawingml/2006/main">
              <a:ext uri="{FF2B5EF4-FFF2-40B4-BE49-F238E27FC236}">
                <a16:creationId xmlns:a16="http://schemas.microsoft.com/office/drawing/2014/main" id="{DDC354A1-36EB-4395-A0FA-B84796F1EBB5}"/>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92057E00-56F4-466D-8DFF-1096A5F4549D}"/>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1D22621C-8D61-4950-B03E-F488CAAB085C}"/>
              </a:ext>
            </a:extLst>
          </p:cNvPr>
          <p:cNvSpPr>
            <a:spLocks xmlns:a="http://schemas.openxmlformats.org/drawingml/2006/main" noGrp="1"/>
          </p:cNvSpPr>
          <p:nvPr/>
        </p:nvSpPr>
        <p:spPr>
          <a:xfrm xmlns:a="http://schemas.openxmlformats.org/drawingml/2006/main">
            <a:off x="609600" y="2286000"/>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S3 Select</a:t>
            </a:r>
          </a:p>
        </p:txBody>
      </p:sp>
      <p:sp>
        <p:nvSpPr>
          <p:cNvPr id="6" name="">
            <a:extLst xmlns:a="http://schemas.openxmlformats.org/drawingml/2006/main">
              <a:ext uri="{FF2B5EF4-FFF2-40B4-BE49-F238E27FC236}">
                <a16:creationId xmlns:a16="http://schemas.microsoft.com/office/drawing/2014/main" id="{824A94A3-2259-4826-94F7-0EE0681A1381}"/>
              </a:ext>
            </a:extLst>
          </p:cNvPr>
          <p:cNvSpPr>
            <a:spLocks xmlns:a="http://schemas.openxmlformats.org/drawingml/2006/main" noGrp="1"/>
          </p:cNvSpPr>
          <p:nvPr/>
        </p:nvSpPr>
        <p:spPr>
          <a:xfrm xmlns:a="http://schemas.openxmlformats.org/drawingml/2006/main">
            <a:off x="609600" y="32766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CEBED"/>
                </a:solidFill>
                <a:latin typeface="Arial"/>
                <a:ea typeface="Arial"/>
                <a:cs typeface="Arial"/>
              </a:defRPr>
            </a:defPPr>
            <a:lvl1pPr algn="l">
              <a:defRPr sz="2325" b="0">
                <a:solidFill>
                  <a:srgbClr val="DCEBED"/>
                </a:solidFill>
                <a:latin typeface="Arial"/>
                <a:ea typeface="Arial"/>
                <a:cs typeface="Arial"/>
              </a:defRPr>
            </a:lvl1pPr>
            <a:lvl2pPr algn="l">
              <a:defRPr sz="2325" b="0">
                <a:solidFill>
                  <a:srgbClr val="DCEBED"/>
                </a:solidFill>
                <a:latin typeface="Arial"/>
                <a:ea typeface="Arial"/>
                <a:cs typeface="Arial"/>
              </a:defRPr>
            </a:lvl2pPr>
            <a:lvl3pPr algn="l">
              <a:defRPr sz="2325" b="0">
                <a:solidFill>
                  <a:srgbClr val="DCEBED"/>
                </a:solidFill>
                <a:latin typeface="Arial"/>
                <a:ea typeface="Arial"/>
                <a:cs typeface="Arial"/>
              </a:defRPr>
            </a:lvl3pPr>
            <a:lvl4pPr algn="l">
              <a:defRPr sz="2325" b="0">
                <a:solidFill>
                  <a:srgbClr val="DCEBED"/>
                </a:solidFill>
                <a:latin typeface="Arial"/>
                <a:ea typeface="Arial"/>
                <a:cs typeface="Arial"/>
              </a:defRPr>
            </a:lvl4pPr>
            <a:lvl5pPr algn="l">
              <a:defRPr sz="2325" b="0">
                <a:solidFill>
                  <a:srgbClr val="DCEBED"/>
                </a:solidFill>
                <a:latin typeface="Arial"/>
                <a:ea typeface="Arial"/>
                <a:cs typeface="Arial"/>
              </a:defRPr>
            </a:lvl5pPr>
            <a:lvl6pPr algn="l">
              <a:defRPr sz="2325" b="0">
                <a:solidFill>
                  <a:srgbClr val="DCEBED"/>
                </a:solidFill>
                <a:latin typeface="Arial"/>
                <a:ea typeface="Arial"/>
                <a:cs typeface="Arial"/>
              </a:defRPr>
            </a:lvl6pPr>
            <a:lvl7pPr algn="l">
              <a:defRPr sz="2325" b="0">
                <a:solidFill>
                  <a:srgbClr val="DCEBED"/>
                </a:solidFill>
                <a:latin typeface="Arial"/>
                <a:ea typeface="Arial"/>
                <a:cs typeface="Arial"/>
              </a:defRPr>
            </a:lvl7pPr>
            <a:lvl8pPr algn="l">
              <a:defRPr sz="2325" b="0">
                <a:solidFill>
                  <a:srgbClr val="DCEBED"/>
                </a:solidFill>
                <a:latin typeface="Arial"/>
                <a:ea typeface="Arial"/>
                <a:cs typeface="Arial"/>
              </a:defRPr>
            </a:lvl8pPr>
            <a:lvl9pPr algn="l">
              <a:defRPr sz="2325" b="0">
                <a:solidFill>
                  <a:srgbClr val="DCEBED"/>
                </a:solidFill>
                <a:latin typeface="Arial"/>
                <a:ea typeface="Arial"/>
                <a:cs typeface="Arial"/>
              </a:defRPr>
            </a:lvl9pPr>
          </a:lstStyle>
          <a:p xmlns:a="http://schemas.openxmlformats.org/drawingml/2006/main">
            <a:pPr algn="l">
              <a:defRPr sz="2325" b="0">
                <a:solidFill>
                  <a:srgbClr val="DCEBED"/>
                </a:solidFill>
                <a:latin typeface="Arial"/>
                <a:ea typeface="Arial"/>
                <a:cs typeface="Arial"/>
              </a:defRPr>
            </a:pPr>
            <a:r>
              <a:rPr sz="2325" b="0">
                <a:solidFill>
                  <a:srgbClr val="DCEBED"/>
                </a:solidFill>
                <a:latin typeface="Arial"/>
                <a:ea typeface="Arial"/>
                <a:cs typeface="Arial"/>
              </a:rPr>
              <a:t>Lọc dữ liệu trong một object bằng SQL đơn giản.</a:t>
            </a:r>
          </a:p>
          <a:p xmlns:a="http://schemas.openxmlformats.org/drawingml/2006/main">
            <a:r>
              <a:t/>
            </a:r>
          </a:p>
          <a:p xmlns:a="http://schemas.openxmlformats.org/drawingml/2006/main">
            <a:pPr algn="l">
              <a:defRPr sz="2325" b="0">
                <a:solidFill>
                  <a:srgbClr val="DCEBED"/>
                </a:solidFill>
                <a:latin typeface="Arial"/>
                <a:ea typeface="Arial"/>
                <a:cs typeface="Arial"/>
              </a:defRPr>
            </a:pPr>
            <a:r>
              <a:rPr sz="2325" b="0">
                <a:solidFill>
                  <a:srgbClr val="DCEBED"/>
                </a:solidFill>
                <a:latin typeface="Arial"/>
                <a:ea typeface="Arial"/>
                <a:cs typeface="Arial"/>
              </a:rPr>
              <a:t>Không còn nhận khách hàng mới.</a:t>
            </a:r>
          </a:p>
        </p:txBody>
      </p:sp>
      <p:sp>
        <p:nvSpPr>
          <p:cNvPr id="7" name="">
            <a:extLst xmlns:a="http://schemas.openxmlformats.org/drawingml/2006/main">
              <a:ext uri="{FF2B5EF4-FFF2-40B4-BE49-F238E27FC236}">
                <a16:creationId xmlns:a16="http://schemas.microsoft.com/office/drawing/2014/main" id="{E899606F-6B79-4E11-868F-BF9C6A42FB26}"/>
              </a:ext>
            </a:extLst>
          </p:cNvPr>
          <p:cNvSpPr>
            <a:spLocks xmlns:a="http://schemas.openxmlformats.org/drawingml/2006/main" noGrp="1"/>
          </p:cNvSpPr>
          <p:nvPr/>
        </p:nvSpPr>
        <p:spPr>
          <a:xfrm xmlns:a="http://schemas.openxmlformats.org/drawingml/2006/main">
            <a:off x="6477000" y="2286000"/>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Athena SQL</a:t>
            </a:r>
          </a:p>
        </p:txBody>
      </p:sp>
      <p:sp>
        <p:nvSpPr>
          <p:cNvPr id="8" name="">
            <a:extLst xmlns:a="http://schemas.openxmlformats.org/drawingml/2006/main">
              <a:ext uri="{FF2B5EF4-FFF2-40B4-BE49-F238E27FC236}">
                <a16:creationId xmlns:a16="http://schemas.microsoft.com/office/drawing/2014/main" id="{6C057E15-EDB6-45E6-BCE2-924F8D93D85A}"/>
              </a:ext>
            </a:extLst>
          </p:cNvPr>
          <p:cNvSpPr>
            <a:spLocks xmlns:a="http://schemas.openxmlformats.org/drawingml/2006/main" noGrp="1"/>
          </p:cNvSpPr>
          <p:nvPr/>
        </p:nvSpPr>
        <p:spPr>
          <a:xfrm xmlns:a="http://schemas.openxmlformats.org/drawingml/2006/main">
            <a:off x="6477000" y="32766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CEBED"/>
                </a:solidFill>
                <a:latin typeface="Arial"/>
                <a:ea typeface="Arial"/>
                <a:cs typeface="Arial"/>
              </a:defRPr>
            </a:defPPr>
            <a:lvl1pPr algn="l">
              <a:defRPr sz="2325" b="0">
                <a:solidFill>
                  <a:srgbClr val="DCEBED"/>
                </a:solidFill>
                <a:latin typeface="Arial"/>
                <a:ea typeface="Arial"/>
                <a:cs typeface="Arial"/>
              </a:defRPr>
            </a:lvl1pPr>
            <a:lvl2pPr algn="l">
              <a:defRPr sz="2325" b="0">
                <a:solidFill>
                  <a:srgbClr val="DCEBED"/>
                </a:solidFill>
                <a:latin typeface="Arial"/>
                <a:ea typeface="Arial"/>
                <a:cs typeface="Arial"/>
              </a:defRPr>
            </a:lvl2pPr>
            <a:lvl3pPr algn="l">
              <a:defRPr sz="2325" b="0">
                <a:solidFill>
                  <a:srgbClr val="DCEBED"/>
                </a:solidFill>
                <a:latin typeface="Arial"/>
                <a:ea typeface="Arial"/>
                <a:cs typeface="Arial"/>
              </a:defRPr>
            </a:lvl3pPr>
            <a:lvl4pPr algn="l">
              <a:defRPr sz="2325" b="0">
                <a:solidFill>
                  <a:srgbClr val="DCEBED"/>
                </a:solidFill>
                <a:latin typeface="Arial"/>
                <a:ea typeface="Arial"/>
                <a:cs typeface="Arial"/>
              </a:defRPr>
            </a:lvl4pPr>
            <a:lvl5pPr algn="l">
              <a:defRPr sz="2325" b="0">
                <a:solidFill>
                  <a:srgbClr val="DCEBED"/>
                </a:solidFill>
                <a:latin typeface="Arial"/>
                <a:ea typeface="Arial"/>
                <a:cs typeface="Arial"/>
              </a:defRPr>
            </a:lvl5pPr>
            <a:lvl6pPr algn="l">
              <a:defRPr sz="2325" b="0">
                <a:solidFill>
                  <a:srgbClr val="DCEBED"/>
                </a:solidFill>
                <a:latin typeface="Arial"/>
                <a:ea typeface="Arial"/>
                <a:cs typeface="Arial"/>
              </a:defRPr>
            </a:lvl6pPr>
            <a:lvl7pPr algn="l">
              <a:defRPr sz="2325" b="0">
                <a:solidFill>
                  <a:srgbClr val="DCEBED"/>
                </a:solidFill>
                <a:latin typeface="Arial"/>
                <a:ea typeface="Arial"/>
                <a:cs typeface="Arial"/>
              </a:defRPr>
            </a:lvl7pPr>
            <a:lvl8pPr algn="l">
              <a:defRPr sz="2325" b="0">
                <a:solidFill>
                  <a:srgbClr val="DCEBED"/>
                </a:solidFill>
                <a:latin typeface="Arial"/>
                <a:ea typeface="Arial"/>
                <a:cs typeface="Arial"/>
              </a:defRPr>
            </a:lvl8pPr>
            <a:lvl9pPr algn="l">
              <a:defRPr sz="2325" b="0">
                <a:solidFill>
                  <a:srgbClr val="DCEBED"/>
                </a:solidFill>
                <a:latin typeface="Arial"/>
                <a:ea typeface="Arial"/>
                <a:cs typeface="Arial"/>
              </a:defRPr>
            </a:lvl9pPr>
          </a:lstStyle>
          <a:p xmlns:a="http://schemas.openxmlformats.org/drawingml/2006/main">
            <a:pPr algn="l">
              <a:defRPr sz="2325" b="0">
                <a:solidFill>
                  <a:srgbClr val="DCEBED"/>
                </a:solidFill>
                <a:latin typeface="Arial"/>
                <a:ea typeface="Arial"/>
                <a:cs typeface="Arial"/>
              </a:defRPr>
            </a:pPr>
            <a:r>
              <a:rPr sz="2325" b="0">
                <a:solidFill>
                  <a:srgbClr val="DCEBED"/>
                </a:solidFill>
                <a:latin typeface="Arial"/>
                <a:ea typeface="Arial"/>
                <a:cs typeface="Arial"/>
              </a:rPr>
              <a:t>Truy vấn dữ liệu trên S3 bằng dịch vụ serverless.</a:t>
            </a:r>
          </a:p>
          <a:p xmlns:a="http://schemas.openxmlformats.org/drawingml/2006/main">
            <a:r>
              <a:t/>
            </a:r>
          </a:p>
          <a:p xmlns:a="http://schemas.openxmlformats.org/drawingml/2006/main">
            <a:pPr algn="l">
              <a:defRPr sz="2325" b="0">
                <a:solidFill>
                  <a:srgbClr val="DCEBED"/>
                </a:solidFill>
                <a:latin typeface="Arial"/>
                <a:ea typeface="Arial"/>
                <a:cs typeface="Arial"/>
              </a:defRPr>
            </a:pPr>
            <a:r>
              <a:rPr sz="2325" b="0">
                <a:solidFill>
                  <a:srgbClr val="DCEBED"/>
                </a:solidFill>
                <a:latin typeface="Arial"/>
                <a:ea typeface="Arial"/>
                <a:cs typeface="Arial"/>
              </a:rPr>
              <a:t>Engine v3 dựa Trino. Parquet và partitioning giúp quản lý lượng dữ liệu quét.</a:t>
            </a:r>
          </a:p>
        </p:txBody>
      </p:sp>
    </p:spTree>
    <p:extLst>
      <p:ext uri="{BB962C8B-B14F-4D97-AF65-F5344CB8AC3E}">
        <p14:creationId xmlns:p14="http://schemas.microsoft.com/office/powerpoint/2010/main" val="46292298"/>
      </p:ext>
    </p:extLst>
  </p:cSld>
</p:sld>
</file>

<file path=ppt/slides/slide1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D2F5F1-F2F7-4CDF-89F7-49A1813D2F28}"/>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III  TÍNH NĂNG VÀ CHI PHÍ</a:t>
            </a:r>
          </a:p>
        </p:txBody>
      </p:sp>
      <p:sp>
        <p:nvSpPr>
          <p:cNvPr id="2" name="">
            <a:extLst xmlns:a="http://schemas.openxmlformats.org/drawingml/2006/main">
              <a:ext uri="{FF2B5EF4-FFF2-40B4-BE49-F238E27FC236}">
                <a16:creationId xmlns:a16="http://schemas.microsoft.com/office/drawing/2014/main" id="{C733A0A8-846B-428F-968B-2905F5BDEFE7}"/>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Nhân bản và sao lưu phân tán</a:t>
            </a:r>
          </a:p>
        </p:txBody>
      </p:sp>
      <p:sp>
        <p:nvSpPr>
          <p:cNvPr id="3" name="">
            <a:extLst xmlns:a="http://schemas.openxmlformats.org/drawingml/2006/main">
              <a:ext uri="{FF2B5EF4-FFF2-40B4-BE49-F238E27FC236}">
                <a16:creationId xmlns:a16="http://schemas.microsoft.com/office/drawing/2014/main" id="{60540A15-C758-48A2-BF24-7B084D1DAE37}"/>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E9F60DE9-9425-4C4B-9A8B-B98B59F7D0B6}"/>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F29A60A-65A1-4DDA-AD88-5415CDD84ACA}"/>
              </a:ext>
            </a:extLst>
          </p:cNvPr>
          <p:cNvSpPr>
            <a:spLocks xmlns:a="http://schemas.openxmlformats.org/drawingml/2006/main" noGrp="1"/>
          </p:cNvSpPr>
          <p:nvPr/>
        </p:nvSpPr>
        <p:spPr>
          <a:xfrm xmlns:a="http://schemas.openxmlformats.org/drawingml/2006/main">
            <a:off x="609600" y="21907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075D68"/>
                </a:solidFill>
                <a:latin typeface="Arial"/>
                <a:ea typeface="Arial"/>
                <a:cs typeface="Arial"/>
              </a:defRPr>
            </a:defPPr>
            <a:lvl1pPr algn="l">
              <a:defRPr sz="6150" b="1">
                <a:solidFill>
                  <a:srgbClr val="075D68"/>
                </a:solidFill>
                <a:latin typeface="Arial"/>
                <a:ea typeface="Arial"/>
                <a:cs typeface="Arial"/>
              </a:defRPr>
            </a:lvl1pPr>
            <a:lvl2pPr algn="l">
              <a:defRPr sz="6150" b="1">
                <a:solidFill>
                  <a:srgbClr val="075D68"/>
                </a:solidFill>
                <a:latin typeface="Arial"/>
                <a:ea typeface="Arial"/>
                <a:cs typeface="Arial"/>
              </a:defRPr>
            </a:lvl2pPr>
            <a:lvl3pPr algn="l">
              <a:defRPr sz="6150" b="1">
                <a:solidFill>
                  <a:srgbClr val="075D68"/>
                </a:solidFill>
                <a:latin typeface="Arial"/>
                <a:ea typeface="Arial"/>
                <a:cs typeface="Arial"/>
              </a:defRPr>
            </a:lvl3pPr>
            <a:lvl4pPr algn="l">
              <a:defRPr sz="6150" b="1">
                <a:solidFill>
                  <a:srgbClr val="075D68"/>
                </a:solidFill>
                <a:latin typeface="Arial"/>
                <a:ea typeface="Arial"/>
                <a:cs typeface="Arial"/>
              </a:defRPr>
            </a:lvl4pPr>
            <a:lvl5pPr algn="l">
              <a:defRPr sz="6150" b="1">
                <a:solidFill>
                  <a:srgbClr val="075D68"/>
                </a:solidFill>
                <a:latin typeface="Arial"/>
                <a:ea typeface="Arial"/>
                <a:cs typeface="Arial"/>
              </a:defRPr>
            </a:lvl5pPr>
            <a:lvl6pPr algn="l">
              <a:defRPr sz="6150" b="1">
                <a:solidFill>
                  <a:srgbClr val="075D68"/>
                </a:solidFill>
                <a:latin typeface="Arial"/>
                <a:ea typeface="Arial"/>
                <a:cs typeface="Arial"/>
              </a:defRPr>
            </a:lvl6pPr>
            <a:lvl7pPr algn="l">
              <a:defRPr sz="6150" b="1">
                <a:solidFill>
                  <a:srgbClr val="075D68"/>
                </a:solidFill>
                <a:latin typeface="Arial"/>
                <a:ea typeface="Arial"/>
                <a:cs typeface="Arial"/>
              </a:defRPr>
            </a:lvl7pPr>
            <a:lvl8pPr algn="l">
              <a:defRPr sz="6150" b="1">
                <a:solidFill>
                  <a:srgbClr val="075D68"/>
                </a:solidFill>
                <a:latin typeface="Arial"/>
                <a:ea typeface="Arial"/>
                <a:cs typeface="Arial"/>
              </a:defRPr>
            </a:lvl8pPr>
            <a:lvl9pPr algn="l">
              <a:defRPr sz="6150" b="1">
                <a:solidFill>
                  <a:srgbClr val="075D68"/>
                </a:solidFill>
                <a:latin typeface="Arial"/>
                <a:ea typeface="Arial"/>
                <a:cs typeface="Arial"/>
              </a:defRPr>
            </a:lvl9pPr>
          </a:lstStyle>
          <a:p xmlns:a="http://schemas.openxmlformats.org/drawingml/2006/main">
            <a:pPr algn="l">
              <a:defRPr sz="6150" b="1">
                <a:solidFill>
                  <a:srgbClr val="075D68"/>
                </a:solidFill>
                <a:latin typeface="Arial"/>
                <a:ea typeface="Arial"/>
                <a:cs typeface="Arial"/>
              </a:defRPr>
            </a:pPr>
            <a:r>
              <a:rPr sz="6150" b="1">
                <a:solidFill>
                  <a:srgbClr val="075D68"/>
                </a:solidFill>
                <a:latin typeface="Arial"/>
                <a:ea typeface="Arial"/>
                <a:cs typeface="Arial"/>
              </a:rPr>
              <a:t>CRR</a:t>
            </a:r>
          </a:p>
        </p:txBody>
      </p:sp>
      <p:sp>
        <p:nvSpPr>
          <p:cNvPr id="6" name="">
            <a:extLst xmlns:a="http://schemas.openxmlformats.org/drawingml/2006/main">
              <a:ext uri="{FF2B5EF4-FFF2-40B4-BE49-F238E27FC236}">
                <a16:creationId xmlns:a16="http://schemas.microsoft.com/office/drawing/2014/main" id="{1225FA08-8438-4905-AD2A-5491FE0CAC9E}"/>
              </a:ext>
            </a:extLst>
          </p:cNvPr>
          <p:cNvSpPr>
            <a:spLocks xmlns:a="http://schemas.openxmlformats.org/drawingml/2006/main" noGrp="1"/>
          </p:cNvSpPr>
          <p:nvPr/>
        </p:nvSpPr>
        <p:spPr>
          <a:xfrm xmlns:a="http://schemas.openxmlformats.org/drawingml/2006/main">
            <a:off x="609600" y="32956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Khác Region</a:t>
            </a:r>
          </a:p>
        </p:txBody>
      </p:sp>
      <p:sp>
        <p:nvSpPr>
          <p:cNvPr id="7" name="">
            <a:extLst xmlns:a="http://schemas.openxmlformats.org/drawingml/2006/main">
              <a:ext uri="{FF2B5EF4-FFF2-40B4-BE49-F238E27FC236}">
                <a16:creationId xmlns:a16="http://schemas.microsoft.com/office/drawing/2014/main" id="{329AB6B4-6BF4-437C-AB48-2095B4C0CF18}"/>
              </a:ext>
            </a:extLst>
          </p:cNvPr>
          <p:cNvSpPr>
            <a:spLocks xmlns:a="http://schemas.openxmlformats.org/drawingml/2006/main" noGrp="1"/>
          </p:cNvSpPr>
          <p:nvPr/>
        </p:nvSpPr>
        <p:spPr>
          <a:xfrm xmlns:a="http://schemas.openxmlformats.org/drawingml/2006/main">
            <a:off x="609600" y="40290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3A4C"/>
                </a:solidFill>
                <a:latin typeface="Arial"/>
                <a:ea typeface="Arial"/>
                <a:cs typeface="Arial"/>
              </a:defRPr>
            </a:defPPr>
            <a:lvl1pPr algn="l">
              <a:defRPr sz="2325" b="0">
                <a:solidFill>
                  <a:srgbClr val="163A4C"/>
                </a:solidFill>
                <a:latin typeface="Arial"/>
                <a:ea typeface="Arial"/>
                <a:cs typeface="Arial"/>
              </a:defRPr>
            </a:lvl1pPr>
            <a:lvl2pPr algn="l">
              <a:defRPr sz="2325" b="0">
                <a:solidFill>
                  <a:srgbClr val="163A4C"/>
                </a:solidFill>
                <a:latin typeface="Arial"/>
                <a:ea typeface="Arial"/>
                <a:cs typeface="Arial"/>
              </a:defRPr>
            </a:lvl2pPr>
            <a:lvl3pPr algn="l">
              <a:defRPr sz="2325" b="0">
                <a:solidFill>
                  <a:srgbClr val="163A4C"/>
                </a:solidFill>
                <a:latin typeface="Arial"/>
                <a:ea typeface="Arial"/>
                <a:cs typeface="Arial"/>
              </a:defRPr>
            </a:lvl3pPr>
            <a:lvl4pPr algn="l">
              <a:defRPr sz="2325" b="0">
                <a:solidFill>
                  <a:srgbClr val="163A4C"/>
                </a:solidFill>
                <a:latin typeface="Arial"/>
                <a:ea typeface="Arial"/>
                <a:cs typeface="Arial"/>
              </a:defRPr>
            </a:lvl4pPr>
            <a:lvl5pPr algn="l">
              <a:defRPr sz="2325" b="0">
                <a:solidFill>
                  <a:srgbClr val="163A4C"/>
                </a:solidFill>
                <a:latin typeface="Arial"/>
                <a:ea typeface="Arial"/>
                <a:cs typeface="Arial"/>
              </a:defRPr>
            </a:lvl5pPr>
            <a:lvl6pPr algn="l">
              <a:defRPr sz="2325" b="0">
                <a:solidFill>
                  <a:srgbClr val="163A4C"/>
                </a:solidFill>
                <a:latin typeface="Arial"/>
                <a:ea typeface="Arial"/>
                <a:cs typeface="Arial"/>
              </a:defRPr>
            </a:lvl6pPr>
            <a:lvl7pPr algn="l">
              <a:defRPr sz="2325" b="0">
                <a:solidFill>
                  <a:srgbClr val="163A4C"/>
                </a:solidFill>
                <a:latin typeface="Arial"/>
                <a:ea typeface="Arial"/>
                <a:cs typeface="Arial"/>
              </a:defRPr>
            </a:lvl7pPr>
            <a:lvl8pPr algn="l">
              <a:defRPr sz="2325" b="0">
                <a:solidFill>
                  <a:srgbClr val="163A4C"/>
                </a:solidFill>
                <a:latin typeface="Arial"/>
                <a:ea typeface="Arial"/>
                <a:cs typeface="Arial"/>
              </a:defRPr>
            </a:lvl8pPr>
            <a:lvl9pPr algn="l">
              <a:defRPr sz="2325" b="0">
                <a:solidFill>
                  <a:srgbClr val="163A4C"/>
                </a:solidFill>
                <a:latin typeface="Arial"/>
                <a:ea typeface="Arial"/>
                <a:cs typeface="Arial"/>
              </a:defRPr>
            </a:lvl9pPr>
          </a:lstStyle>
          <a:p xmlns:a="http://schemas.openxmlformats.org/drawingml/2006/main">
            <a:pPr algn="l">
              <a:defRPr sz="2325" b="0">
                <a:solidFill>
                  <a:srgbClr val="163A4C"/>
                </a:solidFill>
                <a:latin typeface="Arial"/>
                <a:ea typeface="Arial"/>
                <a:cs typeface="Arial"/>
              </a:defRPr>
            </a:pPr>
            <a:r>
              <a:rPr sz="2325" b="0">
                <a:solidFill>
                  <a:srgbClr val="163A4C"/>
                </a:solidFill>
                <a:latin typeface="Arial"/>
                <a:ea typeface="Arial"/>
                <a:cs typeface="Arial"/>
              </a:rPr>
              <a:t>Tạo bản sao địa lý để hỗ trợ nhu cầu dữ liệu và phục hồi thảm họa.</a:t>
            </a:r>
          </a:p>
        </p:txBody>
      </p:sp>
      <p:sp>
        <p:nvSpPr>
          <p:cNvPr id="8" name="">
            <a:extLst xmlns:a="http://schemas.openxmlformats.org/drawingml/2006/main">
              <a:ext uri="{FF2B5EF4-FFF2-40B4-BE49-F238E27FC236}">
                <a16:creationId xmlns:a16="http://schemas.microsoft.com/office/drawing/2014/main" id="{729A1908-27AC-4AC0-A1F8-B46385AD7387}"/>
              </a:ext>
            </a:extLst>
          </p:cNvPr>
          <p:cNvSpPr>
            <a:spLocks xmlns:a="http://schemas.openxmlformats.org/drawingml/2006/main" noGrp="1"/>
          </p:cNvSpPr>
          <p:nvPr/>
        </p:nvSpPr>
        <p:spPr>
          <a:xfrm xmlns:a="http://schemas.openxmlformats.org/drawingml/2006/main">
            <a:off x="6477000" y="2190750"/>
            <a:ext cx="5105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B75B4B"/>
                </a:solidFill>
                <a:latin typeface="Arial"/>
                <a:ea typeface="Arial"/>
                <a:cs typeface="Arial"/>
              </a:defRPr>
            </a:defPPr>
            <a:lvl1pPr algn="l">
              <a:defRPr sz="6150" b="1">
                <a:solidFill>
                  <a:srgbClr val="B75B4B"/>
                </a:solidFill>
                <a:latin typeface="Arial"/>
                <a:ea typeface="Arial"/>
                <a:cs typeface="Arial"/>
              </a:defRPr>
            </a:lvl1pPr>
            <a:lvl2pPr algn="l">
              <a:defRPr sz="6150" b="1">
                <a:solidFill>
                  <a:srgbClr val="B75B4B"/>
                </a:solidFill>
                <a:latin typeface="Arial"/>
                <a:ea typeface="Arial"/>
                <a:cs typeface="Arial"/>
              </a:defRPr>
            </a:lvl2pPr>
            <a:lvl3pPr algn="l">
              <a:defRPr sz="6150" b="1">
                <a:solidFill>
                  <a:srgbClr val="B75B4B"/>
                </a:solidFill>
                <a:latin typeface="Arial"/>
                <a:ea typeface="Arial"/>
                <a:cs typeface="Arial"/>
              </a:defRPr>
            </a:lvl3pPr>
            <a:lvl4pPr algn="l">
              <a:defRPr sz="6150" b="1">
                <a:solidFill>
                  <a:srgbClr val="B75B4B"/>
                </a:solidFill>
                <a:latin typeface="Arial"/>
                <a:ea typeface="Arial"/>
                <a:cs typeface="Arial"/>
              </a:defRPr>
            </a:lvl4pPr>
            <a:lvl5pPr algn="l">
              <a:defRPr sz="6150" b="1">
                <a:solidFill>
                  <a:srgbClr val="B75B4B"/>
                </a:solidFill>
                <a:latin typeface="Arial"/>
                <a:ea typeface="Arial"/>
                <a:cs typeface="Arial"/>
              </a:defRPr>
            </a:lvl5pPr>
            <a:lvl6pPr algn="l">
              <a:defRPr sz="6150" b="1">
                <a:solidFill>
                  <a:srgbClr val="B75B4B"/>
                </a:solidFill>
                <a:latin typeface="Arial"/>
                <a:ea typeface="Arial"/>
                <a:cs typeface="Arial"/>
              </a:defRPr>
            </a:lvl6pPr>
            <a:lvl7pPr algn="l">
              <a:defRPr sz="6150" b="1">
                <a:solidFill>
                  <a:srgbClr val="B75B4B"/>
                </a:solidFill>
                <a:latin typeface="Arial"/>
                <a:ea typeface="Arial"/>
                <a:cs typeface="Arial"/>
              </a:defRPr>
            </a:lvl7pPr>
            <a:lvl8pPr algn="l">
              <a:defRPr sz="6150" b="1">
                <a:solidFill>
                  <a:srgbClr val="B75B4B"/>
                </a:solidFill>
                <a:latin typeface="Arial"/>
                <a:ea typeface="Arial"/>
                <a:cs typeface="Arial"/>
              </a:defRPr>
            </a:lvl8pPr>
            <a:lvl9pPr algn="l">
              <a:defRPr sz="6150" b="1">
                <a:solidFill>
                  <a:srgbClr val="B75B4B"/>
                </a:solidFill>
                <a:latin typeface="Arial"/>
                <a:ea typeface="Arial"/>
                <a:cs typeface="Arial"/>
              </a:defRPr>
            </a:lvl9pPr>
          </a:lstStyle>
          <a:p xmlns:a="http://schemas.openxmlformats.org/drawingml/2006/main">
            <a:pPr algn="l">
              <a:defRPr sz="6150" b="1">
                <a:solidFill>
                  <a:srgbClr val="B75B4B"/>
                </a:solidFill>
                <a:latin typeface="Arial"/>
                <a:ea typeface="Arial"/>
                <a:cs typeface="Arial"/>
              </a:defRPr>
            </a:pPr>
            <a:r>
              <a:rPr sz="6150" b="1">
                <a:solidFill>
                  <a:srgbClr val="B75B4B"/>
                </a:solidFill>
                <a:latin typeface="Arial"/>
                <a:ea typeface="Arial"/>
                <a:cs typeface="Arial"/>
              </a:rPr>
              <a:t>SRR</a:t>
            </a:r>
          </a:p>
        </p:txBody>
      </p:sp>
      <p:sp>
        <p:nvSpPr>
          <p:cNvPr id="9" name="">
            <a:extLst xmlns:a="http://schemas.openxmlformats.org/drawingml/2006/main">
              <a:ext uri="{FF2B5EF4-FFF2-40B4-BE49-F238E27FC236}">
                <a16:creationId xmlns:a16="http://schemas.microsoft.com/office/drawing/2014/main" id="{579E0711-1083-42F0-86CF-21F33E7DB7DD}"/>
              </a:ext>
            </a:extLst>
          </p:cNvPr>
          <p:cNvSpPr>
            <a:spLocks xmlns:a="http://schemas.openxmlformats.org/drawingml/2006/main" noGrp="1"/>
          </p:cNvSpPr>
          <p:nvPr/>
        </p:nvSpPr>
        <p:spPr>
          <a:xfrm xmlns:a="http://schemas.openxmlformats.org/drawingml/2006/main">
            <a:off x="6477000" y="3295650"/>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Cùng Region</a:t>
            </a:r>
          </a:p>
        </p:txBody>
      </p:sp>
      <p:sp>
        <p:nvSpPr>
          <p:cNvPr id="10" name="">
            <a:extLst xmlns:a="http://schemas.openxmlformats.org/drawingml/2006/main">
              <a:ext uri="{FF2B5EF4-FFF2-40B4-BE49-F238E27FC236}">
                <a16:creationId xmlns:a16="http://schemas.microsoft.com/office/drawing/2014/main" id="{27AD9271-24B7-4FC4-9DD9-47182BE47EFD}"/>
              </a:ext>
            </a:extLst>
          </p:cNvPr>
          <p:cNvSpPr>
            <a:spLocks xmlns:a="http://schemas.openxmlformats.org/drawingml/2006/main" noGrp="1"/>
          </p:cNvSpPr>
          <p:nvPr/>
        </p:nvSpPr>
        <p:spPr>
          <a:xfrm xmlns:a="http://schemas.openxmlformats.org/drawingml/2006/main">
            <a:off x="6477000" y="4029075"/>
            <a:ext cx="5105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3A4C"/>
                </a:solidFill>
                <a:latin typeface="Arial"/>
                <a:ea typeface="Arial"/>
                <a:cs typeface="Arial"/>
              </a:defRPr>
            </a:defPPr>
            <a:lvl1pPr algn="l">
              <a:defRPr sz="2325" b="0">
                <a:solidFill>
                  <a:srgbClr val="163A4C"/>
                </a:solidFill>
                <a:latin typeface="Arial"/>
                <a:ea typeface="Arial"/>
                <a:cs typeface="Arial"/>
              </a:defRPr>
            </a:lvl1pPr>
            <a:lvl2pPr algn="l">
              <a:defRPr sz="2325" b="0">
                <a:solidFill>
                  <a:srgbClr val="163A4C"/>
                </a:solidFill>
                <a:latin typeface="Arial"/>
                <a:ea typeface="Arial"/>
                <a:cs typeface="Arial"/>
              </a:defRPr>
            </a:lvl2pPr>
            <a:lvl3pPr algn="l">
              <a:defRPr sz="2325" b="0">
                <a:solidFill>
                  <a:srgbClr val="163A4C"/>
                </a:solidFill>
                <a:latin typeface="Arial"/>
                <a:ea typeface="Arial"/>
                <a:cs typeface="Arial"/>
              </a:defRPr>
            </a:lvl3pPr>
            <a:lvl4pPr algn="l">
              <a:defRPr sz="2325" b="0">
                <a:solidFill>
                  <a:srgbClr val="163A4C"/>
                </a:solidFill>
                <a:latin typeface="Arial"/>
                <a:ea typeface="Arial"/>
                <a:cs typeface="Arial"/>
              </a:defRPr>
            </a:lvl4pPr>
            <a:lvl5pPr algn="l">
              <a:defRPr sz="2325" b="0">
                <a:solidFill>
                  <a:srgbClr val="163A4C"/>
                </a:solidFill>
                <a:latin typeface="Arial"/>
                <a:ea typeface="Arial"/>
                <a:cs typeface="Arial"/>
              </a:defRPr>
            </a:lvl5pPr>
            <a:lvl6pPr algn="l">
              <a:defRPr sz="2325" b="0">
                <a:solidFill>
                  <a:srgbClr val="163A4C"/>
                </a:solidFill>
                <a:latin typeface="Arial"/>
                <a:ea typeface="Arial"/>
                <a:cs typeface="Arial"/>
              </a:defRPr>
            </a:lvl6pPr>
            <a:lvl7pPr algn="l">
              <a:defRPr sz="2325" b="0">
                <a:solidFill>
                  <a:srgbClr val="163A4C"/>
                </a:solidFill>
                <a:latin typeface="Arial"/>
                <a:ea typeface="Arial"/>
                <a:cs typeface="Arial"/>
              </a:defRPr>
            </a:lvl7pPr>
            <a:lvl8pPr algn="l">
              <a:defRPr sz="2325" b="0">
                <a:solidFill>
                  <a:srgbClr val="163A4C"/>
                </a:solidFill>
                <a:latin typeface="Arial"/>
                <a:ea typeface="Arial"/>
                <a:cs typeface="Arial"/>
              </a:defRPr>
            </a:lvl8pPr>
            <a:lvl9pPr algn="l">
              <a:defRPr sz="2325" b="0">
                <a:solidFill>
                  <a:srgbClr val="163A4C"/>
                </a:solidFill>
                <a:latin typeface="Arial"/>
                <a:ea typeface="Arial"/>
                <a:cs typeface="Arial"/>
              </a:defRPr>
            </a:lvl9pPr>
          </a:lstStyle>
          <a:p xmlns:a="http://schemas.openxmlformats.org/drawingml/2006/main">
            <a:pPr algn="l">
              <a:defRPr sz="2325" b="0">
                <a:solidFill>
                  <a:srgbClr val="163A4C"/>
                </a:solidFill>
                <a:latin typeface="Arial"/>
                <a:ea typeface="Arial"/>
                <a:cs typeface="Arial"/>
              </a:defRPr>
            </a:pPr>
            <a:r>
              <a:rPr sz="2325" b="0">
                <a:solidFill>
                  <a:srgbClr val="163A4C"/>
                </a:solidFill>
                <a:latin typeface="Arial"/>
                <a:ea typeface="Arial"/>
                <a:cs typeface="Arial"/>
              </a:rPr>
              <a:t>Phục vụ tổng hợp log hoặc phân tách tài khoản và môi trường.</a:t>
            </a:r>
          </a:p>
        </p:txBody>
      </p:sp>
      <p:sp>
        <p:nvSpPr>
          <p:cNvPr id="11" name="">
            <a:extLst xmlns:a="http://schemas.openxmlformats.org/drawingml/2006/main">
              <a:ext uri="{FF2B5EF4-FFF2-40B4-BE49-F238E27FC236}">
                <a16:creationId xmlns:a16="http://schemas.microsoft.com/office/drawing/2014/main" id="{3F4E57E6-9F6B-4F12-90D7-999D62C4381F}"/>
              </a:ext>
            </a:extLst>
          </p:cNvPr>
          <p:cNvSpPr>
            <a:spLocks xmlns:a="http://schemas.openxmlformats.org/drawingml/2006/main" noGrp="1"/>
          </p:cNvSpPr>
          <p:nvPr/>
        </p:nvSpPr>
        <p:spPr>
          <a:xfrm xmlns:a="http://schemas.openxmlformats.org/drawingml/2006/main">
            <a:off x="609600" y="57150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57C88"/>
                </a:solidFill>
                <a:latin typeface="Arial"/>
                <a:ea typeface="Arial"/>
                <a:cs typeface="Arial"/>
              </a:defRPr>
            </a:defPPr>
            <a:lvl1pPr algn="l">
              <a:defRPr sz="2025" b="0">
                <a:solidFill>
                  <a:srgbClr val="657C88"/>
                </a:solidFill>
                <a:latin typeface="Arial"/>
                <a:ea typeface="Arial"/>
                <a:cs typeface="Arial"/>
              </a:defRPr>
            </a:lvl1pPr>
            <a:lvl2pPr algn="l">
              <a:defRPr sz="2025" b="0">
                <a:solidFill>
                  <a:srgbClr val="657C88"/>
                </a:solidFill>
                <a:latin typeface="Arial"/>
                <a:ea typeface="Arial"/>
                <a:cs typeface="Arial"/>
              </a:defRPr>
            </a:lvl2pPr>
            <a:lvl3pPr algn="l">
              <a:defRPr sz="2025" b="0">
                <a:solidFill>
                  <a:srgbClr val="657C88"/>
                </a:solidFill>
                <a:latin typeface="Arial"/>
                <a:ea typeface="Arial"/>
                <a:cs typeface="Arial"/>
              </a:defRPr>
            </a:lvl3pPr>
            <a:lvl4pPr algn="l">
              <a:defRPr sz="2025" b="0">
                <a:solidFill>
                  <a:srgbClr val="657C88"/>
                </a:solidFill>
                <a:latin typeface="Arial"/>
                <a:ea typeface="Arial"/>
                <a:cs typeface="Arial"/>
              </a:defRPr>
            </a:lvl4pPr>
            <a:lvl5pPr algn="l">
              <a:defRPr sz="2025" b="0">
                <a:solidFill>
                  <a:srgbClr val="657C88"/>
                </a:solidFill>
                <a:latin typeface="Arial"/>
                <a:ea typeface="Arial"/>
                <a:cs typeface="Arial"/>
              </a:defRPr>
            </a:lvl5pPr>
            <a:lvl6pPr algn="l">
              <a:defRPr sz="2025" b="0">
                <a:solidFill>
                  <a:srgbClr val="657C88"/>
                </a:solidFill>
                <a:latin typeface="Arial"/>
                <a:ea typeface="Arial"/>
                <a:cs typeface="Arial"/>
              </a:defRPr>
            </a:lvl6pPr>
            <a:lvl7pPr algn="l">
              <a:defRPr sz="2025" b="0">
                <a:solidFill>
                  <a:srgbClr val="657C88"/>
                </a:solidFill>
                <a:latin typeface="Arial"/>
                <a:ea typeface="Arial"/>
                <a:cs typeface="Arial"/>
              </a:defRPr>
            </a:lvl7pPr>
            <a:lvl8pPr algn="l">
              <a:defRPr sz="2025" b="0">
                <a:solidFill>
                  <a:srgbClr val="657C88"/>
                </a:solidFill>
                <a:latin typeface="Arial"/>
                <a:ea typeface="Arial"/>
                <a:cs typeface="Arial"/>
              </a:defRPr>
            </a:lvl8pPr>
            <a:lvl9pPr algn="l">
              <a:defRPr sz="2025" b="0">
                <a:solidFill>
                  <a:srgbClr val="657C88"/>
                </a:solidFill>
                <a:latin typeface="Arial"/>
                <a:ea typeface="Arial"/>
                <a:cs typeface="Arial"/>
              </a:defRPr>
            </a:lvl9pPr>
          </a:lstStyle>
          <a:p xmlns:a="http://schemas.openxmlformats.org/drawingml/2006/main">
            <a:pPr algn="l">
              <a:defRPr sz="2025" b="0">
                <a:solidFill>
                  <a:srgbClr val="657C88"/>
                </a:solidFill>
                <a:latin typeface="Arial"/>
                <a:ea typeface="Arial"/>
                <a:cs typeface="Arial"/>
              </a:defRPr>
            </a:pPr>
            <a:r>
              <a:rPr sz="2025" b="0">
                <a:solidFill>
                  <a:srgbClr val="657C88"/>
                </a:solidFill>
                <a:latin typeface="Arial"/>
                <a:ea typeface="Arial"/>
                <a:cs typeface="Arial"/>
              </a:rPr>
              <a:t>Sao chép bất đồng bộ. Dữ liệu có từ trước cần Batch Replication.</a:t>
            </a:r>
          </a:p>
        </p:txBody>
      </p:sp>
    </p:spTree>
    <p:extLst>
      <p:ext uri="{BB962C8B-B14F-4D97-AF65-F5344CB8AC3E}">
        <p14:creationId xmlns:p14="http://schemas.microsoft.com/office/powerpoint/2010/main" val="1655631955"/>
      </p:ext>
    </p:extLst>
  </p:cSld>
</p:sld>
</file>

<file path=ppt/slides/slide16.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1493EA-ACD3-4E9E-8962-7B0948968D3E}"/>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III  TÍNH NĂNG VÀ CHI PHÍ</a:t>
            </a:r>
          </a:p>
        </p:txBody>
      </p:sp>
      <p:sp>
        <p:nvSpPr>
          <p:cNvPr id="2" name="">
            <a:extLst xmlns:a="http://schemas.openxmlformats.org/drawingml/2006/main">
              <a:ext uri="{FF2B5EF4-FFF2-40B4-BE49-F238E27FC236}">
                <a16:creationId xmlns:a16="http://schemas.microsoft.com/office/drawing/2014/main" id="{AE0278AC-0376-42DE-B638-A2630FD5A2B4}"/>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Mô hình chi phí Amazon S3</a:t>
            </a:r>
          </a:p>
        </p:txBody>
      </p:sp>
      <p:sp>
        <p:nvSpPr>
          <p:cNvPr id="3" name="">
            <a:extLst xmlns:a="http://schemas.openxmlformats.org/drawingml/2006/main">
              <a:ext uri="{FF2B5EF4-FFF2-40B4-BE49-F238E27FC236}">
                <a16:creationId xmlns:a16="http://schemas.microsoft.com/office/drawing/2014/main" id="{C77F3022-C7CC-4A5C-ACE1-256A63EFD2A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5CC13659-DAAE-498E-AA66-DECFD5DB169C}"/>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C7008497-6D94-49EB-9C33-F2D4D380A82A}"/>
              </a:ext>
            </a:extLst>
          </p:cNvPr>
          <p:cNvSpPr>
            <a:spLocks xmlns:a="http://schemas.openxmlformats.org/drawingml/2006/main" noGrp="1"/>
          </p:cNvSpPr>
          <p:nvPr/>
        </p:nvSpPr>
        <p:spPr>
          <a:xfrm xmlns:a="http://schemas.openxmlformats.org/drawingml/2006/main">
            <a:off x="609600" y="23622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GB-month</a:t>
            </a:r>
          </a:p>
        </p:txBody>
      </p:sp>
      <p:sp>
        <p:nvSpPr>
          <p:cNvPr id="6" name="">
            <a:extLst xmlns:a="http://schemas.openxmlformats.org/drawingml/2006/main">
              <a:ext uri="{FF2B5EF4-FFF2-40B4-BE49-F238E27FC236}">
                <a16:creationId xmlns:a16="http://schemas.microsoft.com/office/drawing/2014/main" id="{29779450-1F91-45A4-BF07-6F58EA2F6312}"/>
              </a:ext>
            </a:extLst>
          </p:cNvPr>
          <p:cNvSpPr>
            <a:spLocks xmlns:a="http://schemas.openxmlformats.org/drawingml/2006/main" noGrp="1"/>
          </p:cNvSpPr>
          <p:nvPr/>
        </p:nvSpPr>
        <p:spPr>
          <a:xfrm xmlns:a="http://schemas.openxmlformats.org/drawingml/2006/main">
            <a:off x="609600" y="35528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Dung lượng lưu trữ của object và toàn bộ version còn giữ.</a:t>
            </a:r>
          </a:p>
        </p:txBody>
      </p:sp>
      <p:sp>
        <p:nvSpPr>
          <p:cNvPr id="7" name="">
            <a:extLst xmlns:a="http://schemas.openxmlformats.org/drawingml/2006/main">
              <a:ext uri="{FF2B5EF4-FFF2-40B4-BE49-F238E27FC236}">
                <a16:creationId xmlns:a16="http://schemas.microsoft.com/office/drawing/2014/main" id="{6D56B022-D9C0-4437-9FC1-9465E1856B2E}"/>
              </a:ext>
            </a:extLst>
          </p:cNvPr>
          <p:cNvSpPr>
            <a:spLocks xmlns:a="http://schemas.openxmlformats.org/drawingml/2006/main" noGrp="1"/>
          </p:cNvSpPr>
          <p:nvPr/>
        </p:nvSpPr>
        <p:spPr>
          <a:xfrm xmlns:a="http://schemas.openxmlformats.org/drawingml/2006/main">
            <a:off x="4419600" y="23622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FF9989"/>
                </a:solidFill>
                <a:latin typeface="Arial"/>
                <a:ea typeface="Arial"/>
                <a:cs typeface="Arial"/>
              </a:defRPr>
            </a:defPPr>
            <a:lvl1pPr algn="l">
              <a:defRPr sz="2775" b="1">
                <a:solidFill>
                  <a:srgbClr val="FF9989"/>
                </a:solidFill>
                <a:latin typeface="Arial"/>
                <a:ea typeface="Arial"/>
                <a:cs typeface="Arial"/>
              </a:defRPr>
            </a:lvl1pPr>
            <a:lvl2pPr algn="l">
              <a:defRPr sz="2775" b="1">
                <a:solidFill>
                  <a:srgbClr val="FF9989"/>
                </a:solidFill>
                <a:latin typeface="Arial"/>
                <a:ea typeface="Arial"/>
                <a:cs typeface="Arial"/>
              </a:defRPr>
            </a:lvl2pPr>
            <a:lvl3pPr algn="l">
              <a:defRPr sz="2775" b="1">
                <a:solidFill>
                  <a:srgbClr val="FF9989"/>
                </a:solidFill>
                <a:latin typeface="Arial"/>
                <a:ea typeface="Arial"/>
                <a:cs typeface="Arial"/>
              </a:defRPr>
            </a:lvl3pPr>
            <a:lvl4pPr algn="l">
              <a:defRPr sz="2775" b="1">
                <a:solidFill>
                  <a:srgbClr val="FF9989"/>
                </a:solidFill>
                <a:latin typeface="Arial"/>
                <a:ea typeface="Arial"/>
                <a:cs typeface="Arial"/>
              </a:defRPr>
            </a:lvl4pPr>
            <a:lvl5pPr algn="l">
              <a:defRPr sz="2775" b="1">
                <a:solidFill>
                  <a:srgbClr val="FF9989"/>
                </a:solidFill>
                <a:latin typeface="Arial"/>
                <a:ea typeface="Arial"/>
                <a:cs typeface="Arial"/>
              </a:defRPr>
            </a:lvl5pPr>
            <a:lvl6pPr algn="l">
              <a:defRPr sz="2775" b="1">
                <a:solidFill>
                  <a:srgbClr val="FF9989"/>
                </a:solidFill>
                <a:latin typeface="Arial"/>
                <a:ea typeface="Arial"/>
                <a:cs typeface="Arial"/>
              </a:defRPr>
            </a:lvl6pPr>
            <a:lvl7pPr algn="l">
              <a:defRPr sz="2775" b="1">
                <a:solidFill>
                  <a:srgbClr val="FF9989"/>
                </a:solidFill>
                <a:latin typeface="Arial"/>
                <a:ea typeface="Arial"/>
                <a:cs typeface="Arial"/>
              </a:defRPr>
            </a:lvl7pPr>
            <a:lvl8pPr algn="l">
              <a:defRPr sz="2775" b="1">
                <a:solidFill>
                  <a:srgbClr val="FF9989"/>
                </a:solidFill>
                <a:latin typeface="Arial"/>
                <a:ea typeface="Arial"/>
                <a:cs typeface="Arial"/>
              </a:defRPr>
            </a:lvl8pPr>
            <a:lvl9pPr algn="l">
              <a:defRPr sz="2775" b="1">
                <a:solidFill>
                  <a:srgbClr val="FF9989"/>
                </a:solidFill>
                <a:latin typeface="Arial"/>
                <a:ea typeface="Arial"/>
                <a:cs typeface="Arial"/>
              </a:defRPr>
            </a:lvl9pPr>
          </a:lstStyle>
          <a:p xmlns:a="http://schemas.openxmlformats.org/drawingml/2006/main">
            <a:pPr algn="l">
              <a:defRPr sz="2775" b="1">
                <a:solidFill>
                  <a:srgbClr val="FF9989"/>
                </a:solidFill>
                <a:latin typeface="Arial"/>
                <a:ea typeface="Arial"/>
                <a:cs typeface="Arial"/>
              </a:defRPr>
            </a:pPr>
            <a:r>
              <a:rPr sz="2775" b="1">
                <a:solidFill>
                  <a:srgbClr val="FF9989"/>
                </a:solidFill>
                <a:latin typeface="Arial"/>
                <a:ea typeface="Arial"/>
                <a:cs typeface="Arial"/>
              </a:rPr>
              <a:t>Requests</a:t>
            </a:r>
          </a:p>
        </p:txBody>
      </p:sp>
      <p:sp>
        <p:nvSpPr>
          <p:cNvPr id="8" name="">
            <a:extLst xmlns:a="http://schemas.openxmlformats.org/drawingml/2006/main">
              <a:ext uri="{FF2B5EF4-FFF2-40B4-BE49-F238E27FC236}">
                <a16:creationId xmlns:a16="http://schemas.microsoft.com/office/drawing/2014/main" id="{659DA9AD-D0CA-4007-89F7-9891E25852E5}"/>
              </a:ext>
            </a:extLst>
          </p:cNvPr>
          <p:cNvSpPr>
            <a:spLocks xmlns:a="http://schemas.openxmlformats.org/drawingml/2006/main" noGrp="1"/>
          </p:cNvSpPr>
          <p:nvPr/>
        </p:nvSpPr>
        <p:spPr>
          <a:xfrm xmlns:a="http://schemas.openxmlformats.org/drawingml/2006/main">
            <a:off x="4419600" y="35528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PUT, GET, LIST và các thao tác quản trị. Retrieval có thể tính phí riêng.</a:t>
            </a:r>
          </a:p>
        </p:txBody>
      </p:sp>
      <p:sp>
        <p:nvSpPr>
          <p:cNvPr id="9" name="">
            <a:extLst xmlns:a="http://schemas.openxmlformats.org/drawingml/2006/main">
              <a:ext uri="{FF2B5EF4-FFF2-40B4-BE49-F238E27FC236}">
                <a16:creationId xmlns:a16="http://schemas.microsoft.com/office/drawing/2014/main" id="{1E4D8D34-C79A-4BF0-B280-E114C7BF09F7}"/>
              </a:ext>
            </a:extLst>
          </p:cNvPr>
          <p:cNvSpPr>
            <a:spLocks xmlns:a="http://schemas.openxmlformats.org/drawingml/2006/main" noGrp="1"/>
          </p:cNvSpPr>
          <p:nvPr/>
        </p:nvSpPr>
        <p:spPr>
          <a:xfrm xmlns:a="http://schemas.openxmlformats.org/drawingml/2006/main">
            <a:off x="8229600" y="236220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58D9E8"/>
                </a:solidFill>
                <a:latin typeface="Arial"/>
                <a:ea typeface="Arial"/>
                <a:cs typeface="Arial"/>
              </a:defRPr>
            </a:defPPr>
            <a:lvl1pPr algn="l">
              <a:defRPr sz="2775" b="1">
                <a:solidFill>
                  <a:srgbClr val="58D9E8"/>
                </a:solidFill>
                <a:latin typeface="Arial"/>
                <a:ea typeface="Arial"/>
                <a:cs typeface="Arial"/>
              </a:defRPr>
            </a:lvl1pPr>
            <a:lvl2pPr algn="l">
              <a:defRPr sz="2775" b="1">
                <a:solidFill>
                  <a:srgbClr val="58D9E8"/>
                </a:solidFill>
                <a:latin typeface="Arial"/>
                <a:ea typeface="Arial"/>
                <a:cs typeface="Arial"/>
              </a:defRPr>
            </a:lvl2pPr>
            <a:lvl3pPr algn="l">
              <a:defRPr sz="2775" b="1">
                <a:solidFill>
                  <a:srgbClr val="58D9E8"/>
                </a:solidFill>
                <a:latin typeface="Arial"/>
                <a:ea typeface="Arial"/>
                <a:cs typeface="Arial"/>
              </a:defRPr>
            </a:lvl3pPr>
            <a:lvl4pPr algn="l">
              <a:defRPr sz="2775" b="1">
                <a:solidFill>
                  <a:srgbClr val="58D9E8"/>
                </a:solidFill>
                <a:latin typeface="Arial"/>
                <a:ea typeface="Arial"/>
                <a:cs typeface="Arial"/>
              </a:defRPr>
            </a:lvl4pPr>
            <a:lvl5pPr algn="l">
              <a:defRPr sz="2775" b="1">
                <a:solidFill>
                  <a:srgbClr val="58D9E8"/>
                </a:solidFill>
                <a:latin typeface="Arial"/>
                <a:ea typeface="Arial"/>
                <a:cs typeface="Arial"/>
              </a:defRPr>
            </a:lvl5pPr>
            <a:lvl6pPr algn="l">
              <a:defRPr sz="2775" b="1">
                <a:solidFill>
                  <a:srgbClr val="58D9E8"/>
                </a:solidFill>
                <a:latin typeface="Arial"/>
                <a:ea typeface="Arial"/>
                <a:cs typeface="Arial"/>
              </a:defRPr>
            </a:lvl6pPr>
            <a:lvl7pPr algn="l">
              <a:defRPr sz="2775" b="1">
                <a:solidFill>
                  <a:srgbClr val="58D9E8"/>
                </a:solidFill>
                <a:latin typeface="Arial"/>
                <a:ea typeface="Arial"/>
                <a:cs typeface="Arial"/>
              </a:defRPr>
            </a:lvl7pPr>
            <a:lvl8pPr algn="l">
              <a:defRPr sz="2775" b="1">
                <a:solidFill>
                  <a:srgbClr val="58D9E8"/>
                </a:solidFill>
                <a:latin typeface="Arial"/>
                <a:ea typeface="Arial"/>
                <a:cs typeface="Arial"/>
              </a:defRPr>
            </a:lvl8pPr>
            <a:lvl9pPr algn="l">
              <a:defRPr sz="2775" b="1">
                <a:solidFill>
                  <a:srgbClr val="58D9E8"/>
                </a:solidFill>
                <a:latin typeface="Arial"/>
                <a:ea typeface="Arial"/>
                <a:cs typeface="Arial"/>
              </a:defRPr>
            </a:lvl9pPr>
          </a:lstStyle>
          <a:p xmlns:a="http://schemas.openxmlformats.org/drawingml/2006/main">
            <a:pPr algn="l">
              <a:defRPr sz="2775" b="1">
                <a:solidFill>
                  <a:srgbClr val="58D9E8"/>
                </a:solidFill>
                <a:latin typeface="Arial"/>
                <a:ea typeface="Arial"/>
                <a:cs typeface="Arial"/>
              </a:defRPr>
            </a:pPr>
            <a:r>
              <a:rPr sz="2775" b="1">
                <a:solidFill>
                  <a:srgbClr val="58D9E8"/>
                </a:solidFill>
                <a:latin typeface="Arial"/>
                <a:ea typeface="Arial"/>
                <a:cs typeface="Arial"/>
              </a:rPr>
              <a:t>Egress</a:t>
            </a:r>
          </a:p>
        </p:txBody>
      </p:sp>
      <p:sp>
        <p:nvSpPr>
          <p:cNvPr id="10" name="">
            <a:extLst xmlns:a="http://schemas.openxmlformats.org/drawingml/2006/main">
              <a:ext uri="{FF2B5EF4-FFF2-40B4-BE49-F238E27FC236}">
                <a16:creationId xmlns:a16="http://schemas.microsoft.com/office/drawing/2014/main" id="{9CEAE7CA-2202-4155-8B48-5A4769965E13}"/>
              </a:ext>
            </a:extLst>
          </p:cNvPr>
          <p:cNvSpPr>
            <a:spLocks xmlns:a="http://schemas.openxmlformats.org/drawingml/2006/main" noGrp="1"/>
          </p:cNvSpPr>
          <p:nvPr/>
        </p:nvSpPr>
        <p:spPr>
          <a:xfrm xmlns:a="http://schemas.openxmlformats.org/drawingml/2006/main">
            <a:off x="8229600" y="355282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Dữ liệu truyền ra ngoài. On-premises vẫn có chi phí hạ tầng và vận hành.</a:t>
            </a:r>
          </a:p>
        </p:txBody>
      </p:sp>
    </p:spTree>
    <p:extLst>
      <p:ext uri="{BB962C8B-B14F-4D97-AF65-F5344CB8AC3E}">
        <p14:creationId xmlns:p14="http://schemas.microsoft.com/office/powerpoint/2010/main" val="388691950"/>
      </p:ext>
    </p:extLst>
  </p:cSld>
</p:sld>
</file>

<file path=ppt/slides/slide17.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601125-D263-4A85-9E68-EE245156A0BB}"/>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III  TÍNH NĂNG VÀ CHI PHÍ</a:t>
            </a:r>
          </a:p>
        </p:txBody>
      </p:sp>
      <p:sp>
        <p:nvSpPr>
          <p:cNvPr id="2" name="">
            <a:extLst xmlns:a="http://schemas.openxmlformats.org/drawingml/2006/main">
              <a:ext uri="{FF2B5EF4-FFF2-40B4-BE49-F238E27FC236}">
                <a16:creationId xmlns:a16="http://schemas.microsoft.com/office/drawing/2014/main" id="{3F54F9F0-C07C-4EE6-BCF7-0AC3479D2377}"/>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MinIO: hệ lưu trữ tương thích S3</a:t>
            </a:r>
          </a:p>
        </p:txBody>
      </p:sp>
      <p:sp>
        <p:nvSpPr>
          <p:cNvPr id="3" name="">
            <a:extLst xmlns:a="http://schemas.openxmlformats.org/drawingml/2006/main">
              <a:ext uri="{FF2B5EF4-FFF2-40B4-BE49-F238E27FC236}">
                <a16:creationId xmlns:a16="http://schemas.microsoft.com/office/drawing/2014/main" id="{B0B601B2-5C47-481F-8584-F7CBB5D7E6B0}"/>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3D62BBB3-AC40-40CD-A29C-592CE47B87FD}"/>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F6E8C091-AFA3-451A-A8DB-57EBDAB79ABD}"/>
              </a:ext>
            </a:extLst>
          </p:cNvPr>
          <p:cNvSpPr>
            <a:spLocks xmlns:a="http://schemas.openxmlformats.org/drawingml/2006/main" noGrp="1"/>
          </p:cNvSpPr>
          <p:nvPr/>
        </p:nvSpPr>
        <p:spPr>
          <a:xfrm xmlns:a="http://schemas.openxmlformats.org/drawingml/2006/main">
            <a:off x="609600" y="2009775"/>
            <a:ext cx="5715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725" b="1">
                <a:solidFill>
                  <a:srgbClr val="FF9989"/>
                </a:solidFill>
                <a:latin typeface="Arial"/>
                <a:ea typeface="Arial"/>
                <a:cs typeface="Arial"/>
              </a:defRPr>
            </a:defPPr>
            <a:lvl1pPr algn="l">
              <a:defRPr sz="7725" b="1">
                <a:solidFill>
                  <a:srgbClr val="FF9989"/>
                </a:solidFill>
                <a:latin typeface="Arial"/>
                <a:ea typeface="Arial"/>
                <a:cs typeface="Arial"/>
              </a:defRPr>
            </a:lvl1pPr>
            <a:lvl2pPr algn="l">
              <a:defRPr sz="7725" b="1">
                <a:solidFill>
                  <a:srgbClr val="FF9989"/>
                </a:solidFill>
                <a:latin typeface="Arial"/>
                <a:ea typeface="Arial"/>
                <a:cs typeface="Arial"/>
              </a:defRPr>
            </a:lvl2pPr>
            <a:lvl3pPr algn="l">
              <a:defRPr sz="7725" b="1">
                <a:solidFill>
                  <a:srgbClr val="FF9989"/>
                </a:solidFill>
                <a:latin typeface="Arial"/>
                <a:ea typeface="Arial"/>
                <a:cs typeface="Arial"/>
              </a:defRPr>
            </a:lvl3pPr>
            <a:lvl4pPr algn="l">
              <a:defRPr sz="7725" b="1">
                <a:solidFill>
                  <a:srgbClr val="FF9989"/>
                </a:solidFill>
                <a:latin typeface="Arial"/>
                <a:ea typeface="Arial"/>
                <a:cs typeface="Arial"/>
              </a:defRPr>
            </a:lvl4pPr>
            <a:lvl5pPr algn="l">
              <a:defRPr sz="7725" b="1">
                <a:solidFill>
                  <a:srgbClr val="FF9989"/>
                </a:solidFill>
                <a:latin typeface="Arial"/>
                <a:ea typeface="Arial"/>
                <a:cs typeface="Arial"/>
              </a:defRPr>
            </a:lvl5pPr>
            <a:lvl6pPr algn="l">
              <a:defRPr sz="7725" b="1">
                <a:solidFill>
                  <a:srgbClr val="FF9989"/>
                </a:solidFill>
                <a:latin typeface="Arial"/>
                <a:ea typeface="Arial"/>
                <a:cs typeface="Arial"/>
              </a:defRPr>
            </a:lvl6pPr>
            <a:lvl7pPr algn="l">
              <a:defRPr sz="7725" b="1">
                <a:solidFill>
                  <a:srgbClr val="FF9989"/>
                </a:solidFill>
                <a:latin typeface="Arial"/>
                <a:ea typeface="Arial"/>
                <a:cs typeface="Arial"/>
              </a:defRPr>
            </a:lvl7pPr>
            <a:lvl8pPr algn="l">
              <a:defRPr sz="7725" b="1">
                <a:solidFill>
                  <a:srgbClr val="FF9989"/>
                </a:solidFill>
                <a:latin typeface="Arial"/>
                <a:ea typeface="Arial"/>
                <a:cs typeface="Arial"/>
              </a:defRPr>
            </a:lvl8pPr>
            <a:lvl9pPr algn="l">
              <a:defRPr sz="7725" b="1">
                <a:solidFill>
                  <a:srgbClr val="FF9989"/>
                </a:solidFill>
                <a:latin typeface="Arial"/>
                <a:ea typeface="Arial"/>
                <a:cs typeface="Arial"/>
              </a:defRPr>
            </a:lvl9pPr>
          </a:lstStyle>
          <a:p xmlns:a="http://schemas.openxmlformats.org/drawingml/2006/main">
            <a:pPr algn="l">
              <a:defRPr sz="7725" b="1">
                <a:solidFill>
                  <a:srgbClr val="FF9989"/>
                </a:solidFill>
                <a:latin typeface="Arial"/>
                <a:ea typeface="Arial"/>
                <a:cs typeface="Arial"/>
              </a:defRPr>
            </a:pPr>
            <a:r>
              <a:rPr sz="7725" b="1">
                <a:solidFill>
                  <a:srgbClr val="FF9989"/>
                </a:solidFill>
                <a:latin typeface="Arial"/>
                <a:ea typeface="Arial"/>
                <a:cs typeface="Arial"/>
              </a:rPr>
              <a:t>25.04</a:t>
            </a:r>
          </a:p>
          <a:p xmlns:a="http://schemas.openxmlformats.org/drawingml/2006/main">
            <a:pPr algn="l">
              <a:defRPr sz="7725" b="1">
                <a:solidFill>
                  <a:srgbClr val="FF9989"/>
                </a:solidFill>
                <a:latin typeface="Arial"/>
                <a:ea typeface="Arial"/>
                <a:cs typeface="Arial"/>
              </a:defRPr>
            </a:pPr>
            <a:r>
              <a:rPr sz="7725" b="1">
                <a:solidFill>
                  <a:srgbClr val="FF9989"/>
                </a:solidFill>
                <a:latin typeface="Arial"/>
                <a:ea typeface="Arial"/>
                <a:cs typeface="Arial"/>
              </a:rPr>
              <a:t>2026</a:t>
            </a:r>
          </a:p>
        </p:txBody>
      </p:sp>
      <p:sp>
        <p:nvSpPr>
          <p:cNvPr id="6" name="">
            <a:extLst xmlns:a="http://schemas.openxmlformats.org/drawingml/2006/main">
              <a:ext uri="{FF2B5EF4-FFF2-40B4-BE49-F238E27FC236}">
                <a16:creationId xmlns:a16="http://schemas.microsoft.com/office/drawing/2014/main" id="{E0194F31-7AEF-4795-98F5-F3796133F2FC}"/>
              </a:ext>
            </a:extLst>
          </p:cNvPr>
          <p:cNvSpPr>
            <a:spLocks xmlns:a="http://schemas.openxmlformats.org/drawingml/2006/main" noGrp="1"/>
          </p:cNvSpPr>
          <p:nvPr/>
        </p:nvSpPr>
        <p:spPr>
          <a:xfrm xmlns:a="http://schemas.openxmlformats.org/drawingml/2006/main">
            <a:off x="6477000" y="2143125"/>
            <a:ext cx="5105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Kho minio/minio đã archive</a:t>
            </a:r>
          </a:p>
        </p:txBody>
      </p:sp>
      <p:sp>
        <p:nvSpPr>
          <p:cNvPr id="7" name="">
            <a:extLst xmlns:a="http://schemas.openxmlformats.org/drawingml/2006/main">
              <a:ext uri="{FF2B5EF4-FFF2-40B4-BE49-F238E27FC236}">
                <a16:creationId xmlns:a16="http://schemas.microsoft.com/office/drawing/2014/main" id="{54FFF23D-E50A-4F2A-BFDD-E4DAEE3996C1}"/>
              </a:ext>
            </a:extLst>
          </p:cNvPr>
          <p:cNvSpPr>
            <a:spLocks xmlns:a="http://schemas.openxmlformats.org/drawingml/2006/main" noGrp="1"/>
          </p:cNvSpPr>
          <p:nvPr/>
        </p:nvSpPr>
        <p:spPr>
          <a:xfrm xmlns:a="http://schemas.openxmlformats.org/drawingml/2006/main">
            <a:off x="6477000" y="3514725"/>
            <a:ext cx="5105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Community không còn được bảo trì, phân phối source-only và mang AGPLv3.</a:t>
            </a:r>
          </a:p>
        </p:txBody>
      </p:sp>
      <p:sp>
        <p:nvSpPr>
          <p:cNvPr id="8" name="">
            <a:extLst xmlns:a="http://schemas.openxmlformats.org/drawingml/2006/main">
              <a:ext uri="{FF2B5EF4-FFF2-40B4-BE49-F238E27FC236}">
                <a16:creationId xmlns:a16="http://schemas.microsoft.com/office/drawing/2014/main" id="{541ADDBF-6F02-4FDD-9E28-4D5F5BFB6B30}"/>
              </a:ext>
            </a:extLst>
          </p:cNvPr>
          <p:cNvSpPr>
            <a:spLocks xmlns:a="http://schemas.openxmlformats.org/drawingml/2006/main" noGrp="1"/>
          </p:cNvSpPr>
          <p:nvPr/>
        </p:nvSpPr>
        <p:spPr>
          <a:xfrm xmlns:a="http://schemas.openxmlformats.org/drawingml/2006/main">
            <a:off x="6477000" y="5019675"/>
            <a:ext cx="5105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8D9E8"/>
                </a:solidFill>
                <a:latin typeface="Arial"/>
                <a:ea typeface="Arial"/>
                <a:cs typeface="Arial"/>
              </a:defRPr>
            </a:defPPr>
            <a:lvl1pPr algn="l">
              <a:defRPr sz="2250" b="0">
                <a:solidFill>
                  <a:srgbClr val="58D9E8"/>
                </a:solidFill>
                <a:latin typeface="Arial"/>
                <a:ea typeface="Arial"/>
                <a:cs typeface="Arial"/>
              </a:defRPr>
            </a:lvl1pPr>
            <a:lvl2pPr algn="l">
              <a:defRPr sz="2250" b="0">
                <a:solidFill>
                  <a:srgbClr val="58D9E8"/>
                </a:solidFill>
                <a:latin typeface="Arial"/>
                <a:ea typeface="Arial"/>
                <a:cs typeface="Arial"/>
              </a:defRPr>
            </a:lvl2pPr>
            <a:lvl3pPr algn="l">
              <a:defRPr sz="2250" b="0">
                <a:solidFill>
                  <a:srgbClr val="58D9E8"/>
                </a:solidFill>
                <a:latin typeface="Arial"/>
                <a:ea typeface="Arial"/>
                <a:cs typeface="Arial"/>
              </a:defRPr>
            </a:lvl3pPr>
            <a:lvl4pPr algn="l">
              <a:defRPr sz="2250" b="0">
                <a:solidFill>
                  <a:srgbClr val="58D9E8"/>
                </a:solidFill>
                <a:latin typeface="Arial"/>
                <a:ea typeface="Arial"/>
                <a:cs typeface="Arial"/>
              </a:defRPr>
            </a:lvl4pPr>
            <a:lvl5pPr algn="l">
              <a:defRPr sz="2250" b="0">
                <a:solidFill>
                  <a:srgbClr val="58D9E8"/>
                </a:solidFill>
                <a:latin typeface="Arial"/>
                <a:ea typeface="Arial"/>
                <a:cs typeface="Arial"/>
              </a:defRPr>
            </a:lvl5pPr>
            <a:lvl6pPr algn="l">
              <a:defRPr sz="2250" b="0">
                <a:solidFill>
                  <a:srgbClr val="58D9E8"/>
                </a:solidFill>
                <a:latin typeface="Arial"/>
                <a:ea typeface="Arial"/>
                <a:cs typeface="Arial"/>
              </a:defRPr>
            </a:lvl6pPr>
            <a:lvl7pPr algn="l">
              <a:defRPr sz="2250" b="0">
                <a:solidFill>
                  <a:srgbClr val="58D9E8"/>
                </a:solidFill>
                <a:latin typeface="Arial"/>
                <a:ea typeface="Arial"/>
                <a:cs typeface="Arial"/>
              </a:defRPr>
            </a:lvl7pPr>
            <a:lvl8pPr algn="l">
              <a:defRPr sz="2250" b="0">
                <a:solidFill>
                  <a:srgbClr val="58D9E8"/>
                </a:solidFill>
                <a:latin typeface="Arial"/>
                <a:ea typeface="Arial"/>
                <a:cs typeface="Arial"/>
              </a:defRPr>
            </a:lvl8pPr>
            <a:lvl9pPr algn="l">
              <a:defRPr sz="2250" b="0">
                <a:solidFill>
                  <a:srgbClr val="58D9E8"/>
                </a:solidFill>
                <a:latin typeface="Arial"/>
                <a:ea typeface="Arial"/>
                <a:cs typeface="Arial"/>
              </a:defRPr>
            </a:lvl9pPr>
          </a:lstStyle>
          <a:p xmlns:a="http://schemas.openxmlformats.org/drawingml/2006/main">
            <a:pPr algn="l">
              <a:defRPr sz="2250" b="0">
                <a:solidFill>
                  <a:srgbClr val="58D9E8"/>
                </a:solidFill>
                <a:latin typeface="Arial"/>
                <a:ea typeface="Arial"/>
                <a:cs typeface="Arial"/>
              </a:defRPr>
            </a:pPr>
            <a:r>
              <a:rPr sz="2250" b="0">
                <a:solidFill>
                  <a:srgbClr val="58D9E8"/>
                </a:solidFill>
                <a:latin typeface="Arial"/>
                <a:ea typeface="Arial"/>
                <a:cs typeface="Arial"/>
              </a:rPr>
              <a:t>Dùng bản cố định cho lab cô lập. Production cần nền tảng còn hỗ trợ.</a:t>
            </a:r>
          </a:p>
        </p:txBody>
      </p:sp>
      <p:sp>
        <p:nvSpPr>
          <p:cNvPr id="9" name="">
            <a:extLst xmlns:a="http://schemas.openxmlformats.org/drawingml/2006/main">
              <a:ext uri="{FF2B5EF4-FFF2-40B4-BE49-F238E27FC236}">
                <a16:creationId xmlns:a16="http://schemas.microsoft.com/office/drawing/2014/main" id="{238FC648-4A34-4731-A43F-B2AF987E7F25}"/>
              </a:ext>
            </a:extLst>
          </p:cNvPr>
          <p:cNvSpPr>
            <a:spLocks xmlns:a="http://schemas.openxmlformats.org/drawingml/2006/main" noGrp="1"/>
          </p:cNvSpPr>
          <p:nvPr/>
        </p:nvSpPr>
        <p:spPr>
          <a:xfrm xmlns:a="http://schemas.openxmlformats.org/drawingml/2006/main">
            <a:off x="609600" y="5314950"/>
            <a:ext cx="52673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Tương thích S3 theo tập API và phiên bản đã kiểm thử.</a:t>
            </a:r>
          </a:p>
        </p:txBody>
      </p:sp>
    </p:spTree>
    <p:extLst>
      <p:ext uri="{BB962C8B-B14F-4D97-AF65-F5344CB8AC3E}">
        <p14:creationId xmlns:p14="http://schemas.microsoft.com/office/powerpoint/2010/main" val="698067383"/>
      </p:ext>
    </p:extLst>
  </p:cSld>
</p:sld>
</file>

<file path=ppt/slides/slide1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0C2185-9E1E-4BFB-8193-B8F6DE7C6CE3}"/>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BB78DA4E-65B0-4AC4-96D4-4976AC89C85D}"/>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Bài toán thực nghiệm</a:t>
            </a:r>
          </a:p>
        </p:txBody>
      </p:sp>
      <p:sp>
        <p:nvSpPr>
          <p:cNvPr id="3" name="">
            <a:extLst xmlns:a="http://schemas.openxmlformats.org/drawingml/2006/main">
              <a:ext uri="{FF2B5EF4-FFF2-40B4-BE49-F238E27FC236}">
                <a16:creationId xmlns:a16="http://schemas.microsoft.com/office/drawing/2014/main" id="{6D1C1EF3-8B13-4B62-9163-5D68A94F4587}"/>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EE5A471A-2F9A-4E95-A9E9-3DCB908461DB}"/>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37B96ADE-AF3F-4645-9B2F-213AE20C0079}"/>
              </a:ext>
            </a:extLst>
          </p:cNvPr>
          <p:cNvSpPr>
            <a:spLocks xmlns:a="http://schemas.openxmlformats.org/drawingml/2006/main" noGrp="1"/>
          </p:cNvSpPr>
          <p:nvPr/>
        </p:nvSpPr>
        <p:spPr>
          <a:xfrm xmlns:a="http://schemas.openxmlformats.org/drawingml/2006/main">
            <a:off x="609600" y="22002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B75B4B"/>
                </a:solidFill>
                <a:latin typeface="Arial"/>
                <a:ea typeface="Arial"/>
                <a:cs typeface="Arial"/>
              </a:defRPr>
            </a:defPPr>
            <a:lvl1pPr algn="l">
              <a:defRPr sz="3225" b="1">
                <a:solidFill>
                  <a:srgbClr val="B75B4B"/>
                </a:solidFill>
                <a:latin typeface="Arial"/>
                <a:ea typeface="Arial"/>
                <a:cs typeface="Arial"/>
              </a:defRPr>
            </a:lvl1pPr>
            <a:lvl2pPr algn="l">
              <a:defRPr sz="3225" b="1">
                <a:solidFill>
                  <a:srgbClr val="B75B4B"/>
                </a:solidFill>
                <a:latin typeface="Arial"/>
                <a:ea typeface="Arial"/>
                <a:cs typeface="Arial"/>
              </a:defRPr>
            </a:lvl2pPr>
            <a:lvl3pPr algn="l">
              <a:defRPr sz="3225" b="1">
                <a:solidFill>
                  <a:srgbClr val="B75B4B"/>
                </a:solidFill>
                <a:latin typeface="Arial"/>
                <a:ea typeface="Arial"/>
                <a:cs typeface="Arial"/>
              </a:defRPr>
            </a:lvl3pPr>
            <a:lvl4pPr algn="l">
              <a:defRPr sz="3225" b="1">
                <a:solidFill>
                  <a:srgbClr val="B75B4B"/>
                </a:solidFill>
                <a:latin typeface="Arial"/>
                <a:ea typeface="Arial"/>
                <a:cs typeface="Arial"/>
              </a:defRPr>
            </a:lvl4pPr>
            <a:lvl5pPr algn="l">
              <a:defRPr sz="3225" b="1">
                <a:solidFill>
                  <a:srgbClr val="B75B4B"/>
                </a:solidFill>
                <a:latin typeface="Arial"/>
                <a:ea typeface="Arial"/>
                <a:cs typeface="Arial"/>
              </a:defRPr>
            </a:lvl5pPr>
            <a:lvl6pPr algn="l">
              <a:defRPr sz="3225" b="1">
                <a:solidFill>
                  <a:srgbClr val="B75B4B"/>
                </a:solidFill>
                <a:latin typeface="Arial"/>
                <a:ea typeface="Arial"/>
                <a:cs typeface="Arial"/>
              </a:defRPr>
            </a:lvl6pPr>
            <a:lvl7pPr algn="l">
              <a:defRPr sz="3225" b="1">
                <a:solidFill>
                  <a:srgbClr val="B75B4B"/>
                </a:solidFill>
                <a:latin typeface="Arial"/>
                <a:ea typeface="Arial"/>
                <a:cs typeface="Arial"/>
              </a:defRPr>
            </a:lvl7pPr>
            <a:lvl8pPr algn="l">
              <a:defRPr sz="3225" b="1">
                <a:solidFill>
                  <a:srgbClr val="B75B4B"/>
                </a:solidFill>
                <a:latin typeface="Arial"/>
                <a:ea typeface="Arial"/>
                <a:cs typeface="Arial"/>
              </a:defRPr>
            </a:lvl8pPr>
            <a:lvl9pPr algn="l">
              <a:defRPr sz="3225" b="1">
                <a:solidFill>
                  <a:srgbClr val="B75B4B"/>
                </a:solidFill>
                <a:latin typeface="Arial"/>
                <a:ea typeface="Arial"/>
                <a:cs typeface="Arial"/>
              </a:defRPr>
            </a:lvl9pPr>
          </a:lstStyle>
          <a:p xmlns:a="http://schemas.openxmlformats.org/drawingml/2006/main">
            <a:pPr algn="l">
              <a:defRPr sz="3225" b="1">
                <a:solidFill>
                  <a:srgbClr val="B75B4B"/>
                </a:solidFill>
                <a:latin typeface="Arial"/>
                <a:ea typeface="Arial"/>
                <a:cs typeface="Arial"/>
              </a:defRPr>
            </a:pPr>
            <a:r>
              <a:rPr sz="3225" b="1">
                <a:solidFill>
                  <a:srgbClr val="B75B4B"/>
                </a:solidFill>
                <a:latin typeface="Arial"/>
                <a:ea typeface="Arial"/>
                <a:cs typeface="Arial"/>
              </a:rPr>
              <a:t>Backend trung chuyển</a:t>
            </a:r>
          </a:p>
        </p:txBody>
      </p:sp>
      <p:sp>
        <p:nvSpPr>
          <p:cNvPr id="6" name="">
            <a:extLst xmlns:a="http://schemas.openxmlformats.org/drawingml/2006/main">
              <a:ext uri="{FF2B5EF4-FFF2-40B4-BE49-F238E27FC236}">
                <a16:creationId xmlns:a16="http://schemas.microsoft.com/office/drawing/2014/main" id="{3680B3BA-427C-45EF-BE1C-8374A1419AE9}"/>
              </a:ext>
            </a:extLst>
          </p:cNvPr>
          <p:cNvSpPr>
            <a:spLocks xmlns:a="http://schemas.openxmlformats.org/drawingml/2006/main" noGrp="1"/>
          </p:cNvSpPr>
          <p:nvPr/>
        </p:nvSpPr>
        <p:spPr>
          <a:xfrm xmlns:a="http://schemas.openxmlformats.org/drawingml/2006/main">
            <a:off x="609600" y="3448050"/>
            <a:ext cx="4953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3A4C"/>
                </a:solidFill>
                <a:latin typeface="Arial"/>
                <a:ea typeface="Arial"/>
                <a:cs typeface="Arial"/>
              </a:defRPr>
            </a:defPPr>
            <a:lvl1pPr algn="l">
              <a:defRPr sz="2400" b="0">
                <a:solidFill>
                  <a:srgbClr val="163A4C"/>
                </a:solidFill>
                <a:latin typeface="Arial"/>
                <a:ea typeface="Arial"/>
                <a:cs typeface="Arial"/>
              </a:defRPr>
            </a:lvl1pPr>
            <a:lvl2pPr algn="l">
              <a:defRPr sz="2400" b="0">
                <a:solidFill>
                  <a:srgbClr val="163A4C"/>
                </a:solidFill>
                <a:latin typeface="Arial"/>
                <a:ea typeface="Arial"/>
                <a:cs typeface="Arial"/>
              </a:defRPr>
            </a:lvl2pPr>
            <a:lvl3pPr algn="l">
              <a:defRPr sz="2400" b="0">
                <a:solidFill>
                  <a:srgbClr val="163A4C"/>
                </a:solidFill>
                <a:latin typeface="Arial"/>
                <a:ea typeface="Arial"/>
                <a:cs typeface="Arial"/>
              </a:defRPr>
            </a:lvl3pPr>
            <a:lvl4pPr algn="l">
              <a:defRPr sz="2400" b="0">
                <a:solidFill>
                  <a:srgbClr val="163A4C"/>
                </a:solidFill>
                <a:latin typeface="Arial"/>
                <a:ea typeface="Arial"/>
                <a:cs typeface="Arial"/>
              </a:defRPr>
            </a:lvl4pPr>
            <a:lvl5pPr algn="l">
              <a:defRPr sz="2400" b="0">
                <a:solidFill>
                  <a:srgbClr val="163A4C"/>
                </a:solidFill>
                <a:latin typeface="Arial"/>
                <a:ea typeface="Arial"/>
                <a:cs typeface="Arial"/>
              </a:defRPr>
            </a:lvl5pPr>
            <a:lvl6pPr algn="l">
              <a:defRPr sz="2400" b="0">
                <a:solidFill>
                  <a:srgbClr val="163A4C"/>
                </a:solidFill>
                <a:latin typeface="Arial"/>
                <a:ea typeface="Arial"/>
                <a:cs typeface="Arial"/>
              </a:defRPr>
            </a:lvl6pPr>
            <a:lvl7pPr algn="l">
              <a:defRPr sz="2400" b="0">
                <a:solidFill>
                  <a:srgbClr val="163A4C"/>
                </a:solidFill>
                <a:latin typeface="Arial"/>
                <a:ea typeface="Arial"/>
                <a:cs typeface="Arial"/>
              </a:defRPr>
            </a:lvl7pPr>
            <a:lvl8pPr algn="l">
              <a:defRPr sz="2400" b="0">
                <a:solidFill>
                  <a:srgbClr val="163A4C"/>
                </a:solidFill>
                <a:latin typeface="Arial"/>
                <a:ea typeface="Arial"/>
                <a:cs typeface="Arial"/>
              </a:defRPr>
            </a:lvl8pPr>
            <a:lvl9pPr algn="l">
              <a:defRPr sz="2400" b="0">
                <a:solidFill>
                  <a:srgbClr val="163A4C"/>
                </a:solidFill>
                <a:latin typeface="Arial"/>
                <a:ea typeface="Arial"/>
                <a:cs typeface="Arial"/>
              </a:defRPr>
            </a:lvl9pPr>
          </a:lstStyle>
          <a:p xmlns:a="http://schemas.openxmlformats.org/drawingml/2006/main">
            <a:pPr algn="l">
              <a:defRPr sz="2400" b="0">
                <a:solidFill>
                  <a:srgbClr val="163A4C"/>
                </a:solidFill>
                <a:latin typeface="Arial"/>
                <a:ea typeface="Arial"/>
                <a:cs typeface="Arial"/>
              </a:defRPr>
            </a:pPr>
            <a:r>
              <a:rPr sz="2400" b="0">
                <a:solidFill>
                  <a:srgbClr val="163A4C"/>
                </a:solidFill>
                <a:latin typeface="Arial"/>
                <a:ea typeface="Arial"/>
                <a:cs typeface="Arial"/>
              </a:rPr>
              <a:t>Client gửi nội dung qua máy chủ ứng dụng rồi mới tới object storage.</a:t>
            </a:r>
          </a:p>
        </p:txBody>
      </p:sp>
      <p:sp>
        <p:nvSpPr>
          <p:cNvPr id="7" name="">
            <a:extLst xmlns:a="http://schemas.openxmlformats.org/drawingml/2006/main">
              <a:ext uri="{FF2B5EF4-FFF2-40B4-BE49-F238E27FC236}">
                <a16:creationId xmlns:a16="http://schemas.microsoft.com/office/drawing/2014/main" id="{BD681207-A0C9-4E66-AA43-658837BABB8C}"/>
              </a:ext>
            </a:extLst>
          </p:cNvPr>
          <p:cNvSpPr>
            <a:spLocks xmlns:a="http://schemas.openxmlformats.org/drawingml/2006/main" noGrp="1"/>
          </p:cNvSpPr>
          <p:nvPr/>
        </p:nvSpPr>
        <p:spPr>
          <a:xfrm xmlns:a="http://schemas.openxmlformats.org/drawingml/2006/main">
            <a:off x="609600" y="52768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57C88"/>
                </a:solidFill>
                <a:latin typeface="Arial"/>
                <a:ea typeface="Arial"/>
                <a:cs typeface="Arial"/>
              </a:defRPr>
            </a:defPPr>
            <a:lvl1pPr algn="l">
              <a:defRPr sz="2175" b="0">
                <a:solidFill>
                  <a:srgbClr val="657C88"/>
                </a:solidFill>
                <a:latin typeface="Arial"/>
                <a:ea typeface="Arial"/>
                <a:cs typeface="Arial"/>
              </a:defRPr>
            </a:lvl1pPr>
            <a:lvl2pPr algn="l">
              <a:defRPr sz="2175" b="0">
                <a:solidFill>
                  <a:srgbClr val="657C88"/>
                </a:solidFill>
                <a:latin typeface="Arial"/>
                <a:ea typeface="Arial"/>
                <a:cs typeface="Arial"/>
              </a:defRPr>
            </a:lvl2pPr>
            <a:lvl3pPr algn="l">
              <a:defRPr sz="2175" b="0">
                <a:solidFill>
                  <a:srgbClr val="657C88"/>
                </a:solidFill>
                <a:latin typeface="Arial"/>
                <a:ea typeface="Arial"/>
                <a:cs typeface="Arial"/>
              </a:defRPr>
            </a:lvl3pPr>
            <a:lvl4pPr algn="l">
              <a:defRPr sz="2175" b="0">
                <a:solidFill>
                  <a:srgbClr val="657C88"/>
                </a:solidFill>
                <a:latin typeface="Arial"/>
                <a:ea typeface="Arial"/>
                <a:cs typeface="Arial"/>
              </a:defRPr>
            </a:lvl4pPr>
            <a:lvl5pPr algn="l">
              <a:defRPr sz="2175" b="0">
                <a:solidFill>
                  <a:srgbClr val="657C88"/>
                </a:solidFill>
                <a:latin typeface="Arial"/>
                <a:ea typeface="Arial"/>
                <a:cs typeface="Arial"/>
              </a:defRPr>
            </a:lvl5pPr>
            <a:lvl6pPr algn="l">
              <a:defRPr sz="2175" b="0">
                <a:solidFill>
                  <a:srgbClr val="657C88"/>
                </a:solidFill>
                <a:latin typeface="Arial"/>
                <a:ea typeface="Arial"/>
                <a:cs typeface="Arial"/>
              </a:defRPr>
            </a:lvl6pPr>
            <a:lvl7pPr algn="l">
              <a:defRPr sz="2175" b="0">
                <a:solidFill>
                  <a:srgbClr val="657C88"/>
                </a:solidFill>
                <a:latin typeface="Arial"/>
                <a:ea typeface="Arial"/>
                <a:cs typeface="Arial"/>
              </a:defRPr>
            </a:lvl7pPr>
            <a:lvl8pPr algn="l">
              <a:defRPr sz="2175" b="0">
                <a:solidFill>
                  <a:srgbClr val="657C88"/>
                </a:solidFill>
                <a:latin typeface="Arial"/>
                <a:ea typeface="Arial"/>
                <a:cs typeface="Arial"/>
              </a:defRPr>
            </a:lvl8pPr>
            <a:lvl9pPr algn="l">
              <a:defRPr sz="2175" b="0">
                <a:solidFill>
                  <a:srgbClr val="657C88"/>
                </a:solidFill>
                <a:latin typeface="Arial"/>
                <a:ea typeface="Arial"/>
                <a:cs typeface="Arial"/>
              </a:defRPr>
            </a:lvl9pPr>
          </a:lstStyle>
          <a:p xmlns:a="http://schemas.openxmlformats.org/drawingml/2006/main">
            <a:pPr algn="l">
              <a:defRPr sz="2175" b="0">
                <a:solidFill>
                  <a:srgbClr val="657C88"/>
                </a:solidFill>
                <a:latin typeface="Arial"/>
                <a:ea typeface="Arial"/>
                <a:cs typeface="Arial"/>
              </a:defRPr>
            </a:pPr>
            <a:r>
              <a:rPr sz="2175" b="0">
                <a:solidFill>
                  <a:srgbClr val="657C88"/>
                </a:solidFill>
                <a:latin typeface="Arial"/>
                <a:ea typeface="Arial"/>
                <a:cs typeface="Arial"/>
              </a:rPr>
              <a:t>Tệp lớn làm backend gánh thêm lưu lượng payload.</a:t>
            </a:r>
          </a:p>
        </p:txBody>
      </p:sp>
      <p:sp>
        <p:nvSpPr>
          <p:cNvPr id="8" name="">
            <a:extLst xmlns:a="http://schemas.openxmlformats.org/drawingml/2006/main">
              <a:ext uri="{FF2B5EF4-FFF2-40B4-BE49-F238E27FC236}">
                <a16:creationId xmlns:a16="http://schemas.microsoft.com/office/drawing/2014/main" id="{1EA6C7AC-1D5E-49BA-AD3E-0CDD2ACEF57D}"/>
              </a:ext>
            </a:extLst>
          </p:cNvPr>
          <p:cNvSpPr>
            <a:spLocks xmlns:a="http://schemas.openxmlformats.org/drawingml/2006/main" noGrp="1"/>
          </p:cNvSpPr>
          <p:nvPr/>
        </p:nvSpPr>
        <p:spPr>
          <a:xfrm xmlns:a="http://schemas.openxmlformats.org/drawingml/2006/main">
            <a:off x="6477000" y="2200275"/>
            <a:ext cx="5105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75D68"/>
                </a:solidFill>
                <a:latin typeface="Arial"/>
                <a:ea typeface="Arial"/>
                <a:cs typeface="Arial"/>
              </a:defRPr>
            </a:defPPr>
            <a:lvl1pPr algn="l">
              <a:defRPr sz="3225" b="1">
                <a:solidFill>
                  <a:srgbClr val="075D68"/>
                </a:solidFill>
                <a:latin typeface="Arial"/>
                <a:ea typeface="Arial"/>
                <a:cs typeface="Arial"/>
              </a:defRPr>
            </a:lvl1pPr>
            <a:lvl2pPr algn="l">
              <a:defRPr sz="3225" b="1">
                <a:solidFill>
                  <a:srgbClr val="075D68"/>
                </a:solidFill>
                <a:latin typeface="Arial"/>
                <a:ea typeface="Arial"/>
                <a:cs typeface="Arial"/>
              </a:defRPr>
            </a:lvl2pPr>
            <a:lvl3pPr algn="l">
              <a:defRPr sz="3225" b="1">
                <a:solidFill>
                  <a:srgbClr val="075D68"/>
                </a:solidFill>
                <a:latin typeface="Arial"/>
                <a:ea typeface="Arial"/>
                <a:cs typeface="Arial"/>
              </a:defRPr>
            </a:lvl3pPr>
            <a:lvl4pPr algn="l">
              <a:defRPr sz="3225" b="1">
                <a:solidFill>
                  <a:srgbClr val="075D68"/>
                </a:solidFill>
                <a:latin typeface="Arial"/>
                <a:ea typeface="Arial"/>
                <a:cs typeface="Arial"/>
              </a:defRPr>
            </a:lvl4pPr>
            <a:lvl5pPr algn="l">
              <a:defRPr sz="3225" b="1">
                <a:solidFill>
                  <a:srgbClr val="075D68"/>
                </a:solidFill>
                <a:latin typeface="Arial"/>
                <a:ea typeface="Arial"/>
                <a:cs typeface="Arial"/>
              </a:defRPr>
            </a:lvl5pPr>
            <a:lvl6pPr algn="l">
              <a:defRPr sz="3225" b="1">
                <a:solidFill>
                  <a:srgbClr val="075D68"/>
                </a:solidFill>
                <a:latin typeface="Arial"/>
                <a:ea typeface="Arial"/>
                <a:cs typeface="Arial"/>
              </a:defRPr>
            </a:lvl6pPr>
            <a:lvl7pPr algn="l">
              <a:defRPr sz="3225" b="1">
                <a:solidFill>
                  <a:srgbClr val="075D68"/>
                </a:solidFill>
                <a:latin typeface="Arial"/>
                <a:ea typeface="Arial"/>
                <a:cs typeface="Arial"/>
              </a:defRPr>
            </a:lvl7pPr>
            <a:lvl8pPr algn="l">
              <a:defRPr sz="3225" b="1">
                <a:solidFill>
                  <a:srgbClr val="075D68"/>
                </a:solidFill>
                <a:latin typeface="Arial"/>
                <a:ea typeface="Arial"/>
                <a:cs typeface="Arial"/>
              </a:defRPr>
            </a:lvl8pPr>
            <a:lvl9pPr algn="l">
              <a:defRPr sz="3225" b="1">
                <a:solidFill>
                  <a:srgbClr val="075D68"/>
                </a:solidFill>
                <a:latin typeface="Arial"/>
                <a:ea typeface="Arial"/>
                <a:cs typeface="Arial"/>
              </a:defRPr>
            </a:lvl9pPr>
          </a:lstStyle>
          <a:p xmlns:a="http://schemas.openxmlformats.org/drawingml/2006/main">
            <a:pPr algn="l">
              <a:defRPr sz="3225" b="1">
                <a:solidFill>
                  <a:srgbClr val="075D68"/>
                </a:solidFill>
                <a:latin typeface="Arial"/>
                <a:ea typeface="Arial"/>
                <a:cs typeface="Arial"/>
              </a:defRPr>
            </a:pPr>
            <a:r>
              <a:rPr sz="3225" b="1">
                <a:solidFill>
                  <a:srgbClr val="075D68"/>
                </a:solidFill>
                <a:latin typeface="Arial"/>
                <a:ea typeface="Arial"/>
                <a:cs typeface="Arial"/>
              </a:rPr>
              <a:t>Direct storage</a:t>
            </a:r>
          </a:p>
        </p:txBody>
      </p:sp>
      <p:sp>
        <p:nvSpPr>
          <p:cNvPr id="9" name="">
            <a:extLst xmlns:a="http://schemas.openxmlformats.org/drawingml/2006/main">
              <a:ext uri="{FF2B5EF4-FFF2-40B4-BE49-F238E27FC236}">
                <a16:creationId xmlns:a16="http://schemas.microsoft.com/office/drawing/2014/main" id="{C4FABA2B-273A-4CB0-B16B-AE35FED2E114}"/>
              </a:ext>
            </a:extLst>
          </p:cNvPr>
          <p:cNvSpPr>
            <a:spLocks xmlns:a="http://schemas.openxmlformats.org/drawingml/2006/main" noGrp="1"/>
          </p:cNvSpPr>
          <p:nvPr/>
        </p:nvSpPr>
        <p:spPr>
          <a:xfrm xmlns:a="http://schemas.openxmlformats.org/drawingml/2006/main">
            <a:off x="6477000" y="3448050"/>
            <a:ext cx="5105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3A4C"/>
                </a:solidFill>
                <a:latin typeface="Arial"/>
                <a:ea typeface="Arial"/>
                <a:cs typeface="Arial"/>
              </a:defRPr>
            </a:defPPr>
            <a:lvl1pPr algn="l">
              <a:defRPr sz="2400" b="0">
                <a:solidFill>
                  <a:srgbClr val="163A4C"/>
                </a:solidFill>
                <a:latin typeface="Arial"/>
                <a:ea typeface="Arial"/>
                <a:cs typeface="Arial"/>
              </a:defRPr>
            </a:lvl1pPr>
            <a:lvl2pPr algn="l">
              <a:defRPr sz="2400" b="0">
                <a:solidFill>
                  <a:srgbClr val="163A4C"/>
                </a:solidFill>
                <a:latin typeface="Arial"/>
                <a:ea typeface="Arial"/>
                <a:cs typeface="Arial"/>
              </a:defRPr>
            </a:lvl2pPr>
            <a:lvl3pPr algn="l">
              <a:defRPr sz="2400" b="0">
                <a:solidFill>
                  <a:srgbClr val="163A4C"/>
                </a:solidFill>
                <a:latin typeface="Arial"/>
                <a:ea typeface="Arial"/>
                <a:cs typeface="Arial"/>
              </a:defRPr>
            </a:lvl3pPr>
            <a:lvl4pPr algn="l">
              <a:defRPr sz="2400" b="0">
                <a:solidFill>
                  <a:srgbClr val="163A4C"/>
                </a:solidFill>
                <a:latin typeface="Arial"/>
                <a:ea typeface="Arial"/>
                <a:cs typeface="Arial"/>
              </a:defRPr>
            </a:lvl4pPr>
            <a:lvl5pPr algn="l">
              <a:defRPr sz="2400" b="0">
                <a:solidFill>
                  <a:srgbClr val="163A4C"/>
                </a:solidFill>
                <a:latin typeface="Arial"/>
                <a:ea typeface="Arial"/>
                <a:cs typeface="Arial"/>
              </a:defRPr>
            </a:lvl5pPr>
            <a:lvl6pPr algn="l">
              <a:defRPr sz="2400" b="0">
                <a:solidFill>
                  <a:srgbClr val="163A4C"/>
                </a:solidFill>
                <a:latin typeface="Arial"/>
                <a:ea typeface="Arial"/>
                <a:cs typeface="Arial"/>
              </a:defRPr>
            </a:lvl6pPr>
            <a:lvl7pPr algn="l">
              <a:defRPr sz="2400" b="0">
                <a:solidFill>
                  <a:srgbClr val="163A4C"/>
                </a:solidFill>
                <a:latin typeface="Arial"/>
                <a:ea typeface="Arial"/>
                <a:cs typeface="Arial"/>
              </a:defRPr>
            </a:lvl7pPr>
            <a:lvl8pPr algn="l">
              <a:defRPr sz="2400" b="0">
                <a:solidFill>
                  <a:srgbClr val="163A4C"/>
                </a:solidFill>
                <a:latin typeface="Arial"/>
                <a:ea typeface="Arial"/>
                <a:cs typeface="Arial"/>
              </a:defRPr>
            </a:lvl8pPr>
            <a:lvl9pPr algn="l">
              <a:defRPr sz="2400" b="0">
                <a:solidFill>
                  <a:srgbClr val="163A4C"/>
                </a:solidFill>
                <a:latin typeface="Arial"/>
                <a:ea typeface="Arial"/>
                <a:cs typeface="Arial"/>
              </a:defRPr>
            </a:lvl9pPr>
          </a:lstStyle>
          <a:p xmlns:a="http://schemas.openxmlformats.org/drawingml/2006/main">
            <a:pPr algn="l">
              <a:defRPr sz="2400" b="0">
                <a:solidFill>
                  <a:srgbClr val="163A4C"/>
                </a:solidFill>
                <a:latin typeface="Arial"/>
                <a:ea typeface="Arial"/>
                <a:cs typeface="Arial"/>
              </a:defRPr>
            </a:pPr>
            <a:r>
              <a:rPr sz="2400" b="0">
                <a:solidFill>
                  <a:srgbClr val="163A4C"/>
                </a:solidFill>
                <a:latin typeface="Arial"/>
                <a:ea typeface="Arial"/>
                <a:cs typeface="Arial"/>
              </a:rPr>
              <a:t>Backend cấp quyền. Client truyền object bytes trực tiếp với storage.</a:t>
            </a:r>
          </a:p>
        </p:txBody>
      </p:sp>
      <p:sp>
        <p:nvSpPr>
          <p:cNvPr id="10" name="">
            <a:extLst xmlns:a="http://schemas.openxmlformats.org/drawingml/2006/main">
              <a:ext uri="{FF2B5EF4-FFF2-40B4-BE49-F238E27FC236}">
                <a16:creationId xmlns:a16="http://schemas.microsoft.com/office/drawing/2014/main" id="{181D775D-A992-46DA-81D1-E42655C3823A}"/>
              </a:ext>
            </a:extLst>
          </p:cNvPr>
          <p:cNvSpPr>
            <a:spLocks xmlns:a="http://schemas.openxmlformats.org/drawingml/2006/main" noGrp="1"/>
          </p:cNvSpPr>
          <p:nvPr/>
        </p:nvSpPr>
        <p:spPr>
          <a:xfrm xmlns:a="http://schemas.openxmlformats.org/drawingml/2006/main">
            <a:off x="6477000" y="5276850"/>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75D68"/>
                </a:solidFill>
                <a:latin typeface="Arial"/>
                <a:ea typeface="Arial"/>
                <a:cs typeface="Arial"/>
              </a:defRPr>
            </a:defPPr>
            <a:lvl1pPr algn="l">
              <a:defRPr sz="2175" b="1">
                <a:solidFill>
                  <a:srgbClr val="075D68"/>
                </a:solidFill>
                <a:latin typeface="Arial"/>
                <a:ea typeface="Arial"/>
                <a:cs typeface="Arial"/>
              </a:defRPr>
            </a:lvl1pPr>
            <a:lvl2pPr algn="l">
              <a:defRPr sz="2175" b="1">
                <a:solidFill>
                  <a:srgbClr val="075D68"/>
                </a:solidFill>
                <a:latin typeface="Arial"/>
                <a:ea typeface="Arial"/>
                <a:cs typeface="Arial"/>
              </a:defRPr>
            </a:lvl2pPr>
            <a:lvl3pPr algn="l">
              <a:defRPr sz="2175" b="1">
                <a:solidFill>
                  <a:srgbClr val="075D68"/>
                </a:solidFill>
                <a:latin typeface="Arial"/>
                <a:ea typeface="Arial"/>
                <a:cs typeface="Arial"/>
              </a:defRPr>
            </a:lvl3pPr>
            <a:lvl4pPr algn="l">
              <a:defRPr sz="2175" b="1">
                <a:solidFill>
                  <a:srgbClr val="075D68"/>
                </a:solidFill>
                <a:latin typeface="Arial"/>
                <a:ea typeface="Arial"/>
                <a:cs typeface="Arial"/>
              </a:defRPr>
            </a:lvl4pPr>
            <a:lvl5pPr algn="l">
              <a:defRPr sz="2175" b="1">
                <a:solidFill>
                  <a:srgbClr val="075D68"/>
                </a:solidFill>
                <a:latin typeface="Arial"/>
                <a:ea typeface="Arial"/>
                <a:cs typeface="Arial"/>
              </a:defRPr>
            </a:lvl5pPr>
            <a:lvl6pPr algn="l">
              <a:defRPr sz="2175" b="1">
                <a:solidFill>
                  <a:srgbClr val="075D68"/>
                </a:solidFill>
                <a:latin typeface="Arial"/>
                <a:ea typeface="Arial"/>
                <a:cs typeface="Arial"/>
              </a:defRPr>
            </a:lvl6pPr>
            <a:lvl7pPr algn="l">
              <a:defRPr sz="2175" b="1">
                <a:solidFill>
                  <a:srgbClr val="075D68"/>
                </a:solidFill>
                <a:latin typeface="Arial"/>
                <a:ea typeface="Arial"/>
                <a:cs typeface="Arial"/>
              </a:defRPr>
            </a:lvl7pPr>
            <a:lvl8pPr algn="l">
              <a:defRPr sz="2175" b="1">
                <a:solidFill>
                  <a:srgbClr val="075D68"/>
                </a:solidFill>
                <a:latin typeface="Arial"/>
                <a:ea typeface="Arial"/>
                <a:cs typeface="Arial"/>
              </a:defRPr>
            </a:lvl8pPr>
            <a:lvl9pPr algn="l">
              <a:defRPr sz="2175" b="1">
                <a:solidFill>
                  <a:srgbClr val="075D68"/>
                </a:solidFill>
                <a:latin typeface="Arial"/>
                <a:ea typeface="Arial"/>
                <a:cs typeface="Arial"/>
              </a:defRPr>
            </a:lvl9pPr>
          </a:lstStyle>
          <a:p xmlns:a="http://schemas.openxmlformats.org/drawingml/2006/main">
            <a:pPr algn="l">
              <a:defRPr sz="2175" b="1">
                <a:solidFill>
                  <a:srgbClr val="075D68"/>
                </a:solidFill>
                <a:latin typeface="Arial"/>
                <a:ea typeface="Arial"/>
                <a:cs typeface="Arial"/>
              </a:defRPr>
            </a:pPr>
            <a:r>
              <a:rPr sz="2175" b="1">
                <a:solidFill>
                  <a:srgbClr val="075D68"/>
                </a:solidFill>
                <a:latin typeface="Arial"/>
                <a:ea typeface="Arial"/>
                <a:cs typeface="Arial"/>
              </a:rPr>
              <a:t>N11 Vault kiểm chứng quyền riêng tư và khôi phục tài liệu.</a:t>
            </a:r>
          </a:p>
        </p:txBody>
      </p:sp>
    </p:spTree>
    <p:extLst>
      <p:ext uri="{BB962C8B-B14F-4D97-AF65-F5344CB8AC3E}">
        <p14:creationId xmlns:p14="http://schemas.microsoft.com/office/powerpoint/2010/main" val="607161140"/>
      </p:ext>
    </p:extLst>
  </p:cSld>
</p:sld>
</file>

<file path=ppt/slides/slide19.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CB2DA3B6-4315-4478-A9FE-1AB87E4CA756}"/>
              </a:ext>
            </a:extLst>
          </p:cNvPr>
          <p:cNvCxnSpPr>
            <a:stCxn xmlns:a="http://schemas.openxmlformats.org/drawingml/2006/main" id="6" idx="2"/>
            <a:endCxn xmlns:a="http://schemas.openxmlformats.org/drawingml/2006/main" id="12" idx="0"/>
          </p:cNvCxnSpPr>
          <p:nvPr/>
        </p:nvCxnSpPr>
        <p:spPr>
          <a:xfrm xmlns:a="http://schemas.openxmlformats.org/drawingml/2006/main">
            <a:off x="6096000" y="3276600"/>
            <a:ext cx="0" cy="1038225"/>
          </a:xfrm>
          <a:prstGeom xmlns:a="http://schemas.openxmlformats.org/drawingml/2006/main" prst="straightConnector1">
            <a:avLst/>
          </a:prstGeom>
          <a:ln xmlns:a="http://schemas.openxmlformats.org/drawingml/2006/main" w="19050">
            <a:solidFill>
              <a:srgbClr val="DCEBED"/>
            </a:solidFill>
            <a:headEnd type="triangle" w="med" len="med"/>
            <a:tailEnd type="triangle" w="med" len="med"/>
          </a:ln>
        </p:spPr>
      </p:cxnSp>
      <p:cxnSp>
        <p:nvCxnSpPr>
          <p:cNvPr id="10" name="">
            <a:extLst xmlns:a="http://schemas.openxmlformats.org/drawingml/2006/main">
              <a:ext uri="{FF2B5EF4-FFF2-40B4-BE49-F238E27FC236}">
                <a16:creationId xmlns:a16="http://schemas.microsoft.com/office/drawing/2014/main" id="{A971E182-578A-47BD-B0F2-4FBA17E59338}"/>
              </a:ext>
            </a:extLst>
          </p:cNvPr>
          <p:cNvCxnSpPr>
            <a:stCxn xmlns:a="http://schemas.openxmlformats.org/drawingml/2006/main" id="6" idx="3"/>
            <a:endCxn xmlns:a="http://schemas.openxmlformats.org/drawingml/2006/main" id="7" idx="1"/>
          </p:cNvCxnSpPr>
          <p:nvPr/>
        </p:nvCxnSpPr>
        <p:spPr>
          <a:xfrm xmlns:a="http://schemas.openxmlformats.org/drawingml/2006/main">
            <a:off x="7429500" y="2762250"/>
            <a:ext cx="1485900" cy="0"/>
          </a:xfrm>
          <a:prstGeom xmlns:a="http://schemas.openxmlformats.org/drawingml/2006/main" prst="straightConnector1">
            <a:avLst/>
          </a:prstGeom>
          <a:ln xmlns:a="http://schemas.openxmlformats.org/drawingml/2006/main" w="14288">
            <a:solidFill>
              <a:srgbClr val="DCEBED"/>
            </a:solidFill>
            <a:headEnd type="triangle" w="med" len="med"/>
            <a:tailEnd type="triangle" w="med" len="med"/>
          </a:ln>
        </p:spPr>
      </p:cxnSp>
      <p:cxnSp>
        <p:nvCxnSpPr>
          <p:cNvPr id="8" name="">
            <a:extLst xmlns:a="http://schemas.openxmlformats.org/drawingml/2006/main">
              <a:ext uri="{FF2B5EF4-FFF2-40B4-BE49-F238E27FC236}">
                <a16:creationId xmlns:a16="http://schemas.microsoft.com/office/drawing/2014/main" id="{6A424947-9203-461C-B61B-B4FFC0140C05}"/>
              </a:ext>
            </a:extLst>
          </p:cNvPr>
          <p:cNvCxnSpPr>
            <a:stCxn xmlns:a="http://schemas.openxmlformats.org/drawingml/2006/main" id="5" idx="3"/>
            <a:endCxn xmlns:a="http://schemas.openxmlformats.org/drawingml/2006/main" id="6" idx="1"/>
          </p:cNvCxnSpPr>
          <p:nvPr/>
        </p:nvCxnSpPr>
        <p:spPr>
          <a:xfrm xmlns:a="http://schemas.openxmlformats.org/drawingml/2006/main">
            <a:off x="3276600" y="2762250"/>
            <a:ext cx="1485900" cy="0"/>
          </a:xfrm>
          <a:prstGeom xmlns:a="http://schemas.openxmlformats.org/drawingml/2006/main" prst="straightConnector1">
            <a:avLst/>
          </a:prstGeom>
          <a:ln xmlns:a="http://schemas.openxmlformats.org/drawingml/2006/main" w="19050">
            <a:solidFill>
              <a:srgbClr val="DCEBED"/>
            </a:solidFill>
            <a:headEnd type="triangle" w="med" len="med"/>
            <a:tailEnd type="triangle" w="med" len="med"/>
          </a:ln>
        </p:spPr>
      </p:cxnSp>
      <p:sp>
        <p:nvSpPr>
          <p:cNvPr id="19" name="">
            <a:extLst xmlns:a="http://schemas.openxmlformats.org/drawingml/2006/main">
              <a:ext uri="{FF2B5EF4-FFF2-40B4-BE49-F238E27FC236}">
                <a16:creationId xmlns:a16="http://schemas.microsoft.com/office/drawing/2014/main" id="{2B3103D9-A456-4010-BDEF-E9EC3BC8F795}"/>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A4C68427-04B2-489A-87C9-459198FD065F}"/>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Kiến trúc N11 Vault</a:t>
            </a:r>
          </a:p>
        </p:txBody>
      </p:sp>
      <p:sp>
        <p:nvSpPr>
          <p:cNvPr id="3" name="">
            <a:extLst xmlns:a="http://schemas.openxmlformats.org/drawingml/2006/main">
              <a:ext uri="{FF2B5EF4-FFF2-40B4-BE49-F238E27FC236}">
                <a16:creationId xmlns:a16="http://schemas.microsoft.com/office/drawing/2014/main" id="{55045B1B-3852-4176-9729-0D6348A5E66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902F0A56-1F48-4C37-8285-B33C45210265}"/>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01A56980-EB3A-4A81-934C-146193C3594E}"/>
              </a:ext>
            </a:extLst>
          </p:cNvPr>
          <p:cNvSpPr>
            <a:spLocks xmlns:a="http://schemas.openxmlformats.org/drawingml/2006/main" noGrp="1"/>
          </p:cNvSpPr>
          <p:nvPr/>
        </p:nvSpPr>
        <p:spPr>
          <a:xfrm xmlns:a="http://schemas.openxmlformats.org/drawingml/2006/main">
            <a:off x="609600" y="2247900"/>
            <a:ext cx="2667000" cy="1028700"/>
          </a:xfrm>
          <a:prstGeom xmlns:a="http://schemas.openxmlformats.org/drawingml/2006/main" prst="rect">
            <a:avLst/>
          </a:prstGeom>
          <a:solidFill xmlns:a="http://schemas.openxmlformats.org/drawingml/2006/main">
            <a:srgbClr val="0C5B68"/>
          </a:solidFill>
          <a:ln xmlns:a="http://schemas.openxmlformats.org/drawingml/2006/main" w="9525">
            <a:solidFill>
              <a:srgbClr val="0C5B68"/>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Trình duyệt</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Client</a:t>
            </a:r>
          </a:p>
        </p:txBody>
      </p:sp>
      <p:sp>
        <p:nvSpPr>
          <p:cNvPr id="6" name="">
            <a:extLst xmlns:a="http://schemas.openxmlformats.org/drawingml/2006/main">
              <a:ext uri="{FF2B5EF4-FFF2-40B4-BE49-F238E27FC236}">
                <a16:creationId xmlns:a16="http://schemas.microsoft.com/office/drawing/2014/main" id="{615C1E40-BF58-4F24-92A7-74E99B09C77F}"/>
              </a:ext>
            </a:extLst>
          </p:cNvPr>
          <p:cNvSpPr>
            <a:spLocks xmlns:a="http://schemas.openxmlformats.org/drawingml/2006/main" noGrp="1"/>
          </p:cNvSpPr>
          <p:nvPr/>
        </p:nvSpPr>
        <p:spPr>
          <a:xfrm xmlns:a="http://schemas.openxmlformats.org/drawingml/2006/main">
            <a:off x="4762500" y="2247900"/>
            <a:ext cx="2667000" cy="1028700"/>
          </a:xfrm>
          <a:prstGeom xmlns:a="http://schemas.openxmlformats.org/drawingml/2006/main" prst="rect">
            <a:avLst/>
          </a:prstGeom>
          <a:solidFill xmlns:a="http://schemas.openxmlformats.org/drawingml/2006/main">
            <a:srgbClr val="1A586F"/>
          </a:solidFill>
          <a:ln xmlns:a="http://schemas.openxmlformats.org/drawingml/2006/main" w="9525">
            <a:solidFill>
              <a:srgbClr val="1A586F"/>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FastAPI</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Cổng 8000</a:t>
            </a:r>
          </a:p>
        </p:txBody>
      </p:sp>
      <p:sp>
        <p:nvSpPr>
          <p:cNvPr id="7" name="">
            <a:extLst xmlns:a="http://schemas.openxmlformats.org/drawingml/2006/main">
              <a:ext uri="{FF2B5EF4-FFF2-40B4-BE49-F238E27FC236}">
                <a16:creationId xmlns:a16="http://schemas.microsoft.com/office/drawing/2014/main" id="{8A371949-455F-4F1D-8197-7A62D13E7E24}"/>
              </a:ext>
            </a:extLst>
          </p:cNvPr>
          <p:cNvSpPr>
            <a:spLocks xmlns:a="http://schemas.openxmlformats.org/drawingml/2006/main" noGrp="1"/>
          </p:cNvSpPr>
          <p:nvPr/>
        </p:nvSpPr>
        <p:spPr>
          <a:xfrm xmlns:a="http://schemas.openxmlformats.org/drawingml/2006/main">
            <a:off x="8915400" y="2247900"/>
            <a:ext cx="2667000" cy="1028700"/>
          </a:xfrm>
          <a:prstGeom xmlns:a="http://schemas.openxmlformats.org/drawingml/2006/main" prst="rect">
            <a:avLst/>
          </a:prstGeom>
          <a:solidFill xmlns:a="http://schemas.openxmlformats.org/drawingml/2006/main">
            <a:srgbClr val="0E7E8B"/>
          </a:solidFill>
          <a:ln xmlns:a="http://schemas.openxmlformats.org/drawingml/2006/main" w="9525">
            <a:solidFill>
              <a:srgbClr val="0E7E8B"/>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MinIO</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S3 API 9000</a:t>
            </a:r>
          </a:p>
        </p:txBody>
      </p:sp>
      <p:sp>
        <p:nvSpPr>
          <p:cNvPr id="9" name="">
            <a:extLst xmlns:a="http://schemas.openxmlformats.org/drawingml/2006/main">
              <a:ext uri="{FF2B5EF4-FFF2-40B4-BE49-F238E27FC236}">
                <a16:creationId xmlns:a16="http://schemas.microsoft.com/office/drawing/2014/main" id="{B2BEB52B-4222-41E3-9A58-0E956B81616A}"/>
              </a:ext>
            </a:extLst>
          </p:cNvPr>
          <p:cNvSpPr>
            <a:spLocks xmlns:a="http://schemas.openxmlformats.org/drawingml/2006/main" noGrp="1"/>
          </p:cNvSpPr>
          <p:nvPr/>
        </p:nvSpPr>
        <p:spPr>
          <a:xfrm xmlns:a="http://schemas.openxmlformats.org/drawingml/2006/main">
            <a:off x="3343275" y="2381250"/>
            <a:ext cx="1352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JSON API</a:t>
            </a:r>
          </a:p>
        </p:txBody>
      </p:sp>
      <p:sp>
        <p:nvSpPr>
          <p:cNvPr id="11" name="">
            <a:extLst xmlns:a="http://schemas.openxmlformats.org/drawingml/2006/main">
              <a:ext uri="{FF2B5EF4-FFF2-40B4-BE49-F238E27FC236}">
                <a16:creationId xmlns:a16="http://schemas.microsoft.com/office/drawing/2014/main" id="{AEB5326C-2425-4273-A05B-08EAD84A8794}"/>
              </a:ext>
            </a:extLst>
          </p:cNvPr>
          <p:cNvSpPr>
            <a:spLocks xmlns:a="http://schemas.openxmlformats.org/drawingml/2006/main" noGrp="1"/>
          </p:cNvSpPr>
          <p:nvPr/>
        </p:nvSpPr>
        <p:spPr>
          <a:xfrm xmlns:a="http://schemas.openxmlformats.org/drawingml/2006/main">
            <a:off x="7505700" y="1847850"/>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DCEBED"/>
                </a:solidFill>
                <a:latin typeface="Arial"/>
                <a:ea typeface="Arial"/>
                <a:cs typeface="Arial"/>
              </a:defRPr>
            </a:defPPr>
            <a:lvl1pPr algn="ctr">
              <a:defRPr sz="1575" b="1">
                <a:solidFill>
                  <a:srgbClr val="DCEBED"/>
                </a:solidFill>
                <a:latin typeface="Arial"/>
                <a:ea typeface="Arial"/>
                <a:cs typeface="Arial"/>
              </a:defRPr>
            </a:lvl1pPr>
            <a:lvl2pPr algn="ctr">
              <a:defRPr sz="1575" b="1">
                <a:solidFill>
                  <a:srgbClr val="DCEBED"/>
                </a:solidFill>
                <a:latin typeface="Arial"/>
                <a:ea typeface="Arial"/>
                <a:cs typeface="Arial"/>
              </a:defRPr>
            </a:lvl2pPr>
            <a:lvl3pPr algn="ctr">
              <a:defRPr sz="1575" b="1">
                <a:solidFill>
                  <a:srgbClr val="DCEBED"/>
                </a:solidFill>
                <a:latin typeface="Arial"/>
                <a:ea typeface="Arial"/>
                <a:cs typeface="Arial"/>
              </a:defRPr>
            </a:lvl3pPr>
            <a:lvl4pPr algn="ctr">
              <a:defRPr sz="1575" b="1">
                <a:solidFill>
                  <a:srgbClr val="DCEBED"/>
                </a:solidFill>
                <a:latin typeface="Arial"/>
                <a:ea typeface="Arial"/>
                <a:cs typeface="Arial"/>
              </a:defRPr>
            </a:lvl4pPr>
            <a:lvl5pPr algn="ctr">
              <a:defRPr sz="1575" b="1">
                <a:solidFill>
                  <a:srgbClr val="DCEBED"/>
                </a:solidFill>
                <a:latin typeface="Arial"/>
                <a:ea typeface="Arial"/>
                <a:cs typeface="Arial"/>
              </a:defRPr>
            </a:lvl5pPr>
            <a:lvl6pPr algn="ctr">
              <a:defRPr sz="1575" b="1">
                <a:solidFill>
                  <a:srgbClr val="DCEBED"/>
                </a:solidFill>
                <a:latin typeface="Arial"/>
                <a:ea typeface="Arial"/>
                <a:cs typeface="Arial"/>
              </a:defRPr>
            </a:lvl6pPr>
            <a:lvl7pPr algn="ctr">
              <a:defRPr sz="1575" b="1">
                <a:solidFill>
                  <a:srgbClr val="DCEBED"/>
                </a:solidFill>
                <a:latin typeface="Arial"/>
                <a:ea typeface="Arial"/>
                <a:cs typeface="Arial"/>
              </a:defRPr>
            </a:lvl7pPr>
            <a:lvl8pPr algn="ctr">
              <a:defRPr sz="1575" b="1">
                <a:solidFill>
                  <a:srgbClr val="DCEBED"/>
                </a:solidFill>
                <a:latin typeface="Arial"/>
                <a:ea typeface="Arial"/>
                <a:cs typeface="Arial"/>
              </a:defRPr>
            </a:lvl8pPr>
            <a:lvl9pPr algn="ctr">
              <a:defRPr sz="1575" b="1">
                <a:solidFill>
                  <a:srgbClr val="DCEBED"/>
                </a:solidFill>
                <a:latin typeface="Arial"/>
                <a:ea typeface="Arial"/>
                <a:cs typeface="Arial"/>
              </a:defRPr>
            </a:lvl9pPr>
          </a:lstStyle>
          <a:p xmlns:a="http://schemas.openxmlformats.org/drawingml/2006/main">
            <a:pPr algn="ctr">
              <a:defRPr sz="1575" b="1">
                <a:solidFill>
                  <a:srgbClr val="DCEBED"/>
                </a:solidFill>
                <a:latin typeface="Arial"/>
                <a:ea typeface="Arial"/>
                <a:cs typeface="Arial"/>
              </a:defRPr>
            </a:pPr>
            <a:r>
              <a:rPr sz="1575" b="1">
                <a:solidFill>
                  <a:srgbClr val="DCEBED"/>
                </a:solidFill>
                <a:latin typeface="Arial"/>
                <a:ea typeface="Arial"/>
                <a:cs typeface="Arial"/>
              </a:rPr>
              <a:t>HEAD / version API</a:t>
            </a:r>
          </a:p>
        </p:txBody>
      </p:sp>
      <p:sp>
        <p:nvSpPr>
          <p:cNvPr id="12" name="">
            <a:extLst xmlns:a="http://schemas.openxmlformats.org/drawingml/2006/main">
              <a:ext uri="{FF2B5EF4-FFF2-40B4-BE49-F238E27FC236}">
                <a16:creationId xmlns:a16="http://schemas.microsoft.com/office/drawing/2014/main" id="{413AE0C9-DE24-4533-8CC4-C2AB0AD4EEAA}"/>
              </a:ext>
            </a:extLst>
          </p:cNvPr>
          <p:cNvSpPr>
            <a:spLocks xmlns:a="http://schemas.openxmlformats.org/drawingml/2006/main" noGrp="1"/>
          </p:cNvSpPr>
          <p:nvPr/>
        </p:nvSpPr>
        <p:spPr>
          <a:xfrm xmlns:a="http://schemas.openxmlformats.org/drawingml/2006/main">
            <a:off x="4381500" y="4314825"/>
            <a:ext cx="3429000" cy="971550"/>
          </a:xfrm>
          <a:prstGeom xmlns:a="http://schemas.openxmlformats.org/drawingml/2006/main" prst="rect">
            <a:avLst/>
          </a:prstGeom>
          <a:solidFill xmlns:a="http://schemas.openxmlformats.org/drawingml/2006/main">
            <a:srgbClr val="234C61"/>
          </a:solidFill>
          <a:ln xmlns:a="http://schemas.openxmlformats.org/drawingml/2006/main" w="9525">
            <a:solidFill>
              <a:srgbClr val="234C61"/>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SQLite</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Metadata / nhật ký</a:t>
            </a:r>
          </a:p>
        </p:txBody>
      </p:sp>
      <p:cxnSp>
        <p:nvCxnSpPr>
          <p:cNvPr id="14" name="">
            <a:extLst xmlns:a="http://schemas.openxmlformats.org/drawingml/2006/main">
              <a:ext uri="{FF2B5EF4-FFF2-40B4-BE49-F238E27FC236}">
                <a16:creationId xmlns:a16="http://schemas.microsoft.com/office/drawing/2014/main" id="{FF03EC19-5613-44DB-9FB4-0B01CA6B9E6B}"/>
              </a:ext>
            </a:extLst>
          </p:cNvPr>
          <p:cNvCxnSpPr/>
          <p:nvPr/>
        </p:nvCxnSpPr>
        <p:spPr>
          <a:xfrm xmlns:a="http://schemas.openxmlformats.org/drawingml/2006/main">
            <a:off x="1943100" y="3276600"/>
            <a:ext cx="0" cy="2543175"/>
          </a:xfrm>
          <a:prstGeom xmlns:a="http://schemas.openxmlformats.org/drawingml/2006/main" prst="straightConnector1">
            <a:avLst/>
          </a:prstGeom>
          <a:ln xmlns:a="http://schemas.openxmlformats.org/drawingml/2006/main" w="28575">
            <a:solidFill>
              <a:srgbClr val="58D9E8"/>
            </a:solidFill>
            <a:prstDash val="solid"/>
            <a:headEnd type="triangle" w="med" len="med"/>
          </a:ln>
        </p:spPr>
      </p:cxnSp>
      <p:cxnSp>
        <p:nvCxnSpPr>
          <p:cNvPr id="15" name="">
            <a:extLst xmlns:a="http://schemas.openxmlformats.org/drawingml/2006/main">
              <a:ext uri="{FF2B5EF4-FFF2-40B4-BE49-F238E27FC236}">
                <a16:creationId xmlns:a16="http://schemas.microsoft.com/office/drawing/2014/main" id="{D4A7A8CE-45F9-43AB-9043-EC9FAB6FFC11}"/>
              </a:ext>
            </a:extLst>
          </p:cNvPr>
          <p:cNvCxnSpPr/>
          <p:nvPr/>
        </p:nvCxnSpPr>
        <p:spPr>
          <a:xfrm xmlns:a="http://schemas.openxmlformats.org/drawingml/2006/main">
            <a:off x="1943100" y="5819775"/>
            <a:ext cx="8305800" cy="0"/>
          </a:xfrm>
          <a:prstGeom xmlns:a="http://schemas.openxmlformats.org/drawingml/2006/main" prst="straightConnector1">
            <a:avLst/>
          </a:prstGeom>
          <a:ln xmlns:a="http://schemas.openxmlformats.org/drawingml/2006/main" w="28575">
            <a:solidFill>
              <a:srgbClr val="58D9E8"/>
            </a:solidFill>
            <a:prstDash val="solid"/>
          </a:ln>
        </p:spPr>
      </p:cxnSp>
      <p:cxnSp>
        <p:nvCxnSpPr>
          <p:cNvPr id="16" name="">
            <a:extLst xmlns:a="http://schemas.openxmlformats.org/drawingml/2006/main">
              <a:ext uri="{FF2B5EF4-FFF2-40B4-BE49-F238E27FC236}">
                <a16:creationId xmlns:a16="http://schemas.microsoft.com/office/drawing/2014/main" id="{01798BB7-8057-4B35-9833-8AF1181C8D57}"/>
              </a:ext>
            </a:extLst>
          </p:cNvPr>
          <p:cNvCxnSpPr/>
          <p:nvPr/>
        </p:nvCxnSpPr>
        <p:spPr>
          <a:xfrm xmlns:a="http://schemas.openxmlformats.org/drawingml/2006/main">
            <a:off x="10248900" y="3276600"/>
            <a:ext cx="0" cy="2543175"/>
          </a:xfrm>
          <a:prstGeom xmlns:a="http://schemas.openxmlformats.org/drawingml/2006/main" prst="straightConnector1">
            <a:avLst/>
          </a:prstGeom>
          <a:ln xmlns:a="http://schemas.openxmlformats.org/drawingml/2006/main" w="28575">
            <a:solidFill>
              <a:srgbClr val="58D9E8"/>
            </a:solidFill>
            <a:prstDash val="solid"/>
            <a:headEnd type="triangle" w="med" len="med"/>
          </a:ln>
        </p:spPr>
      </p:cxnSp>
      <p:sp>
        <p:nvSpPr>
          <p:cNvPr id="17" name="">
            <a:extLst xmlns:a="http://schemas.openxmlformats.org/drawingml/2006/main">
              <a:ext uri="{FF2B5EF4-FFF2-40B4-BE49-F238E27FC236}">
                <a16:creationId xmlns:a16="http://schemas.microsoft.com/office/drawing/2014/main" id="{4FC1D946-C0FA-4D25-A0B5-DA147CDEF334}"/>
              </a:ext>
            </a:extLst>
          </p:cNvPr>
          <p:cNvSpPr>
            <a:spLocks xmlns:a="http://schemas.openxmlformats.org/drawingml/2006/main" noGrp="1"/>
          </p:cNvSpPr>
          <p:nvPr/>
        </p:nvSpPr>
        <p:spPr>
          <a:xfrm xmlns:a="http://schemas.openxmlformats.org/drawingml/2006/main">
            <a:off x="2000250" y="5391150"/>
            <a:ext cx="819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58D9E8"/>
                </a:solidFill>
                <a:latin typeface="Arial"/>
                <a:ea typeface="Arial"/>
                <a:cs typeface="Arial"/>
              </a:defRPr>
            </a:defPPr>
            <a:lvl1pPr algn="ctr">
              <a:defRPr sz="2025" b="1">
                <a:solidFill>
                  <a:srgbClr val="58D9E8"/>
                </a:solidFill>
                <a:latin typeface="Arial"/>
                <a:ea typeface="Arial"/>
                <a:cs typeface="Arial"/>
              </a:defRPr>
            </a:lvl1pPr>
            <a:lvl2pPr algn="ctr">
              <a:defRPr sz="2025" b="1">
                <a:solidFill>
                  <a:srgbClr val="58D9E8"/>
                </a:solidFill>
                <a:latin typeface="Arial"/>
                <a:ea typeface="Arial"/>
                <a:cs typeface="Arial"/>
              </a:defRPr>
            </a:lvl2pPr>
            <a:lvl3pPr algn="ctr">
              <a:defRPr sz="2025" b="1">
                <a:solidFill>
                  <a:srgbClr val="58D9E8"/>
                </a:solidFill>
                <a:latin typeface="Arial"/>
                <a:ea typeface="Arial"/>
                <a:cs typeface="Arial"/>
              </a:defRPr>
            </a:lvl3pPr>
            <a:lvl4pPr algn="ctr">
              <a:defRPr sz="2025" b="1">
                <a:solidFill>
                  <a:srgbClr val="58D9E8"/>
                </a:solidFill>
                <a:latin typeface="Arial"/>
                <a:ea typeface="Arial"/>
                <a:cs typeface="Arial"/>
              </a:defRPr>
            </a:lvl4pPr>
            <a:lvl5pPr algn="ctr">
              <a:defRPr sz="2025" b="1">
                <a:solidFill>
                  <a:srgbClr val="58D9E8"/>
                </a:solidFill>
                <a:latin typeface="Arial"/>
                <a:ea typeface="Arial"/>
                <a:cs typeface="Arial"/>
              </a:defRPr>
            </a:lvl5pPr>
            <a:lvl6pPr algn="ctr">
              <a:defRPr sz="2025" b="1">
                <a:solidFill>
                  <a:srgbClr val="58D9E8"/>
                </a:solidFill>
                <a:latin typeface="Arial"/>
                <a:ea typeface="Arial"/>
                <a:cs typeface="Arial"/>
              </a:defRPr>
            </a:lvl6pPr>
            <a:lvl7pPr algn="ctr">
              <a:defRPr sz="2025" b="1">
                <a:solidFill>
                  <a:srgbClr val="58D9E8"/>
                </a:solidFill>
                <a:latin typeface="Arial"/>
                <a:ea typeface="Arial"/>
                <a:cs typeface="Arial"/>
              </a:defRPr>
            </a:lvl7pPr>
            <a:lvl8pPr algn="ctr">
              <a:defRPr sz="2025" b="1">
                <a:solidFill>
                  <a:srgbClr val="58D9E8"/>
                </a:solidFill>
                <a:latin typeface="Arial"/>
                <a:ea typeface="Arial"/>
                <a:cs typeface="Arial"/>
              </a:defRPr>
            </a:lvl8pPr>
            <a:lvl9pPr algn="ctr">
              <a:defRPr sz="2025" b="1">
                <a:solidFill>
                  <a:srgbClr val="58D9E8"/>
                </a:solidFill>
                <a:latin typeface="Arial"/>
                <a:ea typeface="Arial"/>
                <a:cs typeface="Arial"/>
              </a:defRPr>
            </a:lvl9pPr>
          </a:lstStyle>
          <a:p xmlns:a="http://schemas.openxmlformats.org/drawingml/2006/main">
            <a:pPr algn="ctr">
              <a:defRPr sz="2025" b="1">
                <a:solidFill>
                  <a:srgbClr val="58D9E8"/>
                </a:solidFill>
                <a:latin typeface="Arial"/>
                <a:ea typeface="Arial"/>
                <a:cs typeface="Arial"/>
              </a:defRPr>
            </a:pPr>
            <a:r>
              <a:rPr sz="2025" b="1">
                <a:solidFill>
                  <a:srgbClr val="58D9E8"/>
                </a:solidFill>
                <a:latin typeface="Arial"/>
                <a:ea typeface="Arial"/>
                <a:cs typeface="Arial"/>
              </a:rPr>
              <a:t>PUT lên / GET xuống bằng URL ký sẵn</a:t>
            </a:r>
          </a:p>
        </p:txBody>
      </p:sp>
      <p:sp>
        <p:nvSpPr>
          <p:cNvPr id="18" name="">
            <a:extLst xmlns:a="http://schemas.openxmlformats.org/drawingml/2006/main">
              <a:ext uri="{FF2B5EF4-FFF2-40B4-BE49-F238E27FC236}">
                <a16:creationId xmlns:a16="http://schemas.microsoft.com/office/drawing/2014/main" id="{F967963E-F69B-43DF-9577-BC5B3DB54F20}"/>
              </a:ext>
            </a:extLst>
          </p:cNvPr>
          <p:cNvSpPr>
            <a:spLocks xmlns:a="http://schemas.openxmlformats.org/drawingml/2006/main" noGrp="1"/>
          </p:cNvSpPr>
          <p:nvPr/>
        </p:nvSpPr>
        <p:spPr>
          <a:xfrm xmlns:a="http://schemas.openxmlformats.org/drawingml/2006/main">
            <a:off x="8915400" y="4048125"/>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9989"/>
                </a:solidFill>
                <a:latin typeface="Arial"/>
                <a:ea typeface="Arial"/>
                <a:cs typeface="Arial"/>
              </a:defRPr>
            </a:defPPr>
            <a:lvl1pPr algn="l">
              <a:defRPr sz="2025" b="1">
                <a:solidFill>
                  <a:srgbClr val="FF9989"/>
                </a:solidFill>
                <a:latin typeface="Arial"/>
                <a:ea typeface="Arial"/>
                <a:cs typeface="Arial"/>
              </a:defRPr>
            </a:lvl1pPr>
            <a:lvl2pPr algn="l">
              <a:defRPr sz="2025" b="1">
                <a:solidFill>
                  <a:srgbClr val="FF9989"/>
                </a:solidFill>
                <a:latin typeface="Arial"/>
                <a:ea typeface="Arial"/>
                <a:cs typeface="Arial"/>
              </a:defRPr>
            </a:lvl2pPr>
            <a:lvl3pPr algn="l">
              <a:defRPr sz="2025" b="1">
                <a:solidFill>
                  <a:srgbClr val="FF9989"/>
                </a:solidFill>
                <a:latin typeface="Arial"/>
                <a:ea typeface="Arial"/>
                <a:cs typeface="Arial"/>
              </a:defRPr>
            </a:lvl3pPr>
            <a:lvl4pPr algn="l">
              <a:defRPr sz="2025" b="1">
                <a:solidFill>
                  <a:srgbClr val="FF9989"/>
                </a:solidFill>
                <a:latin typeface="Arial"/>
                <a:ea typeface="Arial"/>
                <a:cs typeface="Arial"/>
              </a:defRPr>
            </a:lvl4pPr>
            <a:lvl5pPr algn="l">
              <a:defRPr sz="2025" b="1">
                <a:solidFill>
                  <a:srgbClr val="FF9989"/>
                </a:solidFill>
                <a:latin typeface="Arial"/>
                <a:ea typeface="Arial"/>
                <a:cs typeface="Arial"/>
              </a:defRPr>
            </a:lvl5pPr>
            <a:lvl6pPr algn="l">
              <a:defRPr sz="2025" b="1">
                <a:solidFill>
                  <a:srgbClr val="FF9989"/>
                </a:solidFill>
                <a:latin typeface="Arial"/>
                <a:ea typeface="Arial"/>
                <a:cs typeface="Arial"/>
              </a:defRPr>
            </a:lvl6pPr>
            <a:lvl7pPr algn="l">
              <a:defRPr sz="2025" b="1">
                <a:solidFill>
                  <a:srgbClr val="FF9989"/>
                </a:solidFill>
                <a:latin typeface="Arial"/>
                <a:ea typeface="Arial"/>
                <a:cs typeface="Arial"/>
              </a:defRPr>
            </a:lvl7pPr>
            <a:lvl8pPr algn="l">
              <a:defRPr sz="2025" b="1">
                <a:solidFill>
                  <a:srgbClr val="FF9989"/>
                </a:solidFill>
                <a:latin typeface="Arial"/>
                <a:ea typeface="Arial"/>
                <a:cs typeface="Arial"/>
              </a:defRPr>
            </a:lvl8pPr>
            <a:lvl9pPr algn="l">
              <a:defRPr sz="2025" b="1">
                <a:solidFill>
                  <a:srgbClr val="FF9989"/>
                </a:solidFill>
                <a:latin typeface="Arial"/>
                <a:ea typeface="Arial"/>
                <a:cs typeface="Arial"/>
              </a:defRPr>
            </a:lvl9pPr>
          </a:lstStyle>
          <a:p xmlns:a="http://schemas.openxmlformats.org/drawingml/2006/main">
            <a:pPr algn="l">
              <a:defRPr sz="2025" b="1">
                <a:solidFill>
                  <a:srgbClr val="FF9989"/>
                </a:solidFill>
                <a:latin typeface="Arial"/>
                <a:ea typeface="Arial"/>
                <a:cs typeface="Arial"/>
              </a:defRPr>
            </a:pPr>
            <a:r>
              <a:rPr sz="2025" b="1">
                <a:solidFill>
                  <a:srgbClr val="FF9989"/>
                </a:solidFill>
                <a:latin typeface="Arial"/>
                <a:ea typeface="Arial"/>
                <a:cs typeface="Arial"/>
              </a:rPr>
              <a:t>Lab</a:t>
            </a:r>
          </a:p>
          <a:p xmlns:a="http://schemas.openxmlformats.org/drawingml/2006/main">
            <a:pPr algn="l">
              <a:defRPr sz="2025" b="1">
                <a:solidFill>
                  <a:srgbClr val="FF9989"/>
                </a:solidFill>
                <a:latin typeface="Arial"/>
                <a:ea typeface="Arial"/>
                <a:cs typeface="Arial"/>
              </a:defRPr>
            </a:pPr>
            <a:r>
              <a:rPr sz="2025" b="1">
                <a:solidFill>
                  <a:srgbClr val="FF9989"/>
                </a:solidFill>
                <a:latin typeface="Arial"/>
                <a:ea typeface="Arial"/>
                <a:cs typeface="Arial"/>
              </a:rPr>
              <a:t>một nút</a:t>
            </a:r>
          </a:p>
        </p:txBody>
      </p:sp>
    </p:spTree>
    <p:extLst>
      <p:ext uri="{BB962C8B-B14F-4D97-AF65-F5344CB8AC3E}">
        <p14:creationId xmlns:p14="http://schemas.microsoft.com/office/powerpoint/2010/main" val="1483341738"/>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D87749-04A9-4851-B6CF-BB59D38A75F6}"/>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DC6A3896-7AEB-4D0D-8B90-BADD10F9C07E}"/>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Thiết lập MinIO và FastAPI</a:t>
            </a:r>
          </a:p>
        </p:txBody>
      </p:sp>
      <p:sp>
        <p:nvSpPr>
          <p:cNvPr id="3" name="">
            <a:extLst xmlns:a="http://schemas.openxmlformats.org/drawingml/2006/main">
              <a:ext uri="{FF2B5EF4-FFF2-40B4-BE49-F238E27FC236}">
                <a16:creationId xmlns:a16="http://schemas.microsoft.com/office/drawing/2014/main" id="{CE735E13-881C-46DD-81A3-0635A6379707}"/>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95D85011-092F-45AF-9A9D-98B0D177F906}"/>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CF02A975-77D7-46E7-9BF5-24F3D7BF7886}"/>
              </a:ext>
            </a:extLst>
          </p:cNvPr>
          <p:cNvSpPr>
            <a:spLocks xmlns:a="http://schemas.openxmlformats.org/drawingml/2006/main" noGrp="1"/>
          </p:cNvSpPr>
          <p:nvPr/>
        </p:nvSpPr>
        <p:spPr>
          <a:xfrm xmlns:a="http://schemas.openxmlformats.org/drawingml/2006/main">
            <a:off x="609600" y="21431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075D68"/>
                </a:solidFill>
                <a:latin typeface="Arial"/>
                <a:ea typeface="Arial"/>
                <a:cs typeface="Arial"/>
              </a:defRPr>
            </a:defPPr>
            <a:lvl1pPr algn="l">
              <a:defRPr sz="3825" b="1">
                <a:solidFill>
                  <a:srgbClr val="075D68"/>
                </a:solidFill>
                <a:latin typeface="Arial"/>
                <a:ea typeface="Arial"/>
                <a:cs typeface="Arial"/>
              </a:defRPr>
            </a:lvl1pPr>
            <a:lvl2pPr algn="l">
              <a:defRPr sz="3825" b="1">
                <a:solidFill>
                  <a:srgbClr val="075D68"/>
                </a:solidFill>
                <a:latin typeface="Arial"/>
                <a:ea typeface="Arial"/>
                <a:cs typeface="Arial"/>
              </a:defRPr>
            </a:lvl2pPr>
            <a:lvl3pPr algn="l">
              <a:defRPr sz="3825" b="1">
                <a:solidFill>
                  <a:srgbClr val="075D68"/>
                </a:solidFill>
                <a:latin typeface="Arial"/>
                <a:ea typeface="Arial"/>
                <a:cs typeface="Arial"/>
              </a:defRPr>
            </a:lvl3pPr>
            <a:lvl4pPr algn="l">
              <a:defRPr sz="3825" b="1">
                <a:solidFill>
                  <a:srgbClr val="075D68"/>
                </a:solidFill>
                <a:latin typeface="Arial"/>
                <a:ea typeface="Arial"/>
                <a:cs typeface="Arial"/>
              </a:defRPr>
            </a:lvl4pPr>
            <a:lvl5pPr algn="l">
              <a:defRPr sz="3825" b="1">
                <a:solidFill>
                  <a:srgbClr val="075D68"/>
                </a:solidFill>
                <a:latin typeface="Arial"/>
                <a:ea typeface="Arial"/>
                <a:cs typeface="Arial"/>
              </a:defRPr>
            </a:lvl5pPr>
            <a:lvl6pPr algn="l">
              <a:defRPr sz="3825" b="1">
                <a:solidFill>
                  <a:srgbClr val="075D68"/>
                </a:solidFill>
                <a:latin typeface="Arial"/>
                <a:ea typeface="Arial"/>
                <a:cs typeface="Arial"/>
              </a:defRPr>
            </a:lvl6pPr>
            <a:lvl7pPr algn="l">
              <a:defRPr sz="3825" b="1">
                <a:solidFill>
                  <a:srgbClr val="075D68"/>
                </a:solidFill>
                <a:latin typeface="Arial"/>
                <a:ea typeface="Arial"/>
                <a:cs typeface="Arial"/>
              </a:defRPr>
            </a:lvl7pPr>
            <a:lvl8pPr algn="l">
              <a:defRPr sz="3825" b="1">
                <a:solidFill>
                  <a:srgbClr val="075D68"/>
                </a:solidFill>
                <a:latin typeface="Arial"/>
                <a:ea typeface="Arial"/>
                <a:cs typeface="Arial"/>
              </a:defRPr>
            </a:lvl8pPr>
            <a:lvl9pPr algn="l">
              <a:defRPr sz="3825" b="1">
                <a:solidFill>
                  <a:srgbClr val="075D68"/>
                </a:solidFill>
                <a:latin typeface="Arial"/>
                <a:ea typeface="Arial"/>
                <a:cs typeface="Arial"/>
              </a:defRPr>
            </a:lvl9pPr>
          </a:lstStyle>
          <a:p xmlns:a="http://schemas.openxmlformats.org/drawingml/2006/main">
            <a:pPr algn="l">
              <a:defRPr sz="3825" b="1">
                <a:solidFill>
                  <a:srgbClr val="075D68"/>
                </a:solidFill>
                <a:latin typeface="Arial"/>
                <a:ea typeface="Arial"/>
                <a:cs typeface="Arial"/>
              </a:defRPr>
            </a:pPr>
            <a:r>
              <a:rPr sz="3825" b="1">
                <a:solidFill>
                  <a:srgbClr val="075D68"/>
                </a:solidFill>
                <a:latin typeface="Arial"/>
                <a:ea typeface="Arial"/>
                <a:cs typeface="Arial"/>
              </a:rPr>
              <a:t>docker compose up --build -d</a:t>
            </a:r>
          </a:p>
        </p:txBody>
      </p:sp>
      <p:sp>
        <p:nvSpPr>
          <p:cNvPr id="6" name="">
            <a:extLst xmlns:a="http://schemas.openxmlformats.org/drawingml/2006/main">
              <a:ext uri="{FF2B5EF4-FFF2-40B4-BE49-F238E27FC236}">
                <a16:creationId xmlns:a16="http://schemas.microsoft.com/office/drawing/2014/main" id="{E0012235-C017-4A01-8EF3-829F0BA2BF76}"/>
              </a:ext>
            </a:extLst>
          </p:cNvPr>
          <p:cNvSpPr>
            <a:spLocks xmlns:a="http://schemas.openxmlformats.org/drawingml/2006/main" noGrp="1"/>
          </p:cNvSpPr>
          <p:nvPr/>
        </p:nvSpPr>
        <p:spPr>
          <a:xfrm xmlns:a="http://schemas.openxmlformats.org/drawingml/2006/main">
            <a:off x="609600" y="353377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MinIO lab</a:t>
            </a:r>
          </a:p>
        </p:txBody>
      </p:sp>
      <p:sp>
        <p:nvSpPr>
          <p:cNvPr id="7" name="">
            <a:extLst xmlns:a="http://schemas.openxmlformats.org/drawingml/2006/main">
              <a:ext uri="{FF2B5EF4-FFF2-40B4-BE49-F238E27FC236}">
                <a16:creationId xmlns:a16="http://schemas.microsoft.com/office/drawing/2014/main" id="{171F8D76-A686-46CC-B213-8EE0F41A2F13}"/>
              </a:ext>
            </a:extLst>
          </p:cNvPr>
          <p:cNvSpPr>
            <a:spLocks xmlns:a="http://schemas.openxmlformats.org/drawingml/2006/main" noGrp="1"/>
          </p:cNvSpPr>
          <p:nvPr/>
        </p:nvSpPr>
        <p:spPr>
          <a:xfrm xmlns:a="http://schemas.openxmlformats.org/drawingml/2006/main">
            <a:off x="609600" y="4524375"/>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Build từ source release đã ghim. Bucket private, versioning bật và signer giới hạn quyền.</a:t>
            </a:r>
          </a:p>
        </p:txBody>
      </p:sp>
      <p:sp>
        <p:nvSpPr>
          <p:cNvPr id="8" name="">
            <a:extLst xmlns:a="http://schemas.openxmlformats.org/drawingml/2006/main">
              <a:ext uri="{FF2B5EF4-FFF2-40B4-BE49-F238E27FC236}">
                <a16:creationId xmlns:a16="http://schemas.microsoft.com/office/drawing/2014/main" id="{BFFE8B32-BFCC-498F-8C77-E6FA42100662}"/>
              </a:ext>
            </a:extLst>
          </p:cNvPr>
          <p:cNvSpPr>
            <a:spLocks xmlns:a="http://schemas.openxmlformats.org/drawingml/2006/main" noGrp="1"/>
          </p:cNvSpPr>
          <p:nvPr/>
        </p:nvSpPr>
        <p:spPr>
          <a:xfrm xmlns:a="http://schemas.openxmlformats.org/drawingml/2006/main">
            <a:off x="6477000" y="353377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FastAPI + boto3</a:t>
            </a:r>
          </a:p>
        </p:txBody>
      </p:sp>
      <p:sp>
        <p:nvSpPr>
          <p:cNvPr id="9" name="">
            <a:extLst xmlns:a="http://schemas.openxmlformats.org/drawingml/2006/main">
              <a:ext uri="{FF2B5EF4-FFF2-40B4-BE49-F238E27FC236}">
                <a16:creationId xmlns:a16="http://schemas.microsoft.com/office/drawing/2014/main" id="{A75ECB70-C7C6-41EA-9BC8-94CB1BB3FD6A}"/>
              </a:ext>
            </a:extLst>
          </p:cNvPr>
          <p:cNvSpPr>
            <a:spLocks xmlns:a="http://schemas.openxmlformats.org/drawingml/2006/main" noGrp="1"/>
          </p:cNvSpPr>
          <p:nvPr/>
        </p:nvSpPr>
        <p:spPr>
          <a:xfrm xmlns:a="http://schemas.openxmlformats.org/drawingml/2006/main">
            <a:off x="6477000" y="4524375"/>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SigV4, endpoint client truy cập được. CORS theo origin lab. Secret đặt ngoài mã nguồn.</a:t>
            </a:r>
          </a:p>
        </p:txBody>
      </p:sp>
    </p:spTree>
    <p:extLst>
      <p:ext uri="{BB962C8B-B14F-4D97-AF65-F5344CB8AC3E}">
        <p14:creationId xmlns:p14="http://schemas.microsoft.com/office/powerpoint/2010/main" val="913624467"/>
      </p:ext>
    </p:extLst>
  </p:cSld>
</p:sld>
</file>

<file path=ppt/slides/slide21.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290098-CFA1-49BA-A72F-9699C4E3FDF8}"/>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A2CAA9AA-618F-467E-99ED-8F3E49DFA08A}"/>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Demo 1: bucket riêng tư</a:t>
            </a:r>
          </a:p>
        </p:txBody>
      </p:sp>
      <p:sp>
        <p:nvSpPr>
          <p:cNvPr id="3" name="">
            <a:extLst xmlns:a="http://schemas.openxmlformats.org/drawingml/2006/main">
              <a:ext uri="{FF2B5EF4-FFF2-40B4-BE49-F238E27FC236}">
                <a16:creationId xmlns:a16="http://schemas.microsoft.com/office/drawing/2014/main" id="{BC1A20F7-2527-4841-849E-C25D2588E345}"/>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49FDD9CC-6415-4737-B41F-EBB13D728A61}"/>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53BC1A38-C781-4A97-B977-CBE1C1683E36}"/>
              </a:ext>
            </a:extLst>
          </p:cNvPr>
          <p:cNvSpPr>
            <a:spLocks xmlns:a="http://schemas.openxmlformats.org/drawingml/2006/main" noGrp="1"/>
          </p:cNvSpPr>
          <p:nvPr/>
        </p:nvSpPr>
        <p:spPr>
          <a:xfrm xmlns:a="http://schemas.openxmlformats.org/drawingml/2006/main">
            <a:off x="609600" y="2047875"/>
            <a:ext cx="54292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25" b="1">
                <a:solidFill>
                  <a:srgbClr val="FF9989"/>
                </a:solidFill>
                <a:latin typeface="Arial"/>
                <a:ea typeface="Arial"/>
                <a:cs typeface="Arial"/>
              </a:defRPr>
            </a:defPPr>
            <a:lvl1pPr algn="l">
              <a:defRPr sz="13125" b="1">
                <a:solidFill>
                  <a:srgbClr val="FF9989"/>
                </a:solidFill>
                <a:latin typeface="Arial"/>
                <a:ea typeface="Arial"/>
                <a:cs typeface="Arial"/>
              </a:defRPr>
            </a:lvl1pPr>
            <a:lvl2pPr algn="l">
              <a:defRPr sz="13125" b="1">
                <a:solidFill>
                  <a:srgbClr val="FF9989"/>
                </a:solidFill>
                <a:latin typeface="Arial"/>
                <a:ea typeface="Arial"/>
                <a:cs typeface="Arial"/>
              </a:defRPr>
            </a:lvl2pPr>
            <a:lvl3pPr algn="l">
              <a:defRPr sz="13125" b="1">
                <a:solidFill>
                  <a:srgbClr val="FF9989"/>
                </a:solidFill>
                <a:latin typeface="Arial"/>
                <a:ea typeface="Arial"/>
                <a:cs typeface="Arial"/>
              </a:defRPr>
            </a:lvl3pPr>
            <a:lvl4pPr algn="l">
              <a:defRPr sz="13125" b="1">
                <a:solidFill>
                  <a:srgbClr val="FF9989"/>
                </a:solidFill>
                <a:latin typeface="Arial"/>
                <a:ea typeface="Arial"/>
                <a:cs typeface="Arial"/>
              </a:defRPr>
            </a:lvl4pPr>
            <a:lvl5pPr algn="l">
              <a:defRPr sz="13125" b="1">
                <a:solidFill>
                  <a:srgbClr val="FF9989"/>
                </a:solidFill>
                <a:latin typeface="Arial"/>
                <a:ea typeface="Arial"/>
                <a:cs typeface="Arial"/>
              </a:defRPr>
            </a:lvl5pPr>
            <a:lvl6pPr algn="l">
              <a:defRPr sz="13125" b="1">
                <a:solidFill>
                  <a:srgbClr val="FF9989"/>
                </a:solidFill>
                <a:latin typeface="Arial"/>
                <a:ea typeface="Arial"/>
                <a:cs typeface="Arial"/>
              </a:defRPr>
            </a:lvl6pPr>
            <a:lvl7pPr algn="l">
              <a:defRPr sz="13125" b="1">
                <a:solidFill>
                  <a:srgbClr val="FF9989"/>
                </a:solidFill>
                <a:latin typeface="Arial"/>
                <a:ea typeface="Arial"/>
                <a:cs typeface="Arial"/>
              </a:defRPr>
            </a:lvl7pPr>
            <a:lvl8pPr algn="l">
              <a:defRPr sz="13125" b="1">
                <a:solidFill>
                  <a:srgbClr val="FF9989"/>
                </a:solidFill>
                <a:latin typeface="Arial"/>
                <a:ea typeface="Arial"/>
                <a:cs typeface="Arial"/>
              </a:defRPr>
            </a:lvl8pPr>
            <a:lvl9pPr algn="l">
              <a:defRPr sz="13125" b="1">
                <a:solidFill>
                  <a:srgbClr val="FF9989"/>
                </a:solidFill>
                <a:latin typeface="Arial"/>
                <a:ea typeface="Arial"/>
                <a:cs typeface="Arial"/>
              </a:defRPr>
            </a:lvl9pPr>
          </a:lstStyle>
          <a:p xmlns:a="http://schemas.openxmlformats.org/drawingml/2006/main">
            <a:pPr algn="l">
              <a:defRPr sz="13125" b="1">
                <a:solidFill>
                  <a:srgbClr val="FF9989"/>
                </a:solidFill>
                <a:latin typeface="Arial"/>
                <a:ea typeface="Arial"/>
                <a:cs typeface="Arial"/>
              </a:defRPr>
            </a:pPr>
            <a:r>
              <a:rPr sz="13125" b="1">
                <a:solidFill>
                  <a:srgbClr val="FF9989"/>
                </a:solidFill>
                <a:latin typeface="Arial"/>
                <a:ea typeface="Arial"/>
                <a:cs typeface="Arial"/>
              </a:rPr>
              <a:t>403</a:t>
            </a:r>
          </a:p>
        </p:txBody>
      </p:sp>
      <p:sp>
        <p:nvSpPr>
          <p:cNvPr id="6" name="">
            <a:extLst xmlns:a="http://schemas.openxmlformats.org/drawingml/2006/main">
              <a:ext uri="{FF2B5EF4-FFF2-40B4-BE49-F238E27FC236}">
                <a16:creationId xmlns:a16="http://schemas.microsoft.com/office/drawing/2014/main" id="{133436B6-CF7C-41F3-8CDE-A496C87B8204}"/>
              </a:ext>
            </a:extLst>
          </p:cNvPr>
          <p:cNvSpPr>
            <a:spLocks xmlns:a="http://schemas.openxmlformats.org/drawingml/2006/main" noGrp="1"/>
          </p:cNvSpPr>
          <p:nvPr/>
        </p:nvSpPr>
        <p:spPr>
          <a:xfrm xmlns:a="http://schemas.openxmlformats.org/drawingml/2006/main">
            <a:off x="685800" y="4295775"/>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Anonymous GET bị từ chối</a:t>
            </a:r>
          </a:p>
        </p:txBody>
      </p:sp>
      <p:sp>
        <p:nvSpPr>
          <p:cNvPr id="7" name="">
            <a:extLst xmlns:a="http://schemas.openxmlformats.org/drawingml/2006/main">
              <a:ext uri="{FF2B5EF4-FFF2-40B4-BE49-F238E27FC236}">
                <a16:creationId xmlns:a16="http://schemas.microsoft.com/office/drawing/2014/main" id="{8C196E98-C5FF-4327-AD4E-8738C2B0444F}"/>
              </a:ext>
            </a:extLst>
          </p:cNvPr>
          <p:cNvSpPr>
            <a:spLocks xmlns:a="http://schemas.openxmlformats.org/drawingml/2006/main" noGrp="1"/>
          </p:cNvSpPr>
          <p:nvPr/>
        </p:nvSpPr>
        <p:spPr>
          <a:xfrm xmlns:a="http://schemas.openxmlformats.org/drawingml/2006/main">
            <a:off x="685800" y="56102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CEBED"/>
                </a:solidFill>
                <a:latin typeface="Arial"/>
                <a:ea typeface="Arial"/>
                <a:cs typeface="Arial"/>
              </a:defRPr>
            </a:defPPr>
            <a:lvl1pPr algn="l">
              <a:defRPr sz="2025" b="0">
                <a:solidFill>
                  <a:srgbClr val="DCEBED"/>
                </a:solidFill>
                <a:latin typeface="Arial"/>
                <a:ea typeface="Arial"/>
                <a:cs typeface="Arial"/>
              </a:defRPr>
            </a:lvl1pPr>
            <a:lvl2pPr algn="l">
              <a:defRPr sz="2025" b="0">
                <a:solidFill>
                  <a:srgbClr val="DCEBED"/>
                </a:solidFill>
                <a:latin typeface="Arial"/>
                <a:ea typeface="Arial"/>
                <a:cs typeface="Arial"/>
              </a:defRPr>
            </a:lvl2pPr>
            <a:lvl3pPr algn="l">
              <a:defRPr sz="2025" b="0">
                <a:solidFill>
                  <a:srgbClr val="DCEBED"/>
                </a:solidFill>
                <a:latin typeface="Arial"/>
                <a:ea typeface="Arial"/>
                <a:cs typeface="Arial"/>
              </a:defRPr>
            </a:lvl3pPr>
            <a:lvl4pPr algn="l">
              <a:defRPr sz="2025" b="0">
                <a:solidFill>
                  <a:srgbClr val="DCEBED"/>
                </a:solidFill>
                <a:latin typeface="Arial"/>
                <a:ea typeface="Arial"/>
                <a:cs typeface="Arial"/>
              </a:defRPr>
            </a:lvl4pPr>
            <a:lvl5pPr algn="l">
              <a:defRPr sz="2025" b="0">
                <a:solidFill>
                  <a:srgbClr val="DCEBED"/>
                </a:solidFill>
                <a:latin typeface="Arial"/>
                <a:ea typeface="Arial"/>
                <a:cs typeface="Arial"/>
              </a:defRPr>
            </a:lvl5pPr>
            <a:lvl6pPr algn="l">
              <a:defRPr sz="2025" b="0">
                <a:solidFill>
                  <a:srgbClr val="DCEBED"/>
                </a:solidFill>
                <a:latin typeface="Arial"/>
                <a:ea typeface="Arial"/>
                <a:cs typeface="Arial"/>
              </a:defRPr>
            </a:lvl6pPr>
            <a:lvl7pPr algn="l">
              <a:defRPr sz="2025" b="0">
                <a:solidFill>
                  <a:srgbClr val="DCEBED"/>
                </a:solidFill>
                <a:latin typeface="Arial"/>
                <a:ea typeface="Arial"/>
                <a:cs typeface="Arial"/>
              </a:defRPr>
            </a:lvl7pPr>
            <a:lvl8pPr algn="l">
              <a:defRPr sz="2025" b="0">
                <a:solidFill>
                  <a:srgbClr val="DCEBED"/>
                </a:solidFill>
                <a:latin typeface="Arial"/>
                <a:ea typeface="Arial"/>
                <a:cs typeface="Arial"/>
              </a:defRPr>
            </a:lvl8pPr>
            <a:lvl9pPr algn="l">
              <a:defRPr sz="2025" b="0">
                <a:solidFill>
                  <a:srgbClr val="DCEBED"/>
                </a:solidFill>
                <a:latin typeface="Arial"/>
                <a:ea typeface="Arial"/>
                <a:cs typeface="Arial"/>
              </a:defRPr>
            </a:lvl9pPr>
          </a:lstStyle>
          <a:p xmlns:a="http://schemas.openxmlformats.org/drawingml/2006/main">
            <a:pPr algn="l">
              <a:defRPr sz="2025" b="0">
                <a:solidFill>
                  <a:srgbClr val="DCEBED"/>
                </a:solidFill>
                <a:latin typeface="Arial"/>
                <a:ea typeface="Arial"/>
                <a:cs typeface="Arial"/>
              </a:defRPr>
            </a:pPr>
            <a:r>
              <a:rPr sz="2025" b="0">
                <a:solidFill>
                  <a:srgbClr val="DCEBED"/>
                </a:solidFill>
                <a:latin typeface="Arial"/>
                <a:ea typeface="Arial"/>
                <a:cs typeface="Arial"/>
              </a:rPr>
              <a:t>Cùng object URL khi bỏ chữ ký.</a:t>
            </a:r>
          </a:p>
        </p:txBody>
      </p:sp>
      <p:sp>
        <p:nvSpPr>
          <p:cNvPr id="8" name="">
            <a:extLst xmlns:a="http://schemas.openxmlformats.org/drawingml/2006/main">
              <a:ext uri="{FF2B5EF4-FFF2-40B4-BE49-F238E27FC236}">
                <a16:creationId xmlns:a16="http://schemas.microsoft.com/office/drawing/2014/main" id="{28A2836E-6E52-4AE4-B9E0-6CF65C2A817D}"/>
              </a:ext>
            </a:extLst>
          </p:cNvPr>
          <p:cNvSpPr>
            <a:spLocks xmlns:a="http://schemas.openxmlformats.org/drawingml/2006/main" noGrp="1"/>
          </p:cNvSpPr>
          <p:nvPr/>
        </p:nvSpPr>
        <p:spPr>
          <a:xfrm xmlns:a="http://schemas.openxmlformats.org/drawingml/2006/main">
            <a:off x="6896100" y="2266950"/>
            <a:ext cx="4686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58D9E8"/>
                </a:solidFill>
                <a:latin typeface="Arial"/>
                <a:ea typeface="Arial"/>
                <a:cs typeface="Arial"/>
              </a:defRPr>
            </a:defPPr>
            <a:lvl1pPr algn="l">
              <a:defRPr sz="3150" b="1">
                <a:solidFill>
                  <a:srgbClr val="58D9E8"/>
                </a:solidFill>
                <a:latin typeface="Arial"/>
                <a:ea typeface="Arial"/>
                <a:cs typeface="Arial"/>
              </a:defRPr>
            </a:lvl1pPr>
            <a:lvl2pPr algn="l">
              <a:defRPr sz="3150" b="1">
                <a:solidFill>
                  <a:srgbClr val="58D9E8"/>
                </a:solidFill>
                <a:latin typeface="Arial"/>
                <a:ea typeface="Arial"/>
                <a:cs typeface="Arial"/>
              </a:defRPr>
            </a:lvl2pPr>
            <a:lvl3pPr algn="l">
              <a:defRPr sz="3150" b="1">
                <a:solidFill>
                  <a:srgbClr val="58D9E8"/>
                </a:solidFill>
                <a:latin typeface="Arial"/>
                <a:ea typeface="Arial"/>
                <a:cs typeface="Arial"/>
              </a:defRPr>
            </a:lvl3pPr>
            <a:lvl4pPr algn="l">
              <a:defRPr sz="3150" b="1">
                <a:solidFill>
                  <a:srgbClr val="58D9E8"/>
                </a:solidFill>
                <a:latin typeface="Arial"/>
                <a:ea typeface="Arial"/>
                <a:cs typeface="Arial"/>
              </a:defRPr>
            </a:lvl4pPr>
            <a:lvl5pPr algn="l">
              <a:defRPr sz="3150" b="1">
                <a:solidFill>
                  <a:srgbClr val="58D9E8"/>
                </a:solidFill>
                <a:latin typeface="Arial"/>
                <a:ea typeface="Arial"/>
                <a:cs typeface="Arial"/>
              </a:defRPr>
            </a:lvl5pPr>
            <a:lvl6pPr algn="l">
              <a:defRPr sz="3150" b="1">
                <a:solidFill>
                  <a:srgbClr val="58D9E8"/>
                </a:solidFill>
                <a:latin typeface="Arial"/>
                <a:ea typeface="Arial"/>
                <a:cs typeface="Arial"/>
              </a:defRPr>
            </a:lvl6pPr>
            <a:lvl7pPr algn="l">
              <a:defRPr sz="3150" b="1">
                <a:solidFill>
                  <a:srgbClr val="58D9E8"/>
                </a:solidFill>
                <a:latin typeface="Arial"/>
                <a:ea typeface="Arial"/>
                <a:cs typeface="Arial"/>
              </a:defRPr>
            </a:lvl7pPr>
            <a:lvl8pPr algn="l">
              <a:defRPr sz="3150" b="1">
                <a:solidFill>
                  <a:srgbClr val="58D9E8"/>
                </a:solidFill>
                <a:latin typeface="Arial"/>
                <a:ea typeface="Arial"/>
                <a:cs typeface="Arial"/>
              </a:defRPr>
            </a:lvl8pPr>
            <a:lvl9pPr algn="l">
              <a:defRPr sz="3150" b="1">
                <a:solidFill>
                  <a:srgbClr val="58D9E8"/>
                </a:solidFill>
                <a:latin typeface="Arial"/>
                <a:ea typeface="Arial"/>
                <a:cs typeface="Arial"/>
              </a:defRPr>
            </a:lvl9pPr>
          </a:lstStyle>
          <a:p xmlns:a="http://schemas.openxmlformats.org/drawingml/2006/main">
            <a:pPr algn="l">
              <a:defRPr sz="3150" b="1">
                <a:solidFill>
                  <a:srgbClr val="58D9E8"/>
                </a:solidFill>
                <a:latin typeface="Arial"/>
                <a:ea typeface="Arial"/>
                <a:cs typeface="Arial"/>
              </a:defRPr>
            </a:pPr>
            <a:r>
              <a:rPr sz="3150" b="1">
                <a:solidFill>
                  <a:srgbClr val="58D9E8"/>
                </a:solidFill>
                <a:latin typeface="Arial"/>
                <a:ea typeface="Arial"/>
                <a:cs typeface="Arial"/>
              </a:rPr>
              <a:t>Bucket private</a:t>
            </a:r>
          </a:p>
        </p:txBody>
      </p:sp>
      <p:sp>
        <p:nvSpPr>
          <p:cNvPr id="9" name="">
            <a:extLst xmlns:a="http://schemas.openxmlformats.org/drawingml/2006/main">
              <a:ext uri="{FF2B5EF4-FFF2-40B4-BE49-F238E27FC236}">
                <a16:creationId xmlns:a16="http://schemas.microsoft.com/office/drawing/2014/main" id="{8A68BFF0-374D-4F4B-B4A6-E41E2C1929D8}"/>
              </a:ext>
            </a:extLst>
          </p:cNvPr>
          <p:cNvSpPr>
            <a:spLocks xmlns:a="http://schemas.openxmlformats.org/drawingml/2006/main" noGrp="1"/>
          </p:cNvSpPr>
          <p:nvPr/>
        </p:nvSpPr>
        <p:spPr>
          <a:xfrm xmlns:a="http://schemas.openxmlformats.org/drawingml/2006/main">
            <a:off x="6896100" y="3419475"/>
            <a:ext cx="46863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CEBED"/>
                </a:solidFill>
                <a:latin typeface="Arial"/>
                <a:ea typeface="Arial"/>
                <a:cs typeface="Arial"/>
              </a:defRPr>
            </a:defPPr>
            <a:lvl1pPr algn="l">
              <a:defRPr sz="2400" b="0">
                <a:solidFill>
                  <a:srgbClr val="DCEBED"/>
                </a:solidFill>
                <a:latin typeface="Arial"/>
                <a:ea typeface="Arial"/>
                <a:cs typeface="Arial"/>
              </a:defRPr>
            </a:lvl1pPr>
            <a:lvl2pPr algn="l">
              <a:defRPr sz="2400" b="0">
                <a:solidFill>
                  <a:srgbClr val="DCEBED"/>
                </a:solidFill>
                <a:latin typeface="Arial"/>
                <a:ea typeface="Arial"/>
                <a:cs typeface="Arial"/>
              </a:defRPr>
            </a:lvl2pPr>
            <a:lvl3pPr algn="l">
              <a:defRPr sz="2400" b="0">
                <a:solidFill>
                  <a:srgbClr val="DCEBED"/>
                </a:solidFill>
                <a:latin typeface="Arial"/>
                <a:ea typeface="Arial"/>
                <a:cs typeface="Arial"/>
              </a:defRPr>
            </a:lvl3pPr>
            <a:lvl4pPr algn="l">
              <a:defRPr sz="2400" b="0">
                <a:solidFill>
                  <a:srgbClr val="DCEBED"/>
                </a:solidFill>
                <a:latin typeface="Arial"/>
                <a:ea typeface="Arial"/>
                <a:cs typeface="Arial"/>
              </a:defRPr>
            </a:lvl4pPr>
            <a:lvl5pPr algn="l">
              <a:defRPr sz="2400" b="0">
                <a:solidFill>
                  <a:srgbClr val="DCEBED"/>
                </a:solidFill>
                <a:latin typeface="Arial"/>
                <a:ea typeface="Arial"/>
                <a:cs typeface="Arial"/>
              </a:defRPr>
            </a:lvl5pPr>
            <a:lvl6pPr algn="l">
              <a:defRPr sz="2400" b="0">
                <a:solidFill>
                  <a:srgbClr val="DCEBED"/>
                </a:solidFill>
                <a:latin typeface="Arial"/>
                <a:ea typeface="Arial"/>
                <a:cs typeface="Arial"/>
              </a:defRPr>
            </a:lvl6pPr>
            <a:lvl7pPr algn="l">
              <a:defRPr sz="2400" b="0">
                <a:solidFill>
                  <a:srgbClr val="DCEBED"/>
                </a:solidFill>
                <a:latin typeface="Arial"/>
                <a:ea typeface="Arial"/>
                <a:cs typeface="Arial"/>
              </a:defRPr>
            </a:lvl7pPr>
            <a:lvl8pPr algn="l">
              <a:defRPr sz="2400" b="0">
                <a:solidFill>
                  <a:srgbClr val="DCEBED"/>
                </a:solidFill>
                <a:latin typeface="Arial"/>
                <a:ea typeface="Arial"/>
                <a:cs typeface="Arial"/>
              </a:defRPr>
            </a:lvl8pPr>
            <a:lvl9pPr algn="l">
              <a:defRPr sz="2400" b="0">
                <a:solidFill>
                  <a:srgbClr val="DCEBED"/>
                </a:solidFill>
                <a:latin typeface="Arial"/>
                <a:ea typeface="Arial"/>
                <a:cs typeface="Arial"/>
              </a:defRPr>
            </a:lvl9pPr>
          </a:lstStyle>
          <a:p xmlns:a="http://schemas.openxmlformats.org/drawingml/2006/main">
            <a:pPr algn="l">
              <a:defRPr sz="2400" b="0">
                <a:solidFill>
                  <a:srgbClr val="DCEBED"/>
                </a:solidFill>
                <a:latin typeface="Arial"/>
                <a:ea typeface="Arial"/>
                <a:cs typeface="Arial"/>
              </a:defRPr>
            </a:pPr>
            <a:r>
              <a:rPr sz="2400" b="0">
                <a:solidFill>
                  <a:srgbClr val="DCEBED"/>
                </a:solidFill>
                <a:latin typeface="Arial"/>
                <a:ea typeface="Arial"/>
                <a:cs typeface="Arial"/>
              </a:rPr>
              <a:t>Backend kiểm tra chủ sở hữu trước khi cấp URL tải.</a:t>
            </a:r>
          </a:p>
        </p:txBody>
      </p:sp>
      <p:sp>
        <p:nvSpPr>
          <p:cNvPr id="10" name="">
            <a:extLst xmlns:a="http://schemas.openxmlformats.org/drawingml/2006/main">
              <a:ext uri="{FF2B5EF4-FFF2-40B4-BE49-F238E27FC236}">
                <a16:creationId xmlns:a16="http://schemas.microsoft.com/office/drawing/2014/main" id="{4148CFE1-77C6-49B9-A358-813A19AE89D3}"/>
              </a:ext>
            </a:extLst>
          </p:cNvPr>
          <p:cNvSpPr>
            <a:spLocks xmlns:a="http://schemas.openxmlformats.org/drawingml/2006/main" noGrp="1"/>
          </p:cNvSpPr>
          <p:nvPr/>
        </p:nvSpPr>
        <p:spPr>
          <a:xfrm xmlns:a="http://schemas.openxmlformats.org/drawingml/2006/main">
            <a:off x="6896100" y="4924425"/>
            <a:ext cx="46863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Tài khoản khác không truy cập được tài liệu của chủ sở hữu.</a:t>
            </a:r>
          </a:p>
        </p:txBody>
      </p:sp>
    </p:spTree>
    <p:extLst>
      <p:ext uri="{BB962C8B-B14F-4D97-AF65-F5344CB8AC3E}">
        <p14:creationId xmlns:p14="http://schemas.microsoft.com/office/powerpoint/2010/main" val="1412968307"/>
      </p:ext>
    </p:extLst>
  </p:cSld>
</p:sld>
</file>

<file path=ppt/slides/slide2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0A3308-2394-4291-9CFA-D74032D133FC}"/>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564B4BEB-1898-49E0-9760-28D71DF33A5B}"/>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Demo 2: tải tệp trực tiếp</a:t>
            </a:r>
          </a:p>
        </p:txBody>
      </p:sp>
      <p:sp>
        <p:nvSpPr>
          <p:cNvPr id="3" name="">
            <a:extLst xmlns:a="http://schemas.openxmlformats.org/drawingml/2006/main">
              <a:ext uri="{FF2B5EF4-FFF2-40B4-BE49-F238E27FC236}">
                <a16:creationId xmlns:a16="http://schemas.microsoft.com/office/drawing/2014/main" id="{CAE475AA-A091-48C0-AA12-CC48DE9D5FCE}"/>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012CB038-7941-408E-B36F-13DA45D3D5E5}"/>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22</a:t>
            </a:r>
          </a:p>
        </p:txBody>
      </p:sp>
      <p:pic>
        <p:nvPicPr>
          <p:cNvPr id="5" name="">
            <a:extLst xmlns:a="http://schemas.openxmlformats.org/drawingml/2006/main">
              <a:ext uri="{FF2B5EF4-FFF2-40B4-BE49-F238E27FC236}">
                <a16:creationId xmlns:a16="http://schemas.microsoft.com/office/drawing/2014/main" id="{EF946358-CDB9-4685-BF28-81FAF12BC909}"/>
              </a:ext>
            </a:extLst>
          </p:cNvPr>
          <p:cNvPicPr>
            <a:picLocks xmlns:a="http://schemas.openxmlformats.org/drawingml/2006/main" noChangeAspect="1"/>
          </p:cNvPicPr>
          <p:nvPr/>
        </p:nvPicPr>
        <p:blipFill>
          <a:blip xmlns:r="http://schemas.openxmlformats.org/officeDocument/2006/relationships" xmlns:a="http://schemas.openxmlformats.org/drawingml/2006/main" r:embed="R83a958d3b21c4611"/>
          <a:stretch xmlns:a="http://schemas.openxmlformats.org/drawingml/2006/main"/>
        </p:blipFill>
        <p:spPr>
          <a:xfrm xmlns:a="http://schemas.openxmlformats.org/drawingml/2006/main">
            <a:off x="7455910" y="1724025"/>
            <a:ext cx="3290455" cy="4343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678606-5D9F-47EB-B37A-25F0DDA5AC1B}"/>
              </a:ext>
            </a:extLst>
          </p:cNvPr>
          <p:cNvSpPr>
            <a:spLocks xmlns:a="http://schemas.openxmlformats.org/drawingml/2006/main" noGrp="1"/>
          </p:cNvSpPr>
          <p:nvPr/>
        </p:nvSpPr>
        <p:spPr>
          <a:xfrm xmlns:a="http://schemas.openxmlformats.org/drawingml/2006/main">
            <a:off x="609600" y="2181225"/>
            <a:ext cx="5486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1  Xin URL</a:t>
            </a:r>
          </a:p>
        </p:txBody>
      </p:sp>
      <p:sp>
        <p:nvSpPr>
          <p:cNvPr id="7" name="">
            <a:extLst xmlns:a="http://schemas.openxmlformats.org/drawingml/2006/main">
              <a:ext uri="{FF2B5EF4-FFF2-40B4-BE49-F238E27FC236}">
                <a16:creationId xmlns:a16="http://schemas.microsoft.com/office/drawing/2014/main" id="{9109BAB4-16D7-4E5A-9073-6E91F7B5B431}"/>
              </a:ext>
            </a:extLst>
          </p:cNvPr>
          <p:cNvSpPr>
            <a:spLocks xmlns:a="http://schemas.openxmlformats.org/drawingml/2006/main" noGrp="1"/>
          </p:cNvSpPr>
          <p:nvPr/>
        </p:nvSpPr>
        <p:spPr>
          <a:xfrm xmlns:a="http://schemas.openxmlformats.org/drawingml/2006/main">
            <a:off x="609600" y="2790825"/>
            <a:ext cx="541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Backend cấp key theo tài liệu và quyền sở hữu.</a:t>
            </a:r>
          </a:p>
        </p:txBody>
      </p:sp>
      <p:sp>
        <p:nvSpPr>
          <p:cNvPr id="8" name="">
            <a:extLst xmlns:a="http://schemas.openxmlformats.org/drawingml/2006/main">
              <a:ext uri="{FF2B5EF4-FFF2-40B4-BE49-F238E27FC236}">
                <a16:creationId xmlns:a16="http://schemas.microsoft.com/office/drawing/2014/main" id="{5FE6060B-F0CD-4027-A2F3-24A36DBC0A58}"/>
              </a:ext>
            </a:extLst>
          </p:cNvPr>
          <p:cNvSpPr>
            <a:spLocks xmlns:a="http://schemas.openxmlformats.org/drawingml/2006/main" noGrp="1"/>
          </p:cNvSpPr>
          <p:nvPr/>
        </p:nvSpPr>
        <p:spPr>
          <a:xfrm xmlns:a="http://schemas.openxmlformats.org/drawingml/2006/main">
            <a:off x="609600" y="3724275"/>
            <a:ext cx="5486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3A4C"/>
                </a:solidFill>
                <a:latin typeface="Arial"/>
                <a:ea typeface="Arial"/>
                <a:cs typeface="Arial"/>
              </a:defRPr>
            </a:defPPr>
            <a:lvl1pPr algn="l">
              <a:defRPr sz="2775" b="1">
                <a:solidFill>
                  <a:srgbClr val="163A4C"/>
                </a:solidFill>
                <a:latin typeface="Arial"/>
                <a:ea typeface="Arial"/>
                <a:cs typeface="Arial"/>
              </a:defRPr>
            </a:lvl1pPr>
            <a:lvl2pPr algn="l">
              <a:defRPr sz="2775" b="1">
                <a:solidFill>
                  <a:srgbClr val="163A4C"/>
                </a:solidFill>
                <a:latin typeface="Arial"/>
                <a:ea typeface="Arial"/>
                <a:cs typeface="Arial"/>
              </a:defRPr>
            </a:lvl2pPr>
            <a:lvl3pPr algn="l">
              <a:defRPr sz="2775" b="1">
                <a:solidFill>
                  <a:srgbClr val="163A4C"/>
                </a:solidFill>
                <a:latin typeface="Arial"/>
                <a:ea typeface="Arial"/>
                <a:cs typeface="Arial"/>
              </a:defRPr>
            </a:lvl3pPr>
            <a:lvl4pPr algn="l">
              <a:defRPr sz="2775" b="1">
                <a:solidFill>
                  <a:srgbClr val="163A4C"/>
                </a:solidFill>
                <a:latin typeface="Arial"/>
                <a:ea typeface="Arial"/>
                <a:cs typeface="Arial"/>
              </a:defRPr>
            </a:lvl4pPr>
            <a:lvl5pPr algn="l">
              <a:defRPr sz="2775" b="1">
                <a:solidFill>
                  <a:srgbClr val="163A4C"/>
                </a:solidFill>
                <a:latin typeface="Arial"/>
                <a:ea typeface="Arial"/>
                <a:cs typeface="Arial"/>
              </a:defRPr>
            </a:lvl5pPr>
            <a:lvl6pPr algn="l">
              <a:defRPr sz="2775" b="1">
                <a:solidFill>
                  <a:srgbClr val="163A4C"/>
                </a:solidFill>
                <a:latin typeface="Arial"/>
                <a:ea typeface="Arial"/>
                <a:cs typeface="Arial"/>
              </a:defRPr>
            </a:lvl6pPr>
            <a:lvl7pPr algn="l">
              <a:defRPr sz="2775" b="1">
                <a:solidFill>
                  <a:srgbClr val="163A4C"/>
                </a:solidFill>
                <a:latin typeface="Arial"/>
                <a:ea typeface="Arial"/>
                <a:cs typeface="Arial"/>
              </a:defRPr>
            </a:lvl7pPr>
            <a:lvl8pPr algn="l">
              <a:defRPr sz="2775" b="1">
                <a:solidFill>
                  <a:srgbClr val="163A4C"/>
                </a:solidFill>
                <a:latin typeface="Arial"/>
                <a:ea typeface="Arial"/>
                <a:cs typeface="Arial"/>
              </a:defRPr>
            </a:lvl8pPr>
            <a:lvl9pPr algn="l">
              <a:defRPr sz="2775" b="1">
                <a:solidFill>
                  <a:srgbClr val="163A4C"/>
                </a:solidFill>
                <a:latin typeface="Arial"/>
                <a:ea typeface="Arial"/>
                <a:cs typeface="Arial"/>
              </a:defRPr>
            </a:lvl9pPr>
          </a:lstStyle>
          <a:p xmlns:a="http://schemas.openxmlformats.org/drawingml/2006/main">
            <a:pPr algn="l">
              <a:defRPr sz="2775" b="1">
                <a:solidFill>
                  <a:srgbClr val="163A4C"/>
                </a:solidFill>
                <a:latin typeface="Arial"/>
                <a:ea typeface="Arial"/>
                <a:cs typeface="Arial"/>
              </a:defRPr>
            </a:pPr>
            <a:r>
              <a:rPr sz="2775" b="1">
                <a:solidFill>
                  <a:srgbClr val="163A4C"/>
                </a:solidFill>
                <a:latin typeface="Arial"/>
                <a:ea typeface="Arial"/>
                <a:cs typeface="Arial"/>
              </a:rPr>
              <a:t>2  PUT trực tiếp</a:t>
            </a:r>
          </a:p>
        </p:txBody>
      </p:sp>
      <p:sp>
        <p:nvSpPr>
          <p:cNvPr id="9" name="">
            <a:extLst xmlns:a="http://schemas.openxmlformats.org/drawingml/2006/main">
              <a:ext uri="{FF2B5EF4-FFF2-40B4-BE49-F238E27FC236}">
                <a16:creationId xmlns:a16="http://schemas.microsoft.com/office/drawing/2014/main" id="{35B7B53F-7A10-43A9-9F02-572FE5E87AF9}"/>
              </a:ext>
            </a:extLst>
          </p:cNvPr>
          <p:cNvSpPr>
            <a:spLocks xmlns:a="http://schemas.openxmlformats.org/drawingml/2006/main" noGrp="1"/>
          </p:cNvSpPr>
          <p:nvPr/>
        </p:nvSpPr>
        <p:spPr>
          <a:xfrm xmlns:a="http://schemas.openxmlformats.org/drawingml/2006/main">
            <a:off x="609600" y="4333875"/>
            <a:ext cx="5410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Browser truyền byte tới MinIO. FastAPI nhận metadata và finalize.</a:t>
            </a:r>
          </a:p>
        </p:txBody>
      </p:sp>
      <p:sp>
        <p:nvSpPr>
          <p:cNvPr id="10" name="">
            <a:extLst xmlns:a="http://schemas.openxmlformats.org/drawingml/2006/main">
              <a:ext uri="{FF2B5EF4-FFF2-40B4-BE49-F238E27FC236}">
                <a16:creationId xmlns:a16="http://schemas.microsoft.com/office/drawing/2014/main" id="{C8673688-0D85-4223-A962-928B2753AA5D}"/>
              </a:ext>
            </a:extLst>
          </p:cNvPr>
          <p:cNvSpPr>
            <a:spLocks xmlns:a="http://schemas.openxmlformats.org/drawingml/2006/main" noGrp="1"/>
          </p:cNvSpPr>
          <p:nvPr/>
        </p:nvSpPr>
        <p:spPr>
          <a:xfrm xmlns:a="http://schemas.openxmlformats.org/drawingml/2006/main">
            <a:off x="609600" y="5629275"/>
            <a:ext cx="5410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75B4B"/>
                </a:solidFill>
                <a:latin typeface="Arial"/>
                <a:ea typeface="Arial"/>
                <a:cs typeface="Arial"/>
              </a:defRPr>
            </a:defPPr>
            <a:lvl1pPr algn="l">
              <a:defRPr sz="2025" b="1">
                <a:solidFill>
                  <a:srgbClr val="B75B4B"/>
                </a:solidFill>
                <a:latin typeface="Arial"/>
                <a:ea typeface="Arial"/>
                <a:cs typeface="Arial"/>
              </a:defRPr>
            </a:lvl1pPr>
            <a:lvl2pPr algn="l">
              <a:defRPr sz="2025" b="1">
                <a:solidFill>
                  <a:srgbClr val="B75B4B"/>
                </a:solidFill>
                <a:latin typeface="Arial"/>
                <a:ea typeface="Arial"/>
                <a:cs typeface="Arial"/>
              </a:defRPr>
            </a:lvl2pPr>
            <a:lvl3pPr algn="l">
              <a:defRPr sz="2025" b="1">
                <a:solidFill>
                  <a:srgbClr val="B75B4B"/>
                </a:solidFill>
                <a:latin typeface="Arial"/>
                <a:ea typeface="Arial"/>
                <a:cs typeface="Arial"/>
              </a:defRPr>
            </a:lvl3pPr>
            <a:lvl4pPr algn="l">
              <a:defRPr sz="2025" b="1">
                <a:solidFill>
                  <a:srgbClr val="B75B4B"/>
                </a:solidFill>
                <a:latin typeface="Arial"/>
                <a:ea typeface="Arial"/>
                <a:cs typeface="Arial"/>
              </a:defRPr>
            </a:lvl4pPr>
            <a:lvl5pPr algn="l">
              <a:defRPr sz="2025" b="1">
                <a:solidFill>
                  <a:srgbClr val="B75B4B"/>
                </a:solidFill>
                <a:latin typeface="Arial"/>
                <a:ea typeface="Arial"/>
                <a:cs typeface="Arial"/>
              </a:defRPr>
            </a:lvl5pPr>
            <a:lvl6pPr algn="l">
              <a:defRPr sz="2025" b="1">
                <a:solidFill>
                  <a:srgbClr val="B75B4B"/>
                </a:solidFill>
                <a:latin typeface="Arial"/>
                <a:ea typeface="Arial"/>
                <a:cs typeface="Arial"/>
              </a:defRPr>
            </a:lvl6pPr>
            <a:lvl7pPr algn="l">
              <a:defRPr sz="2025" b="1">
                <a:solidFill>
                  <a:srgbClr val="B75B4B"/>
                </a:solidFill>
                <a:latin typeface="Arial"/>
                <a:ea typeface="Arial"/>
                <a:cs typeface="Arial"/>
              </a:defRPr>
            </a:lvl7pPr>
            <a:lvl8pPr algn="l">
              <a:defRPr sz="2025" b="1">
                <a:solidFill>
                  <a:srgbClr val="B75B4B"/>
                </a:solidFill>
                <a:latin typeface="Arial"/>
                <a:ea typeface="Arial"/>
                <a:cs typeface="Arial"/>
              </a:defRPr>
            </a:lvl8pPr>
            <a:lvl9pPr algn="l">
              <a:defRPr sz="2025" b="1">
                <a:solidFill>
                  <a:srgbClr val="B75B4B"/>
                </a:solidFill>
                <a:latin typeface="Arial"/>
                <a:ea typeface="Arial"/>
                <a:cs typeface="Arial"/>
              </a:defRPr>
            </a:lvl9pPr>
          </a:lstStyle>
          <a:p xmlns:a="http://schemas.openxmlformats.org/drawingml/2006/main">
            <a:pPr algn="l">
              <a:defRPr sz="2025" b="1">
                <a:solidFill>
                  <a:srgbClr val="B75B4B"/>
                </a:solidFill>
                <a:latin typeface="Arial"/>
                <a:ea typeface="Arial"/>
                <a:cs typeface="Arial"/>
              </a:defRPr>
            </a:pPr>
            <a:r>
              <a:rPr sz="2025" b="1">
                <a:solidFill>
                  <a:srgbClr val="B75B4B"/>
                </a:solidFill>
                <a:latin typeface="Arial"/>
                <a:ea typeface="Arial"/>
                <a:cs typeface="Arial"/>
              </a:rPr>
              <a:t>HEAD đúng VersionId trước khi xác nhận.</a:t>
            </a:r>
          </a:p>
        </p:txBody>
      </p:sp>
    </p:spTree>
    <p:extLst>
      <p:ext uri="{BB962C8B-B14F-4D97-AF65-F5344CB8AC3E}">
        <p14:creationId xmlns:p14="http://schemas.microsoft.com/office/powerpoint/2010/main" val="772837272"/>
      </p:ext>
    </p:extLst>
  </p:cSld>
</p:sld>
</file>

<file path=ppt/slides/slide23.xml><?xml version="1.0" encoding="utf-8"?>
<p:sld xmlns:p="http://schemas.openxmlformats.org/presentationml/2006/main">
  <p:cSld>
    <p:bg>
      <p:bgPr>
        <a:solidFill xmlns:a="http://schemas.openxmlformats.org/drawingml/2006/main">
          <a:srgbClr val="075D6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13DD84-0B44-49A4-92F2-BD047472F96F}"/>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69FA62D5-7D6E-45F1-9B29-BEF7517C0EB0}"/>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Demo 3: tải tệp tạm thời</a:t>
            </a:r>
          </a:p>
        </p:txBody>
      </p:sp>
      <p:sp>
        <p:nvSpPr>
          <p:cNvPr id="3" name="">
            <a:extLst xmlns:a="http://schemas.openxmlformats.org/drawingml/2006/main">
              <a:ext uri="{FF2B5EF4-FFF2-40B4-BE49-F238E27FC236}">
                <a16:creationId xmlns:a16="http://schemas.microsoft.com/office/drawing/2014/main" id="{DADBEEDF-766B-45EE-BE26-79E33C3CCBA4}"/>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4F0CDF7F-6CF6-4FD3-BF3E-6A224C0AF2CD}"/>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1E827B0C-F480-4971-BDA4-1A61D4A3A010}"/>
              </a:ext>
            </a:extLst>
          </p:cNvPr>
          <p:cNvSpPr>
            <a:spLocks xmlns:a="http://schemas.openxmlformats.org/drawingml/2006/main" noGrp="1"/>
          </p:cNvSpPr>
          <p:nvPr/>
        </p:nvSpPr>
        <p:spPr>
          <a:xfrm xmlns:a="http://schemas.openxmlformats.org/drawingml/2006/main">
            <a:off x="609600" y="1971675"/>
            <a:ext cx="53340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850" b="1">
                <a:solidFill>
                  <a:srgbClr val="58D9E8"/>
                </a:solidFill>
                <a:latin typeface="Arial"/>
                <a:ea typeface="Arial"/>
                <a:cs typeface="Arial"/>
              </a:defRPr>
            </a:defPPr>
            <a:lvl1pPr algn="l">
              <a:defRPr sz="14850" b="1">
                <a:solidFill>
                  <a:srgbClr val="58D9E8"/>
                </a:solidFill>
                <a:latin typeface="Arial"/>
                <a:ea typeface="Arial"/>
                <a:cs typeface="Arial"/>
              </a:defRPr>
            </a:lvl1pPr>
            <a:lvl2pPr algn="l">
              <a:defRPr sz="14850" b="1">
                <a:solidFill>
                  <a:srgbClr val="58D9E8"/>
                </a:solidFill>
                <a:latin typeface="Arial"/>
                <a:ea typeface="Arial"/>
                <a:cs typeface="Arial"/>
              </a:defRPr>
            </a:lvl2pPr>
            <a:lvl3pPr algn="l">
              <a:defRPr sz="14850" b="1">
                <a:solidFill>
                  <a:srgbClr val="58D9E8"/>
                </a:solidFill>
                <a:latin typeface="Arial"/>
                <a:ea typeface="Arial"/>
                <a:cs typeface="Arial"/>
              </a:defRPr>
            </a:lvl3pPr>
            <a:lvl4pPr algn="l">
              <a:defRPr sz="14850" b="1">
                <a:solidFill>
                  <a:srgbClr val="58D9E8"/>
                </a:solidFill>
                <a:latin typeface="Arial"/>
                <a:ea typeface="Arial"/>
                <a:cs typeface="Arial"/>
              </a:defRPr>
            </a:lvl4pPr>
            <a:lvl5pPr algn="l">
              <a:defRPr sz="14850" b="1">
                <a:solidFill>
                  <a:srgbClr val="58D9E8"/>
                </a:solidFill>
                <a:latin typeface="Arial"/>
                <a:ea typeface="Arial"/>
                <a:cs typeface="Arial"/>
              </a:defRPr>
            </a:lvl5pPr>
            <a:lvl6pPr algn="l">
              <a:defRPr sz="14850" b="1">
                <a:solidFill>
                  <a:srgbClr val="58D9E8"/>
                </a:solidFill>
                <a:latin typeface="Arial"/>
                <a:ea typeface="Arial"/>
                <a:cs typeface="Arial"/>
              </a:defRPr>
            </a:lvl6pPr>
            <a:lvl7pPr algn="l">
              <a:defRPr sz="14850" b="1">
                <a:solidFill>
                  <a:srgbClr val="58D9E8"/>
                </a:solidFill>
                <a:latin typeface="Arial"/>
                <a:ea typeface="Arial"/>
                <a:cs typeface="Arial"/>
              </a:defRPr>
            </a:lvl7pPr>
            <a:lvl8pPr algn="l">
              <a:defRPr sz="14850" b="1">
                <a:solidFill>
                  <a:srgbClr val="58D9E8"/>
                </a:solidFill>
                <a:latin typeface="Arial"/>
                <a:ea typeface="Arial"/>
                <a:cs typeface="Arial"/>
              </a:defRPr>
            </a:lvl8pPr>
            <a:lvl9pPr algn="l">
              <a:defRPr sz="14850" b="1">
                <a:solidFill>
                  <a:srgbClr val="58D9E8"/>
                </a:solidFill>
                <a:latin typeface="Arial"/>
                <a:ea typeface="Arial"/>
                <a:cs typeface="Arial"/>
              </a:defRPr>
            </a:lvl9pPr>
          </a:lstStyle>
          <a:p xmlns:a="http://schemas.openxmlformats.org/drawingml/2006/main">
            <a:pPr algn="l">
              <a:defRPr sz="14850" b="1">
                <a:solidFill>
                  <a:srgbClr val="58D9E8"/>
                </a:solidFill>
                <a:latin typeface="Arial"/>
                <a:ea typeface="Arial"/>
                <a:cs typeface="Arial"/>
              </a:defRPr>
            </a:pPr>
            <a:r>
              <a:rPr sz="14850" b="1">
                <a:solidFill>
                  <a:srgbClr val="58D9E8"/>
                </a:solidFill>
                <a:latin typeface="Arial"/>
                <a:ea typeface="Arial"/>
                <a:cs typeface="Arial"/>
              </a:rPr>
              <a:t>60</a:t>
            </a:r>
          </a:p>
        </p:txBody>
      </p:sp>
      <p:sp>
        <p:nvSpPr>
          <p:cNvPr id="6" name="">
            <a:extLst xmlns:a="http://schemas.openxmlformats.org/drawingml/2006/main">
              <a:ext uri="{FF2B5EF4-FFF2-40B4-BE49-F238E27FC236}">
                <a16:creationId xmlns:a16="http://schemas.microsoft.com/office/drawing/2014/main" id="{5C09066C-7CB4-4C82-8667-F466FCED6E71}"/>
              </a:ext>
            </a:extLst>
          </p:cNvPr>
          <p:cNvSpPr>
            <a:spLocks xmlns:a="http://schemas.openxmlformats.org/drawingml/2006/main" noGrp="1"/>
          </p:cNvSpPr>
          <p:nvPr/>
        </p:nvSpPr>
        <p:spPr>
          <a:xfrm xmlns:a="http://schemas.openxmlformats.org/drawingml/2006/main">
            <a:off x="685800" y="42862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Arial"/>
                <a:ea typeface="Arial"/>
                <a:cs typeface="Arial"/>
              </a:defRPr>
            </a:defPPr>
            <a:lvl1pPr algn="l">
              <a:defRPr sz="2925" b="1">
                <a:solidFill>
                  <a:srgbClr val="FFFFFF"/>
                </a:solidFill>
                <a:latin typeface="Arial"/>
                <a:ea typeface="Arial"/>
                <a:cs typeface="Arial"/>
              </a:defRPr>
            </a:lvl1pPr>
            <a:lvl2pPr algn="l">
              <a:defRPr sz="2925" b="1">
                <a:solidFill>
                  <a:srgbClr val="FFFFFF"/>
                </a:solidFill>
                <a:latin typeface="Arial"/>
                <a:ea typeface="Arial"/>
                <a:cs typeface="Arial"/>
              </a:defRPr>
            </a:lvl2pPr>
            <a:lvl3pPr algn="l">
              <a:defRPr sz="2925" b="1">
                <a:solidFill>
                  <a:srgbClr val="FFFFFF"/>
                </a:solidFill>
                <a:latin typeface="Arial"/>
                <a:ea typeface="Arial"/>
                <a:cs typeface="Arial"/>
              </a:defRPr>
            </a:lvl3pPr>
            <a:lvl4pPr algn="l">
              <a:defRPr sz="2925" b="1">
                <a:solidFill>
                  <a:srgbClr val="FFFFFF"/>
                </a:solidFill>
                <a:latin typeface="Arial"/>
                <a:ea typeface="Arial"/>
                <a:cs typeface="Arial"/>
              </a:defRPr>
            </a:lvl4pPr>
            <a:lvl5pPr algn="l">
              <a:defRPr sz="2925" b="1">
                <a:solidFill>
                  <a:srgbClr val="FFFFFF"/>
                </a:solidFill>
                <a:latin typeface="Arial"/>
                <a:ea typeface="Arial"/>
                <a:cs typeface="Arial"/>
              </a:defRPr>
            </a:lvl5pPr>
            <a:lvl6pPr algn="l">
              <a:defRPr sz="2925" b="1">
                <a:solidFill>
                  <a:srgbClr val="FFFFFF"/>
                </a:solidFill>
                <a:latin typeface="Arial"/>
                <a:ea typeface="Arial"/>
                <a:cs typeface="Arial"/>
              </a:defRPr>
            </a:lvl6pPr>
            <a:lvl7pPr algn="l">
              <a:defRPr sz="2925" b="1">
                <a:solidFill>
                  <a:srgbClr val="FFFFFF"/>
                </a:solidFill>
                <a:latin typeface="Arial"/>
                <a:ea typeface="Arial"/>
                <a:cs typeface="Arial"/>
              </a:defRPr>
            </a:lvl7pPr>
            <a:lvl8pPr algn="l">
              <a:defRPr sz="2925" b="1">
                <a:solidFill>
                  <a:srgbClr val="FFFFFF"/>
                </a:solidFill>
                <a:latin typeface="Arial"/>
                <a:ea typeface="Arial"/>
                <a:cs typeface="Arial"/>
              </a:defRPr>
            </a:lvl8pPr>
            <a:lvl9pPr algn="l">
              <a:defRPr sz="2925" b="1">
                <a:solidFill>
                  <a:srgbClr val="FFFFFF"/>
                </a:solidFill>
                <a:latin typeface="Arial"/>
                <a:ea typeface="Arial"/>
                <a:cs typeface="Arial"/>
              </a:defRPr>
            </a:lvl9pPr>
          </a:lstStyle>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giây cho URL tải</a:t>
            </a:r>
          </a:p>
        </p:txBody>
      </p:sp>
      <p:sp>
        <p:nvSpPr>
          <p:cNvPr id="7" name="">
            <a:extLst xmlns:a="http://schemas.openxmlformats.org/drawingml/2006/main">
              <a:ext uri="{FF2B5EF4-FFF2-40B4-BE49-F238E27FC236}">
                <a16:creationId xmlns:a16="http://schemas.microsoft.com/office/drawing/2014/main" id="{909DA5AC-69D3-46A8-8AA8-C3E258D126CE}"/>
              </a:ext>
            </a:extLst>
          </p:cNvPr>
          <p:cNvSpPr>
            <a:spLocks xmlns:a="http://schemas.openxmlformats.org/drawingml/2006/main" noGrp="1"/>
          </p:cNvSpPr>
          <p:nvPr/>
        </p:nvSpPr>
        <p:spPr>
          <a:xfrm xmlns:a="http://schemas.openxmlformats.org/drawingml/2006/main">
            <a:off x="685800" y="5295900"/>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Link là bearer token và có thể dùng lại trước hết hạn.</a:t>
            </a:r>
          </a:p>
        </p:txBody>
      </p:sp>
      <p:sp>
        <p:nvSpPr>
          <p:cNvPr id="8" name="">
            <a:extLst xmlns:a="http://schemas.openxmlformats.org/drawingml/2006/main">
              <a:ext uri="{FF2B5EF4-FFF2-40B4-BE49-F238E27FC236}">
                <a16:creationId xmlns:a16="http://schemas.microsoft.com/office/drawing/2014/main" id="{6794A60C-8032-4C7B-8AE6-27F983FF69F1}"/>
              </a:ext>
            </a:extLst>
          </p:cNvPr>
          <p:cNvSpPr>
            <a:spLocks xmlns:a="http://schemas.openxmlformats.org/drawingml/2006/main" noGrp="1"/>
          </p:cNvSpPr>
          <p:nvPr/>
        </p:nvSpPr>
        <p:spPr>
          <a:xfrm xmlns:a="http://schemas.openxmlformats.org/drawingml/2006/main">
            <a:off x="6953250" y="2305050"/>
            <a:ext cx="462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GET thành công</a:t>
            </a:r>
          </a:p>
        </p:txBody>
      </p:sp>
      <p:sp>
        <p:nvSpPr>
          <p:cNvPr id="9" name="">
            <a:extLst xmlns:a="http://schemas.openxmlformats.org/drawingml/2006/main">
              <a:ext uri="{FF2B5EF4-FFF2-40B4-BE49-F238E27FC236}">
                <a16:creationId xmlns:a16="http://schemas.microsoft.com/office/drawing/2014/main" id="{8DD030F8-4C51-4A1C-B0C1-94C982415CF9}"/>
              </a:ext>
            </a:extLst>
          </p:cNvPr>
          <p:cNvSpPr>
            <a:spLocks xmlns:a="http://schemas.openxmlformats.org/drawingml/2006/main" noGrp="1"/>
          </p:cNvSpPr>
          <p:nvPr/>
        </p:nvSpPr>
        <p:spPr>
          <a:xfrm xmlns:a="http://schemas.openxmlformats.org/drawingml/2006/main">
            <a:off x="6953250" y="3286125"/>
            <a:ext cx="46291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CEBED"/>
                </a:solidFill>
                <a:latin typeface="Arial"/>
                <a:ea typeface="Arial"/>
                <a:cs typeface="Arial"/>
              </a:defRPr>
            </a:defPPr>
            <a:lvl1pPr algn="l">
              <a:defRPr sz="2250" b="0">
                <a:solidFill>
                  <a:srgbClr val="DCEBED"/>
                </a:solidFill>
                <a:latin typeface="Arial"/>
                <a:ea typeface="Arial"/>
                <a:cs typeface="Arial"/>
              </a:defRPr>
            </a:lvl1pPr>
            <a:lvl2pPr algn="l">
              <a:defRPr sz="2250" b="0">
                <a:solidFill>
                  <a:srgbClr val="DCEBED"/>
                </a:solidFill>
                <a:latin typeface="Arial"/>
                <a:ea typeface="Arial"/>
                <a:cs typeface="Arial"/>
              </a:defRPr>
            </a:lvl2pPr>
            <a:lvl3pPr algn="l">
              <a:defRPr sz="2250" b="0">
                <a:solidFill>
                  <a:srgbClr val="DCEBED"/>
                </a:solidFill>
                <a:latin typeface="Arial"/>
                <a:ea typeface="Arial"/>
                <a:cs typeface="Arial"/>
              </a:defRPr>
            </a:lvl3pPr>
            <a:lvl4pPr algn="l">
              <a:defRPr sz="2250" b="0">
                <a:solidFill>
                  <a:srgbClr val="DCEBED"/>
                </a:solidFill>
                <a:latin typeface="Arial"/>
                <a:ea typeface="Arial"/>
                <a:cs typeface="Arial"/>
              </a:defRPr>
            </a:lvl4pPr>
            <a:lvl5pPr algn="l">
              <a:defRPr sz="2250" b="0">
                <a:solidFill>
                  <a:srgbClr val="DCEBED"/>
                </a:solidFill>
                <a:latin typeface="Arial"/>
                <a:ea typeface="Arial"/>
                <a:cs typeface="Arial"/>
              </a:defRPr>
            </a:lvl5pPr>
            <a:lvl6pPr algn="l">
              <a:defRPr sz="2250" b="0">
                <a:solidFill>
                  <a:srgbClr val="DCEBED"/>
                </a:solidFill>
                <a:latin typeface="Arial"/>
                <a:ea typeface="Arial"/>
                <a:cs typeface="Arial"/>
              </a:defRPr>
            </a:lvl6pPr>
            <a:lvl7pPr algn="l">
              <a:defRPr sz="2250" b="0">
                <a:solidFill>
                  <a:srgbClr val="DCEBED"/>
                </a:solidFill>
                <a:latin typeface="Arial"/>
                <a:ea typeface="Arial"/>
                <a:cs typeface="Arial"/>
              </a:defRPr>
            </a:lvl7pPr>
            <a:lvl8pPr algn="l">
              <a:defRPr sz="2250" b="0">
                <a:solidFill>
                  <a:srgbClr val="DCEBED"/>
                </a:solidFill>
                <a:latin typeface="Arial"/>
                <a:ea typeface="Arial"/>
                <a:cs typeface="Arial"/>
              </a:defRPr>
            </a:lvl8pPr>
            <a:lvl9pPr algn="l">
              <a:defRPr sz="2250" b="0">
                <a:solidFill>
                  <a:srgbClr val="DCEBED"/>
                </a:solidFill>
                <a:latin typeface="Arial"/>
                <a:ea typeface="Arial"/>
                <a:cs typeface="Arial"/>
              </a:defRPr>
            </a:lvl9pPr>
          </a:lstStyle>
          <a:p xmlns:a="http://schemas.openxmlformats.org/drawingml/2006/main">
            <a:pPr algn="l">
              <a:defRPr sz="2250" b="0">
                <a:solidFill>
                  <a:srgbClr val="DCEBED"/>
                </a:solidFill>
                <a:latin typeface="Arial"/>
                <a:ea typeface="Arial"/>
                <a:cs typeface="Arial"/>
              </a:defRPr>
            </a:pPr>
            <a:r>
              <a:rPr sz="2250" b="0">
                <a:solidFill>
                  <a:srgbClr val="DCEBED"/>
                </a:solidFill>
                <a:latin typeface="Arial"/>
                <a:ea typeface="Arial"/>
                <a:cs typeface="Arial"/>
              </a:rPr>
              <a:t>Backend ký cho object version đã xác nhận, sau khi kiểm tra quyền.</a:t>
            </a:r>
          </a:p>
        </p:txBody>
      </p:sp>
      <p:sp>
        <p:nvSpPr>
          <p:cNvPr id="10" name="">
            <a:extLst xmlns:a="http://schemas.openxmlformats.org/drawingml/2006/main">
              <a:ext uri="{FF2B5EF4-FFF2-40B4-BE49-F238E27FC236}">
                <a16:creationId xmlns:a16="http://schemas.microsoft.com/office/drawing/2014/main" id="{4B79113E-CAE6-4BC7-8E23-309EF4CBD9A0}"/>
              </a:ext>
            </a:extLst>
          </p:cNvPr>
          <p:cNvSpPr>
            <a:spLocks xmlns:a="http://schemas.openxmlformats.org/drawingml/2006/main" noGrp="1"/>
          </p:cNvSpPr>
          <p:nvPr/>
        </p:nvSpPr>
        <p:spPr>
          <a:xfrm xmlns:a="http://schemas.openxmlformats.org/drawingml/2006/main">
            <a:off x="6953250" y="4838700"/>
            <a:ext cx="4629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9989"/>
                </a:solidFill>
                <a:latin typeface="Arial"/>
                <a:ea typeface="Arial"/>
                <a:cs typeface="Arial"/>
              </a:defRPr>
            </a:defPPr>
            <a:lvl1pPr algn="l">
              <a:defRPr sz="3225" b="1">
                <a:solidFill>
                  <a:srgbClr val="FF9989"/>
                </a:solidFill>
                <a:latin typeface="Arial"/>
                <a:ea typeface="Arial"/>
                <a:cs typeface="Arial"/>
              </a:defRPr>
            </a:lvl1pPr>
            <a:lvl2pPr algn="l">
              <a:defRPr sz="3225" b="1">
                <a:solidFill>
                  <a:srgbClr val="FF9989"/>
                </a:solidFill>
                <a:latin typeface="Arial"/>
                <a:ea typeface="Arial"/>
                <a:cs typeface="Arial"/>
              </a:defRPr>
            </a:lvl2pPr>
            <a:lvl3pPr algn="l">
              <a:defRPr sz="3225" b="1">
                <a:solidFill>
                  <a:srgbClr val="FF9989"/>
                </a:solidFill>
                <a:latin typeface="Arial"/>
                <a:ea typeface="Arial"/>
                <a:cs typeface="Arial"/>
              </a:defRPr>
            </a:lvl3pPr>
            <a:lvl4pPr algn="l">
              <a:defRPr sz="3225" b="1">
                <a:solidFill>
                  <a:srgbClr val="FF9989"/>
                </a:solidFill>
                <a:latin typeface="Arial"/>
                <a:ea typeface="Arial"/>
                <a:cs typeface="Arial"/>
              </a:defRPr>
            </a:lvl4pPr>
            <a:lvl5pPr algn="l">
              <a:defRPr sz="3225" b="1">
                <a:solidFill>
                  <a:srgbClr val="FF9989"/>
                </a:solidFill>
                <a:latin typeface="Arial"/>
                <a:ea typeface="Arial"/>
                <a:cs typeface="Arial"/>
              </a:defRPr>
            </a:lvl5pPr>
            <a:lvl6pPr algn="l">
              <a:defRPr sz="3225" b="1">
                <a:solidFill>
                  <a:srgbClr val="FF9989"/>
                </a:solidFill>
                <a:latin typeface="Arial"/>
                <a:ea typeface="Arial"/>
                <a:cs typeface="Arial"/>
              </a:defRPr>
            </a:lvl6pPr>
            <a:lvl7pPr algn="l">
              <a:defRPr sz="3225" b="1">
                <a:solidFill>
                  <a:srgbClr val="FF9989"/>
                </a:solidFill>
                <a:latin typeface="Arial"/>
                <a:ea typeface="Arial"/>
                <a:cs typeface="Arial"/>
              </a:defRPr>
            </a:lvl7pPr>
            <a:lvl8pPr algn="l">
              <a:defRPr sz="3225" b="1">
                <a:solidFill>
                  <a:srgbClr val="FF9989"/>
                </a:solidFill>
                <a:latin typeface="Arial"/>
                <a:ea typeface="Arial"/>
                <a:cs typeface="Arial"/>
              </a:defRPr>
            </a:lvl8pPr>
            <a:lvl9pPr algn="l">
              <a:defRPr sz="3225" b="1">
                <a:solidFill>
                  <a:srgbClr val="FF9989"/>
                </a:solidFill>
                <a:latin typeface="Arial"/>
                <a:ea typeface="Arial"/>
                <a:cs typeface="Arial"/>
              </a:defRPr>
            </a:lvl9pPr>
          </a:lstStyle>
          <a:p xmlns:a="http://schemas.openxmlformats.org/drawingml/2006/main">
            <a:pPr algn="l">
              <a:defRPr sz="3225" b="1">
                <a:solidFill>
                  <a:srgbClr val="FF9989"/>
                </a:solidFill>
                <a:latin typeface="Arial"/>
                <a:ea typeface="Arial"/>
                <a:cs typeface="Arial"/>
              </a:defRPr>
            </a:pPr>
            <a:r>
              <a:rPr sz="3225" b="1">
                <a:solidFill>
                  <a:srgbClr val="FF9989"/>
                </a:solidFill>
                <a:latin typeface="Arial"/>
                <a:ea typeface="Arial"/>
                <a:cs typeface="Arial"/>
              </a:rPr>
              <a:t>403 sau TTL</a:t>
            </a:r>
          </a:p>
        </p:txBody>
      </p:sp>
      <p:sp>
        <p:nvSpPr>
          <p:cNvPr id="11" name="">
            <a:extLst xmlns:a="http://schemas.openxmlformats.org/drawingml/2006/main">
              <a:ext uri="{FF2B5EF4-FFF2-40B4-BE49-F238E27FC236}">
                <a16:creationId xmlns:a16="http://schemas.microsoft.com/office/drawing/2014/main" id="{508FC739-4FC6-438C-94F3-A114C54E8945}"/>
              </a:ext>
            </a:extLst>
          </p:cNvPr>
          <p:cNvSpPr>
            <a:spLocks xmlns:a="http://schemas.openxmlformats.org/drawingml/2006/main" noGrp="1"/>
          </p:cNvSpPr>
          <p:nvPr/>
        </p:nvSpPr>
        <p:spPr>
          <a:xfrm xmlns:a="http://schemas.openxmlformats.org/drawingml/2006/main">
            <a:off x="6953250" y="5629275"/>
            <a:ext cx="462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CEBED"/>
                </a:solidFill>
                <a:latin typeface="Arial"/>
                <a:ea typeface="Arial"/>
                <a:cs typeface="Arial"/>
              </a:defRPr>
            </a:defPPr>
            <a:lvl1pPr algn="l">
              <a:defRPr sz="2025" b="0">
                <a:solidFill>
                  <a:srgbClr val="DCEBED"/>
                </a:solidFill>
                <a:latin typeface="Arial"/>
                <a:ea typeface="Arial"/>
                <a:cs typeface="Arial"/>
              </a:defRPr>
            </a:lvl1pPr>
            <a:lvl2pPr algn="l">
              <a:defRPr sz="2025" b="0">
                <a:solidFill>
                  <a:srgbClr val="DCEBED"/>
                </a:solidFill>
                <a:latin typeface="Arial"/>
                <a:ea typeface="Arial"/>
                <a:cs typeface="Arial"/>
              </a:defRPr>
            </a:lvl2pPr>
            <a:lvl3pPr algn="l">
              <a:defRPr sz="2025" b="0">
                <a:solidFill>
                  <a:srgbClr val="DCEBED"/>
                </a:solidFill>
                <a:latin typeface="Arial"/>
                <a:ea typeface="Arial"/>
                <a:cs typeface="Arial"/>
              </a:defRPr>
            </a:lvl3pPr>
            <a:lvl4pPr algn="l">
              <a:defRPr sz="2025" b="0">
                <a:solidFill>
                  <a:srgbClr val="DCEBED"/>
                </a:solidFill>
                <a:latin typeface="Arial"/>
                <a:ea typeface="Arial"/>
                <a:cs typeface="Arial"/>
              </a:defRPr>
            </a:lvl4pPr>
            <a:lvl5pPr algn="l">
              <a:defRPr sz="2025" b="0">
                <a:solidFill>
                  <a:srgbClr val="DCEBED"/>
                </a:solidFill>
                <a:latin typeface="Arial"/>
                <a:ea typeface="Arial"/>
                <a:cs typeface="Arial"/>
              </a:defRPr>
            </a:lvl5pPr>
            <a:lvl6pPr algn="l">
              <a:defRPr sz="2025" b="0">
                <a:solidFill>
                  <a:srgbClr val="DCEBED"/>
                </a:solidFill>
                <a:latin typeface="Arial"/>
                <a:ea typeface="Arial"/>
                <a:cs typeface="Arial"/>
              </a:defRPr>
            </a:lvl6pPr>
            <a:lvl7pPr algn="l">
              <a:defRPr sz="2025" b="0">
                <a:solidFill>
                  <a:srgbClr val="DCEBED"/>
                </a:solidFill>
                <a:latin typeface="Arial"/>
                <a:ea typeface="Arial"/>
                <a:cs typeface="Arial"/>
              </a:defRPr>
            </a:lvl7pPr>
            <a:lvl8pPr algn="l">
              <a:defRPr sz="2025" b="0">
                <a:solidFill>
                  <a:srgbClr val="DCEBED"/>
                </a:solidFill>
                <a:latin typeface="Arial"/>
                <a:ea typeface="Arial"/>
                <a:cs typeface="Arial"/>
              </a:defRPr>
            </a:lvl8pPr>
            <a:lvl9pPr algn="l">
              <a:defRPr sz="2025" b="0">
                <a:solidFill>
                  <a:srgbClr val="DCEBED"/>
                </a:solidFill>
                <a:latin typeface="Arial"/>
                <a:ea typeface="Arial"/>
                <a:cs typeface="Arial"/>
              </a:defRPr>
            </a:lvl9pPr>
          </a:lstStyle>
          <a:p xmlns:a="http://schemas.openxmlformats.org/drawingml/2006/main">
            <a:pPr algn="l">
              <a:defRPr sz="2025" b="0">
                <a:solidFill>
                  <a:srgbClr val="DCEBED"/>
                </a:solidFill>
                <a:latin typeface="Arial"/>
                <a:ea typeface="Arial"/>
                <a:cs typeface="Arial"/>
              </a:defRPr>
            </a:pPr>
            <a:r>
              <a:rPr sz="2025" b="0">
                <a:solidFill>
                  <a:srgbClr val="DCEBED"/>
                </a:solidFill>
                <a:latin typeface="Arial"/>
                <a:ea typeface="Arial"/>
                <a:cs typeface="Arial"/>
              </a:rPr>
              <a:t>Request mới bằng cùng URL bị từ chối.</a:t>
            </a:r>
          </a:p>
        </p:txBody>
      </p:sp>
    </p:spTree>
    <p:extLst>
      <p:ext uri="{BB962C8B-B14F-4D97-AF65-F5344CB8AC3E}">
        <p14:creationId xmlns:p14="http://schemas.microsoft.com/office/powerpoint/2010/main" val="479946445"/>
      </p:ext>
    </p:extLst>
  </p:cSld>
</p:sld>
</file>

<file path=ppt/slides/slide2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46414D-44C5-436E-9304-F94E270F7637}"/>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9AED396B-61A0-45B6-AF2E-3D304BBD9D45}"/>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Demo 4: quản lý phiên bản</a:t>
            </a:r>
          </a:p>
        </p:txBody>
      </p:sp>
      <p:sp>
        <p:nvSpPr>
          <p:cNvPr id="3" name="">
            <a:extLst xmlns:a="http://schemas.openxmlformats.org/drawingml/2006/main">
              <a:ext uri="{FF2B5EF4-FFF2-40B4-BE49-F238E27FC236}">
                <a16:creationId xmlns:a16="http://schemas.microsoft.com/office/drawing/2014/main" id="{444A3243-B4B1-4187-A57F-3DF5EA5F822D}"/>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4D7AAEB5-2D32-4D53-AEA5-60FD39A5FAA0}"/>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3F437CE7-FEF6-4194-B801-AA3D016C13EE}"/>
              </a:ext>
            </a:extLst>
          </p:cNvPr>
          <p:cNvSpPr>
            <a:spLocks xmlns:a="http://schemas.openxmlformats.org/drawingml/2006/main" noGrp="1"/>
          </p:cNvSpPr>
          <p:nvPr/>
        </p:nvSpPr>
        <p:spPr>
          <a:xfrm xmlns:a="http://schemas.openxmlformats.org/drawingml/2006/main">
            <a:off x="609600" y="2171700"/>
            <a:ext cx="4953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25" b="1">
                <a:solidFill>
                  <a:srgbClr val="075D68"/>
                </a:solidFill>
                <a:latin typeface="Arial"/>
                <a:ea typeface="Arial"/>
                <a:cs typeface="Arial"/>
              </a:defRPr>
            </a:defPPr>
            <a:lvl1pPr algn="l">
              <a:defRPr sz="8625" b="1">
                <a:solidFill>
                  <a:srgbClr val="075D68"/>
                </a:solidFill>
                <a:latin typeface="Arial"/>
                <a:ea typeface="Arial"/>
                <a:cs typeface="Arial"/>
              </a:defRPr>
            </a:lvl1pPr>
            <a:lvl2pPr algn="l">
              <a:defRPr sz="8625" b="1">
                <a:solidFill>
                  <a:srgbClr val="075D68"/>
                </a:solidFill>
                <a:latin typeface="Arial"/>
                <a:ea typeface="Arial"/>
                <a:cs typeface="Arial"/>
              </a:defRPr>
            </a:lvl2pPr>
            <a:lvl3pPr algn="l">
              <a:defRPr sz="8625" b="1">
                <a:solidFill>
                  <a:srgbClr val="075D68"/>
                </a:solidFill>
                <a:latin typeface="Arial"/>
                <a:ea typeface="Arial"/>
                <a:cs typeface="Arial"/>
              </a:defRPr>
            </a:lvl3pPr>
            <a:lvl4pPr algn="l">
              <a:defRPr sz="8625" b="1">
                <a:solidFill>
                  <a:srgbClr val="075D68"/>
                </a:solidFill>
                <a:latin typeface="Arial"/>
                <a:ea typeface="Arial"/>
                <a:cs typeface="Arial"/>
              </a:defRPr>
            </a:lvl4pPr>
            <a:lvl5pPr algn="l">
              <a:defRPr sz="8625" b="1">
                <a:solidFill>
                  <a:srgbClr val="075D68"/>
                </a:solidFill>
                <a:latin typeface="Arial"/>
                <a:ea typeface="Arial"/>
                <a:cs typeface="Arial"/>
              </a:defRPr>
            </a:lvl5pPr>
            <a:lvl6pPr algn="l">
              <a:defRPr sz="8625" b="1">
                <a:solidFill>
                  <a:srgbClr val="075D68"/>
                </a:solidFill>
                <a:latin typeface="Arial"/>
                <a:ea typeface="Arial"/>
                <a:cs typeface="Arial"/>
              </a:defRPr>
            </a:lvl6pPr>
            <a:lvl7pPr algn="l">
              <a:defRPr sz="8625" b="1">
                <a:solidFill>
                  <a:srgbClr val="075D68"/>
                </a:solidFill>
                <a:latin typeface="Arial"/>
                <a:ea typeface="Arial"/>
                <a:cs typeface="Arial"/>
              </a:defRPr>
            </a:lvl7pPr>
            <a:lvl8pPr algn="l">
              <a:defRPr sz="8625" b="1">
                <a:solidFill>
                  <a:srgbClr val="075D68"/>
                </a:solidFill>
                <a:latin typeface="Arial"/>
                <a:ea typeface="Arial"/>
                <a:cs typeface="Arial"/>
              </a:defRPr>
            </a:lvl8pPr>
            <a:lvl9pPr algn="l">
              <a:defRPr sz="8625" b="1">
                <a:solidFill>
                  <a:srgbClr val="075D68"/>
                </a:solidFill>
                <a:latin typeface="Arial"/>
                <a:ea typeface="Arial"/>
                <a:cs typeface="Arial"/>
              </a:defRPr>
            </a:lvl9pPr>
          </a:lstStyle>
          <a:p xmlns:a="http://schemas.openxmlformats.org/drawingml/2006/main">
            <a:pPr algn="l">
              <a:defRPr sz="8625" b="1">
                <a:solidFill>
                  <a:srgbClr val="075D68"/>
                </a:solidFill>
                <a:latin typeface="Arial"/>
                <a:ea typeface="Arial"/>
                <a:cs typeface="Arial"/>
              </a:defRPr>
            </a:pPr>
            <a:r>
              <a:rPr sz="8625" b="1">
                <a:solidFill>
                  <a:srgbClr val="075D68"/>
                </a:solidFill>
                <a:latin typeface="Arial"/>
                <a:ea typeface="Arial"/>
                <a:cs typeface="Arial"/>
              </a:rPr>
              <a:t>v1</a:t>
            </a:r>
          </a:p>
        </p:txBody>
      </p:sp>
      <p:sp>
        <p:nvSpPr>
          <p:cNvPr id="6" name="">
            <a:extLst xmlns:a="http://schemas.openxmlformats.org/drawingml/2006/main">
              <a:ext uri="{FF2B5EF4-FFF2-40B4-BE49-F238E27FC236}">
                <a16:creationId xmlns:a16="http://schemas.microsoft.com/office/drawing/2014/main" id="{24E2088B-85E1-496D-9093-DB949CA689C3}"/>
              </a:ext>
            </a:extLst>
          </p:cNvPr>
          <p:cNvSpPr>
            <a:spLocks xmlns:a="http://schemas.openxmlformats.org/drawingml/2006/main" noGrp="1"/>
          </p:cNvSpPr>
          <p:nvPr/>
        </p:nvSpPr>
        <p:spPr>
          <a:xfrm xmlns:a="http://schemas.openxmlformats.org/drawingml/2006/main">
            <a:off x="609600" y="373380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Bản cũ vẫn truy xuất được</a:t>
            </a:r>
          </a:p>
        </p:txBody>
      </p:sp>
      <p:sp>
        <p:nvSpPr>
          <p:cNvPr id="7" name="">
            <a:extLst xmlns:a="http://schemas.openxmlformats.org/drawingml/2006/main">
              <a:ext uri="{FF2B5EF4-FFF2-40B4-BE49-F238E27FC236}">
                <a16:creationId xmlns:a16="http://schemas.microsoft.com/office/drawing/2014/main" id="{9268FCDD-0B67-4C0D-844F-4E7980E2CDF7}"/>
              </a:ext>
            </a:extLst>
          </p:cNvPr>
          <p:cNvSpPr>
            <a:spLocks xmlns:a="http://schemas.openxmlformats.org/drawingml/2006/main" noGrp="1"/>
          </p:cNvSpPr>
          <p:nvPr/>
        </p:nvSpPr>
        <p:spPr>
          <a:xfrm xmlns:a="http://schemas.openxmlformats.org/drawingml/2006/main">
            <a:off x="609600" y="50101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Tải chính xác version trước để đối chiếu nội dung.</a:t>
            </a:r>
          </a:p>
        </p:txBody>
      </p:sp>
      <p:sp>
        <p:nvSpPr>
          <p:cNvPr id="8" name="">
            <a:extLst xmlns:a="http://schemas.openxmlformats.org/drawingml/2006/main">
              <a:ext uri="{FF2B5EF4-FFF2-40B4-BE49-F238E27FC236}">
                <a16:creationId xmlns:a16="http://schemas.microsoft.com/office/drawing/2014/main" id="{3E877825-A07B-474C-99B9-8689AE7FC707}"/>
              </a:ext>
            </a:extLst>
          </p:cNvPr>
          <p:cNvSpPr>
            <a:spLocks xmlns:a="http://schemas.openxmlformats.org/drawingml/2006/main" noGrp="1"/>
          </p:cNvSpPr>
          <p:nvPr/>
        </p:nvSpPr>
        <p:spPr>
          <a:xfrm xmlns:a="http://schemas.openxmlformats.org/drawingml/2006/main">
            <a:off x="6477000" y="2171700"/>
            <a:ext cx="51054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25" b="1">
                <a:solidFill>
                  <a:srgbClr val="B75B4B"/>
                </a:solidFill>
                <a:latin typeface="Arial"/>
                <a:ea typeface="Arial"/>
                <a:cs typeface="Arial"/>
              </a:defRPr>
            </a:defPPr>
            <a:lvl1pPr algn="l">
              <a:defRPr sz="8625" b="1">
                <a:solidFill>
                  <a:srgbClr val="B75B4B"/>
                </a:solidFill>
                <a:latin typeface="Arial"/>
                <a:ea typeface="Arial"/>
                <a:cs typeface="Arial"/>
              </a:defRPr>
            </a:lvl1pPr>
            <a:lvl2pPr algn="l">
              <a:defRPr sz="8625" b="1">
                <a:solidFill>
                  <a:srgbClr val="B75B4B"/>
                </a:solidFill>
                <a:latin typeface="Arial"/>
                <a:ea typeface="Arial"/>
                <a:cs typeface="Arial"/>
              </a:defRPr>
            </a:lvl2pPr>
            <a:lvl3pPr algn="l">
              <a:defRPr sz="8625" b="1">
                <a:solidFill>
                  <a:srgbClr val="B75B4B"/>
                </a:solidFill>
                <a:latin typeface="Arial"/>
                <a:ea typeface="Arial"/>
                <a:cs typeface="Arial"/>
              </a:defRPr>
            </a:lvl3pPr>
            <a:lvl4pPr algn="l">
              <a:defRPr sz="8625" b="1">
                <a:solidFill>
                  <a:srgbClr val="B75B4B"/>
                </a:solidFill>
                <a:latin typeface="Arial"/>
                <a:ea typeface="Arial"/>
                <a:cs typeface="Arial"/>
              </a:defRPr>
            </a:lvl4pPr>
            <a:lvl5pPr algn="l">
              <a:defRPr sz="8625" b="1">
                <a:solidFill>
                  <a:srgbClr val="B75B4B"/>
                </a:solidFill>
                <a:latin typeface="Arial"/>
                <a:ea typeface="Arial"/>
                <a:cs typeface="Arial"/>
              </a:defRPr>
            </a:lvl5pPr>
            <a:lvl6pPr algn="l">
              <a:defRPr sz="8625" b="1">
                <a:solidFill>
                  <a:srgbClr val="B75B4B"/>
                </a:solidFill>
                <a:latin typeface="Arial"/>
                <a:ea typeface="Arial"/>
                <a:cs typeface="Arial"/>
              </a:defRPr>
            </a:lvl6pPr>
            <a:lvl7pPr algn="l">
              <a:defRPr sz="8625" b="1">
                <a:solidFill>
                  <a:srgbClr val="B75B4B"/>
                </a:solidFill>
                <a:latin typeface="Arial"/>
                <a:ea typeface="Arial"/>
                <a:cs typeface="Arial"/>
              </a:defRPr>
            </a:lvl7pPr>
            <a:lvl8pPr algn="l">
              <a:defRPr sz="8625" b="1">
                <a:solidFill>
                  <a:srgbClr val="B75B4B"/>
                </a:solidFill>
                <a:latin typeface="Arial"/>
                <a:ea typeface="Arial"/>
                <a:cs typeface="Arial"/>
              </a:defRPr>
            </a:lvl8pPr>
            <a:lvl9pPr algn="l">
              <a:defRPr sz="8625" b="1">
                <a:solidFill>
                  <a:srgbClr val="B75B4B"/>
                </a:solidFill>
                <a:latin typeface="Arial"/>
                <a:ea typeface="Arial"/>
                <a:cs typeface="Arial"/>
              </a:defRPr>
            </a:lvl9pPr>
          </a:lstStyle>
          <a:p xmlns:a="http://schemas.openxmlformats.org/drawingml/2006/main">
            <a:pPr algn="l">
              <a:defRPr sz="8625" b="1">
                <a:solidFill>
                  <a:srgbClr val="B75B4B"/>
                </a:solidFill>
                <a:latin typeface="Arial"/>
                <a:ea typeface="Arial"/>
                <a:cs typeface="Arial"/>
              </a:defRPr>
            </a:pPr>
            <a:r>
              <a:rPr sz="8625" b="1">
                <a:solidFill>
                  <a:srgbClr val="B75B4B"/>
                </a:solidFill>
                <a:latin typeface="Arial"/>
                <a:ea typeface="Arial"/>
                <a:cs typeface="Arial"/>
              </a:rPr>
              <a:t>v2</a:t>
            </a:r>
          </a:p>
        </p:txBody>
      </p:sp>
      <p:sp>
        <p:nvSpPr>
          <p:cNvPr id="9" name="">
            <a:extLst xmlns:a="http://schemas.openxmlformats.org/drawingml/2006/main">
              <a:ext uri="{FF2B5EF4-FFF2-40B4-BE49-F238E27FC236}">
                <a16:creationId xmlns:a16="http://schemas.microsoft.com/office/drawing/2014/main" id="{AE6766A4-8FEA-40E4-B6E9-6791D3EDDE95}"/>
              </a:ext>
            </a:extLst>
          </p:cNvPr>
          <p:cNvSpPr>
            <a:spLocks xmlns:a="http://schemas.openxmlformats.org/drawingml/2006/main" noGrp="1"/>
          </p:cNvSpPr>
          <p:nvPr/>
        </p:nvSpPr>
        <p:spPr>
          <a:xfrm xmlns:a="http://schemas.openxmlformats.org/drawingml/2006/main">
            <a:off x="6477000" y="37338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Bản đã duyệt được pin</a:t>
            </a:r>
          </a:p>
        </p:txBody>
      </p:sp>
      <p:sp>
        <p:nvSpPr>
          <p:cNvPr id="10" name="">
            <a:extLst xmlns:a="http://schemas.openxmlformats.org/drawingml/2006/main">
              <a:ext uri="{FF2B5EF4-FFF2-40B4-BE49-F238E27FC236}">
                <a16:creationId xmlns:a16="http://schemas.microsoft.com/office/drawing/2014/main" id="{447AD1FB-41ED-4FB8-A471-5A94EF534AEB}"/>
              </a:ext>
            </a:extLst>
          </p:cNvPr>
          <p:cNvSpPr>
            <a:spLocks xmlns:a="http://schemas.openxmlformats.org/drawingml/2006/main" noGrp="1"/>
          </p:cNvSpPr>
          <p:nvPr/>
        </p:nvSpPr>
        <p:spPr>
          <a:xfrm xmlns:a="http://schemas.openxmlformats.org/drawingml/2006/main">
            <a:off x="6477000" y="50101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Replay PUT URL không thay đổi nội dung đã xác nhận trong catalog.</a:t>
            </a:r>
          </a:p>
        </p:txBody>
      </p:sp>
    </p:spTree>
    <p:extLst>
      <p:ext uri="{BB962C8B-B14F-4D97-AF65-F5344CB8AC3E}">
        <p14:creationId xmlns:p14="http://schemas.microsoft.com/office/powerpoint/2010/main" val="254164603"/>
      </p:ext>
    </p:extLst>
  </p:cSld>
</p:sld>
</file>

<file path=ppt/slides/slide2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EE59BB-3019-4C18-8997-9DCE24239631}"/>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4FFC232D-A282-48B8-ABB9-7D8B10667DA0}"/>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Demo 5: xóa nhầm và phục hồi</a:t>
            </a:r>
          </a:p>
        </p:txBody>
      </p:sp>
      <p:sp>
        <p:nvSpPr>
          <p:cNvPr id="3" name="">
            <a:extLst xmlns:a="http://schemas.openxmlformats.org/drawingml/2006/main">
              <a:ext uri="{FF2B5EF4-FFF2-40B4-BE49-F238E27FC236}">
                <a16:creationId xmlns:a16="http://schemas.microsoft.com/office/drawing/2014/main" id="{6F97B071-5196-4403-97E0-54965BAA28F3}"/>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15AFB360-F06F-47DA-8B5E-04343E986501}"/>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657A8B42-6675-4097-8C22-E1086226AB8D}"/>
              </a:ext>
            </a:extLst>
          </p:cNvPr>
          <p:cNvSpPr>
            <a:spLocks xmlns:a="http://schemas.openxmlformats.org/drawingml/2006/main" noGrp="1"/>
          </p:cNvSpPr>
          <p:nvPr/>
        </p:nvSpPr>
        <p:spPr>
          <a:xfrm xmlns:a="http://schemas.openxmlformats.org/drawingml/2006/main">
            <a:off x="60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DELETE</a:t>
            </a:r>
          </a:p>
        </p:txBody>
      </p:sp>
      <p:sp>
        <p:nvSpPr>
          <p:cNvPr id="6" name="">
            <a:extLst xmlns:a="http://schemas.openxmlformats.org/drawingml/2006/main">
              <a:ext uri="{FF2B5EF4-FFF2-40B4-BE49-F238E27FC236}">
                <a16:creationId xmlns:a16="http://schemas.microsoft.com/office/drawing/2014/main" id="{ADBD4D05-AAF2-4141-812B-5D4DBC2F47F2}"/>
              </a:ext>
            </a:extLst>
          </p:cNvPr>
          <p:cNvSpPr>
            <a:spLocks xmlns:a="http://schemas.openxmlformats.org/drawingml/2006/main" noGrp="1"/>
          </p:cNvSpPr>
          <p:nvPr/>
        </p:nvSpPr>
        <p:spPr>
          <a:xfrm xmlns:a="http://schemas.openxmlformats.org/drawingml/2006/main">
            <a:off x="60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Xóa không chỉ định version tạo delete marker khi versioning bật.</a:t>
            </a:r>
          </a:p>
        </p:txBody>
      </p:sp>
      <p:sp>
        <p:nvSpPr>
          <p:cNvPr id="7" name="">
            <a:extLst xmlns:a="http://schemas.openxmlformats.org/drawingml/2006/main">
              <a:ext uri="{FF2B5EF4-FFF2-40B4-BE49-F238E27FC236}">
                <a16:creationId xmlns:a16="http://schemas.microsoft.com/office/drawing/2014/main" id="{B2955A91-8599-4CE9-9492-7FA2FE3C11F9}"/>
              </a:ext>
            </a:extLst>
          </p:cNvPr>
          <p:cNvSpPr>
            <a:spLocks xmlns:a="http://schemas.openxmlformats.org/drawingml/2006/main" noGrp="1"/>
          </p:cNvSpPr>
          <p:nvPr/>
        </p:nvSpPr>
        <p:spPr>
          <a:xfrm xmlns:a="http://schemas.openxmlformats.org/drawingml/2006/main">
            <a:off x="441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B75B4B"/>
                </a:solidFill>
                <a:latin typeface="Arial"/>
                <a:ea typeface="Arial"/>
                <a:cs typeface="Arial"/>
              </a:defRPr>
            </a:defPPr>
            <a:lvl1pPr algn="l">
              <a:defRPr sz="2775" b="1">
                <a:solidFill>
                  <a:srgbClr val="B75B4B"/>
                </a:solidFill>
                <a:latin typeface="Arial"/>
                <a:ea typeface="Arial"/>
                <a:cs typeface="Arial"/>
              </a:defRPr>
            </a:lvl1pPr>
            <a:lvl2pPr algn="l">
              <a:defRPr sz="2775" b="1">
                <a:solidFill>
                  <a:srgbClr val="B75B4B"/>
                </a:solidFill>
                <a:latin typeface="Arial"/>
                <a:ea typeface="Arial"/>
                <a:cs typeface="Arial"/>
              </a:defRPr>
            </a:lvl2pPr>
            <a:lvl3pPr algn="l">
              <a:defRPr sz="2775" b="1">
                <a:solidFill>
                  <a:srgbClr val="B75B4B"/>
                </a:solidFill>
                <a:latin typeface="Arial"/>
                <a:ea typeface="Arial"/>
                <a:cs typeface="Arial"/>
              </a:defRPr>
            </a:lvl3pPr>
            <a:lvl4pPr algn="l">
              <a:defRPr sz="2775" b="1">
                <a:solidFill>
                  <a:srgbClr val="B75B4B"/>
                </a:solidFill>
                <a:latin typeface="Arial"/>
                <a:ea typeface="Arial"/>
                <a:cs typeface="Arial"/>
              </a:defRPr>
            </a:lvl4pPr>
            <a:lvl5pPr algn="l">
              <a:defRPr sz="2775" b="1">
                <a:solidFill>
                  <a:srgbClr val="B75B4B"/>
                </a:solidFill>
                <a:latin typeface="Arial"/>
                <a:ea typeface="Arial"/>
                <a:cs typeface="Arial"/>
              </a:defRPr>
            </a:lvl5pPr>
            <a:lvl6pPr algn="l">
              <a:defRPr sz="2775" b="1">
                <a:solidFill>
                  <a:srgbClr val="B75B4B"/>
                </a:solidFill>
                <a:latin typeface="Arial"/>
                <a:ea typeface="Arial"/>
                <a:cs typeface="Arial"/>
              </a:defRPr>
            </a:lvl6pPr>
            <a:lvl7pPr algn="l">
              <a:defRPr sz="2775" b="1">
                <a:solidFill>
                  <a:srgbClr val="B75B4B"/>
                </a:solidFill>
                <a:latin typeface="Arial"/>
                <a:ea typeface="Arial"/>
                <a:cs typeface="Arial"/>
              </a:defRPr>
            </a:lvl7pPr>
            <a:lvl8pPr algn="l">
              <a:defRPr sz="2775" b="1">
                <a:solidFill>
                  <a:srgbClr val="B75B4B"/>
                </a:solidFill>
                <a:latin typeface="Arial"/>
                <a:ea typeface="Arial"/>
                <a:cs typeface="Arial"/>
              </a:defRPr>
            </a:lvl8pPr>
            <a:lvl9pPr algn="l">
              <a:defRPr sz="2775" b="1">
                <a:solidFill>
                  <a:srgbClr val="B75B4B"/>
                </a:solidFill>
                <a:latin typeface="Arial"/>
                <a:ea typeface="Arial"/>
                <a:cs typeface="Arial"/>
              </a:defRPr>
            </a:lvl9pPr>
          </a:lstStyle>
          <a:p xmlns:a="http://schemas.openxmlformats.org/drawingml/2006/main">
            <a:pPr algn="l">
              <a:defRPr sz="2775" b="1">
                <a:solidFill>
                  <a:srgbClr val="B75B4B"/>
                </a:solidFill>
                <a:latin typeface="Arial"/>
                <a:ea typeface="Arial"/>
                <a:cs typeface="Arial"/>
              </a:defRPr>
            </a:pPr>
            <a:r>
              <a:rPr sz="2775" b="1">
                <a:solidFill>
                  <a:srgbClr val="B75B4B"/>
                </a:solidFill>
                <a:latin typeface="Arial"/>
                <a:ea typeface="Arial"/>
                <a:cs typeface="Arial"/>
              </a:rPr>
              <a:t>Marker</a:t>
            </a:r>
          </a:p>
        </p:txBody>
      </p:sp>
      <p:sp>
        <p:nvSpPr>
          <p:cNvPr id="8" name="">
            <a:extLst xmlns:a="http://schemas.openxmlformats.org/drawingml/2006/main">
              <a:ext uri="{FF2B5EF4-FFF2-40B4-BE49-F238E27FC236}">
                <a16:creationId xmlns:a16="http://schemas.microsoft.com/office/drawing/2014/main" id="{D250DA14-EE33-430F-8BA5-BABC7DC0BC46}"/>
              </a:ext>
            </a:extLst>
          </p:cNvPr>
          <p:cNvSpPr>
            <a:spLocks xmlns:a="http://schemas.openxmlformats.org/drawingml/2006/main" noGrp="1"/>
          </p:cNvSpPr>
          <p:nvPr/>
        </p:nvSpPr>
        <p:spPr>
          <a:xfrm xmlns:a="http://schemas.openxmlformats.org/drawingml/2006/main">
            <a:off x="441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Object hiện hành ẩn khỏi luồng tải. Các version cũ vẫn có thể tồn tại.</a:t>
            </a:r>
          </a:p>
        </p:txBody>
      </p:sp>
      <p:sp>
        <p:nvSpPr>
          <p:cNvPr id="9" name="">
            <a:extLst xmlns:a="http://schemas.openxmlformats.org/drawingml/2006/main">
              <a:ext uri="{FF2B5EF4-FFF2-40B4-BE49-F238E27FC236}">
                <a16:creationId xmlns:a16="http://schemas.microsoft.com/office/drawing/2014/main" id="{C8CC2B18-02D9-42AD-B847-0E034309114D}"/>
              </a:ext>
            </a:extLst>
          </p:cNvPr>
          <p:cNvSpPr>
            <a:spLocks xmlns:a="http://schemas.openxmlformats.org/drawingml/2006/main" noGrp="1"/>
          </p:cNvSpPr>
          <p:nvPr/>
        </p:nvSpPr>
        <p:spPr>
          <a:xfrm xmlns:a="http://schemas.openxmlformats.org/drawingml/2006/main">
            <a:off x="8229600" y="2381250"/>
            <a:ext cx="335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75D68"/>
                </a:solidFill>
                <a:latin typeface="Arial"/>
                <a:ea typeface="Arial"/>
                <a:cs typeface="Arial"/>
              </a:defRPr>
            </a:defPPr>
            <a:lvl1pPr algn="l">
              <a:defRPr sz="2775" b="1">
                <a:solidFill>
                  <a:srgbClr val="075D68"/>
                </a:solidFill>
                <a:latin typeface="Arial"/>
                <a:ea typeface="Arial"/>
                <a:cs typeface="Arial"/>
              </a:defRPr>
            </a:lvl1pPr>
            <a:lvl2pPr algn="l">
              <a:defRPr sz="2775" b="1">
                <a:solidFill>
                  <a:srgbClr val="075D68"/>
                </a:solidFill>
                <a:latin typeface="Arial"/>
                <a:ea typeface="Arial"/>
                <a:cs typeface="Arial"/>
              </a:defRPr>
            </a:lvl2pPr>
            <a:lvl3pPr algn="l">
              <a:defRPr sz="2775" b="1">
                <a:solidFill>
                  <a:srgbClr val="075D68"/>
                </a:solidFill>
                <a:latin typeface="Arial"/>
                <a:ea typeface="Arial"/>
                <a:cs typeface="Arial"/>
              </a:defRPr>
            </a:lvl3pPr>
            <a:lvl4pPr algn="l">
              <a:defRPr sz="2775" b="1">
                <a:solidFill>
                  <a:srgbClr val="075D68"/>
                </a:solidFill>
                <a:latin typeface="Arial"/>
                <a:ea typeface="Arial"/>
                <a:cs typeface="Arial"/>
              </a:defRPr>
            </a:lvl4pPr>
            <a:lvl5pPr algn="l">
              <a:defRPr sz="2775" b="1">
                <a:solidFill>
                  <a:srgbClr val="075D68"/>
                </a:solidFill>
                <a:latin typeface="Arial"/>
                <a:ea typeface="Arial"/>
                <a:cs typeface="Arial"/>
              </a:defRPr>
            </a:lvl5pPr>
            <a:lvl6pPr algn="l">
              <a:defRPr sz="2775" b="1">
                <a:solidFill>
                  <a:srgbClr val="075D68"/>
                </a:solidFill>
                <a:latin typeface="Arial"/>
                <a:ea typeface="Arial"/>
                <a:cs typeface="Arial"/>
              </a:defRPr>
            </a:lvl6pPr>
            <a:lvl7pPr algn="l">
              <a:defRPr sz="2775" b="1">
                <a:solidFill>
                  <a:srgbClr val="075D68"/>
                </a:solidFill>
                <a:latin typeface="Arial"/>
                <a:ea typeface="Arial"/>
                <a:cs typeface="Arial"/>
              </a:defRPr>
            </a:lvl7pPr>
            <a:lvl8pPr algn="l">
              <a:defRPr sz="2775" b="1">
                <a:solidFill>
                  <a:srgbClr val="075D68"/>
                </a:solidFill>
                <a:latin typeface="Arial"/>
                <a:ea typeface="Arial"/>
                <a:cs typeface="Arial"/>
              </a:defRPr>
            </a:lvl8pPr>
            <a:lvl9pPr algn="l">
              <a:defRPr sz="2775" b="1">
                <a:solidFill>
                  <a:srgbClr val="075D68"/>
                </a:solidFill>
                <a:latin typeface="Arial"/>
                <a:ea typeface="Arial"/>
                <a:cs typeface="Arial"/>
              </a:defRPr>
            </a:lvl9pPr>
          </a:lstStyle>
          <a:p xmlns:a="http://schemas.openxmlformats.org/drawingml/2006/main">
            <a:pPr algn="l">
              <a:defRPr sz="2775" b="1">
                <a:solidFill>
                  <a:srgbClr val="075D68"/>
                </a:solidFill>
                <a:latin typeface="Arial"/>
                <a:ea typeface="Arial"/>
                <a:cs typeface="Arial"/>
              </a:defRPr>
            </a:pPr>
            <a:r>
              <a:rPr sz="2775" b="1">
                <a:solidFill>
                  <a:srgbClr val="075D68"/>
                </a:solidFill>
                <a:latin typeface="Arial"/>
                <a:ea typeface="Arial"/>
                <a:cs typeface="Arial"/>
              </a:rPr>
              <a:t>Restore</a:t>
            </a:r>
          </a:p>
        </p:txBody>
      </p:sp>
      <p:sp>
        <p:nvSpPr>
          <p:cNvPr id="10" name="">
            <a:extLst xmlns:a="http://schemas.openxmlformats.org/drawingml/2006/main">
              <a:ext uri="{FF2B5EF4-FFF2-40B4-BE49-F238E27FC236}">
                <a16:creationId xmlns:a16="http://schemas.microsoft.com/office/drawing/2014/main" id="{25C72078-5BF2-4716-86B9-D71BBB6CDC22}"/>
              </a:ext>
            </a:extLst>
          </p:cNvPr>
          <p:cNvSpPr>
            <a:spLocks xmlns:a="http://schemas.openxmlformats.org/drawingml/2006/main" noGrp="1"/>
          </p:cNvSpPr>
          <p:nvPr/>
        </p:nvSpPr>
        <p:spPr>
          <a:xfrm xmlns:a="http://schemas.openxmlformats.org/drawingml/2006/main">
            <a:off x="8229600" y="3571875"/>
            <a:ext cx="33528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3A4C"/>
                </a:solidFill>
                <a:latin typeface="Arial"/>
                <a:ea typeface="Arial"/>
                <a:cs typeface="Arial"/>
              </a:defRPr>
            </a:defPPr>
            <a:lvl1pPr algn="l">
              <a:defRPr sz="2250" b="0">
                <a:solidFill>
                  <a:srgbClr val="163A4C"/>
                </a:solidFill>
                <a:latin typeface="Arial"/>
                <a:ea typeface="Arial"/>
                <a:cs typeface="Arial"/>
              </a:defRPr>
            </a:lvl1pPr>
            <a:lvl2pPr algn="l">
              <a:defRPr sz="2250" b="0">
                <a:solidFill>
                  <a:srgbClr val="163A4C"/>
                </a:solidFill>
                <a:latin typeface="Arial"/>
                <a:ea typeface="Arial"/>
                <a:cs typeface="Arial"/>
              </a:defRPr>
            </a:lvl2pPr>
            <a:lvl3pPr algn="l">
              <a:defRPr sz="2250" b="0">
                <a:solidFill>
                  <a:srgbClr val="163A4C"/>
                </a:solidFill>
                <a:latin typeface="Arial"/>
                <a:ea typeface="Arial"/>
                <a:cs typeface="Arial"/>
              </a:defRPr>
            </a:lvl3pPr>
            <a:lvl4pPr algn="l">
              <a:defRPr sz="2250" b="0">
                <a:solidFill>
                  <a:srgbClr val="163A4C"/>
                </a:solidFill>
                <a:latin typeface="Arial"/>
                <a:ea typeface="Arial"/>
                <a:cs typeface="Arial"/>
              </a:defRPr>
            </a:lvl4pPr>
            <a:lvl5pPr algn="l">
              <a:defRPr sz="2250" b="0">
                <a:solidFill>
                  <a:srgbClr val="163A4C"/>
                </a:solidFill>
                <a:latin typeface="Arial"/>
                <a:ea typeface="Arial"/>
                <a:cs typeface="Arial"/>
              </a:defRPr>
            </a:lvl5pPr>
            <a:lvl6pPr algn="l">
              <a:defRPr sz="2250" b="0">
                <a:solidFill>
                  <a:srgbClr val="163A4C"/>
                </a:solidFill>
                <a:latin typeface="Arial"/>
                <a:ea typeface="Arial"/>
                <a:cs typeface="Arial"/>
              </a:defRPr>
            </a:lvl6pPr>
            <a:lvl7pPr algn="l">
              <a:defRPr sz="2250" b="0">
                <a:solidFill>
                  <a:srgbClr val="163A4C"/>
                </a:solidFill>
                <a:latin typeface="Arial"/>
                <a:ea typeface="Arial"/>
                <a:cs typeface="Arial"/>
              </a:defRPr>
            </a:lvl7pPr>
            <a:lvl8pPr algn="l">
              <a:defRPr sz="2250" b="0">
                <a:solidFill>
                  <a:srgbClr val="163A4C"/>
                </a:solidFill>
                <a:latin typeface="Arial"/>
                <a:ea typeface="Arial"/>
                <a:cs typeface="Arial"/>
              </a:defRPr>
            </a:lvl8pPr>
            <a:lvl9pPr algn="l">
              <a:defRPr sz="2250" b="0">
                <a:solidFill>
                  <a:srgbClr val="163A4C"/>
                </a:solidFill>
                <a:latin typeface="Arial"/>
                <a:ea typeface="Arial"/>
                <a:cs typeface="Arial"/>
              </a:defRPr>
            </a:lvl9pPr>
          </a:lstStyle>
          <a:p xmlns:a="http://schemas.openxmlformats.org/drawingml/2006/main">
            <a:pPr algn="l">
              <a:defRPr sz="2250" b="0">
                <a:solidFill>
                  <a:srgbClr val="163A4C"/>
                </a:solidFill>
                <a:latin typeface="Arial"/>
                <a:ea typeface="Arial"/>
                <a:cs typeface="Arial"/>
              </a:defRPr>
            </a:pPr>
            <a:r>
              <a:rPr sz="2250" b="0">
                <a:solidFill>
                  <a:srgbClr val="163A4C"/>
                </a:solidFill>
                <a:latin typeface="Arial"/>
                <a:ea typeface="Arial"/>
                <a:cs typeface="Arial"/>
              </a:rPr>
              <a:t>Xóa đúng marker hoặc COPY bản cũ thành version mới rồi kiểm tra bytes.</a:t>
            </a:r>
          </a:p>
        </p:txBody>
      </p:sp>
    </p:spTree>
    <p:extLst>
      <p:ext uri="{BB962C8B-B14F-4D97-AF65-F5344CB8AC3E}">
        <p14:creationId xmlns:p14="http://schemas.microsoft.com/office/powerpoint/2010/main" val="51296545"/>
      </p:ext>
    </p:extLst>
  </p:cSld>
</p:sld>
</file>

<file path=ppt/slides/slide26.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C86A23-A6BB-4FE6-BC21-7780D5BC5B19}"/>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800FACF0-00FA-4457-97D4-77202D0B475E}"/>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Demo 6: bucket notifications</a:t>
            </a:r>
          </a:p>
        </p:txBody>
      </p:sp>
      <p:sp>
        <p:nvSpPr>
          <p:cNvPr id="3" name="">
            <a:extLst xmlns:a="http://schemas.openxmlformats.org/drawingml/2006/main">
              <a:ext uri="{FF2B5EF4-FFF2-40B4-BE49-F238E27FC236}">
                <a16:creationId xmlns:a16="http://schemas.microsoft.com/office/drawing/2014/main" id="{B5E0BC4F-C711-480B-B411-99B6C42FE0F6}"/>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E1B7440F-70BF-4829-990A-8A3D66FF6276}"/>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9511A012-2AE6-4A32-95F0-4B9561869B14}"/>
              </a:ext>
            </a:extLst>
          </p:cNvPr>
          <p:cNvSpPr>
            <a:spLocks xmlns:a="http://schemas.openxmlformats.org/drawingml/2006/main" noGrp="1"/>
          </p:cNvSpPr>
          <p:nvPr/>
        </p:nvSpPr>
        <p:spPr>
          <a:xfrm xmlns:a="http://schemas.openxmlformats.org/drawingml/2006/main">
            <a:off x="609600" y="21907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58D9E8"/>
                </a:solidFill>
                <a:latin typeface="Arial"/>
                <a:ea typeface="Arial"/>
                <a:cs typeface="Arial"/>
              </a:defRPr>
            </a:defPPr>
            <a:lvl1pPr algn="l">
              <a:defRPr sz="4800" b="1">
                <a:solidFill>
                  <a:srgbClr val="58D9E8"/>
                </a:solidFill>
                <a:latin typeface="Arial"/>
                <a:ea typeface="Arial"/>
                <a:cs typeface="Arial"/>
              </a:defRPr>
            </a:lvl1pPr>
            <a:lvl2pPr algn="l">
              <a:defRPr sz="4800" b="1">
                <a:solidFill>
                  <a:srgbClr val="58D9E8"/>
                </a:solidFill>
                <a:latin typeface="Arial"/>
                <a:ea typeface="Arial"/>
                <a:cs typeface="Arial"/>
              </a:defRPr>
            </a:lvl2pPr>
            <a:lvl3pPr algn="l">
              <a:defRPr sz="4800" b="1">
                <a:solidFill>
                  <a:srgbClr val="58D9E8"/>
                </a:solidFill>
                <a:latin typeface="Arial"/>
                <a:ea typeface="Arial"/>
                <a:cs typeface="Arial"/>
              </a:defRPr>
            </a:lvl3pPr>
            <a:lvl4pPr algn="l">
              <a:defRPr sz="4800" b="1">
                <a:solidFill>
                  <a:srgbClr val="58D9E8"/>
                </a:solidFill>
                <a:latin typeface="Arial"/>
                <a:ea typeface="Arial"/>
                <a:cs typeface="Arial"/>
              </a:defRPr>
            </a:lvl4pPr>
            <a:lvl5pPr algn="l">
              <a:defRPr sz="4800" b="1">
                <a:solidFill>
                  <a:srgbClr val="58D9E8"/>
                </a:solidFill>
                <a:latin typeface="Arial"/>
                <a:ea typeface="Arial"/>
                <a:cs typeface="Arial"/>
              </a:defRPr>
            </a:lvl5pPr>
            <a:lvl6pPr algn="l">
              <a:defRPr sz="4800" b="1">
                <a:solidFill>
                  <a:srgbClr val="58D9E8"/>
                </a:solidFill>
                <a:latin typeface="Arial"/>
                <a:ea typeface="Arial"/>
                <a:cs typeface="Arial"/>
              </a:defRPr>
            </a:lvl6pPr>
            <a:lvl7pPr algn="l">
              <a:defRPr sz="4800" b="1">
                <a:solidFill>
                  <a:srgbClr val="58D9E8"/>
                </a:solidFill>
                <a:latin typeface="Arial"/>
                <a:ea typeface="Arial"/>
                <a:cs typeface="Arial"/>
              </a:defRPr>
            </a:lvl7pPr>
            <a:lvl8pPr algn="l">
              <a:defRPr sz="4800" b="1">
                <a:solidFill>
                  <a:srgbClr val="58D9E8"/>
                </a:solidFill>
                <a:latin typeface="Arial"/>
                <a:ea typeface="Arial"/>
                <a:cs typeface="Arial"/>
              </a:defRPr>
            </a:lvl8pPr>
            <a:lvl9pPr algn="l">
              <a:defRPr sz="4800" b="1">
                <a:solidFill>
                  <a:srgbClr val="58D9E8"/>
                </a:solidFill>
                <a:latin typeface="Arial"/>
                <a:ea typeface="Arial"/>
                <a:cs typeface="Arial"/>
              </a:defRPr>
            </a:lvl9pPr>
          </a:lstStyle>
          <a:p xmlns:a="http://schemas.openxmlformats.org/drawingml/2006/main">
            <a:pPr algn="l">
              <a:defRPr sz="4800" b="1">
                <a:solidFill>
                  <a:srgbClr val="58D9E8"/>
                </a:solidFill>
                <a:latin typeface="Arial"/>
                <a:ea typeface="Arial"/>
                <a:cs typeface="Arial"/>
              </a:defRPr>
            </a:pPr>
            <a:r>
              <a:rPr sz="4800" b="1">
                <a:solidFill>
                  <a:srgbClr val="58D9E8"/>
                </a:solidFill>
                <a:latin typeface="Arial"/>
                <a:ea typeface="Arial"/>
                <a:cs typeface="Arial"/>
              </a:rPr>
              <a:t>Bucket event</a:t>
            </a:r>
          </a:p>
        </p:txBody>
      </p:sp>
      <p:sp>
        <p:nvSpPr>
          <p:cNvPr id="6" name="">
            <a:extLst xmlns:a="http://schemas.openxmlformats.org/drawingml/2006/main">
              <a:ext uri="{FF2B5EF4-FFF2-40B4-BE49-F238E27FC236}">
                <a16:creationId xmlns:a16="http://schemas.microsoft.com/office/drawing/2014/main" id="{CFBB096F-3DBA-47C3-8345-90E65BE6869F}"/>
              </a:ext>
            </a:extLst>
          </p:cNvPr>
          <p:cNvSpPr>
            <a:spLocks xmlns:a="http://schemas.openxmlformats.org/drawingml/2006/main" noGrp="1"/>
          </p:cNvSpPr>
          <p:nvPr/>
        </p:nvSpPr>
        <p:spPr>
          <a:xfrm xmlns:a="http://schemas.openxmlformats.org/drawingml/2006/main">
            <a:off x="609600" y="3457575"/>
            <a:ext cx="571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DCEBED"/>
                </a:solidFill>
                <a:latin typeface="Arial"/>
                <a:ea typeface="Arial"/>
                <a:cs typeface="Arial"/>
              </a:defRPr>
            </a:defPPr>
            <a:lvl1pPr algn="l">
              <a:defRPr sz="2475" b="0">
                <a:solidFill>
                  <a:srgbClr val="DCEBED"/>
                </a:solidFill>
                <a:latin typeface="Arial"/>
                <a:ea typeface="Arial"/>
                <a:cs typeface="Arial"/>
              </a:defRPr>
            </a:lvl1pPr>
            <a:lvl2pPr algn="l">
              <a:defRPr sz="2475" b="0">
                <a:solidFill>
                  <a:srgbClr val="DCEBED"/>
                </a:solidFill>
                <a:latin typeface="Arial"/>
                <a:ea typeface="Arial"/>
                <a:cs typeface="Arial"/>
              </a:defRPr>
            </a:lvl2pPr>
            <a:lvl3pPr algn="l">
              <a:defRPr sz="2475" b="0">
                <a:solidFill>
                  <a:srgbClr val="DCEBED"/>
                </a:solidFill>
                <a:latin typeface="Arial"/>
                <a:ea typeface="Arial"/>
                <a:cs typeface="Arial"/>
              </a:defRPr>
            </a:lvl3pPr>
            <a:lvl4pPr algn="l">
              <a:defRPr sz="2475" b="0">
                <a:solidFill>
                  <a:srgbClr val="DCEBED"/>
                </a:solidFill>
                <a:latin typeface="Arial"/>
                <a:ea typeface="Arial"/>
                <a:cs typeface="Arial"/>
              </a:defRPr>
            </a:lvl4pPr>
            <a:lvl5pPr algn="l">
              <a:defRPr sz="2475" b="0">
                <a:solidFill>
                  <a:srgbClr val="DCEBED"/>
                </a:solidFill>
                <a:latin typeface="Arial"/>
                <a:ea typeface="Arial"/>
                <a:cs typeface="Arial"/>
              </a:defRPr>
            </a:lvl5pPr>
            <a:lvl6pPr algn="l">
              <a:defRPr sz="2475" b="0">
                <a:solidFill>
                  <a:srgbClr val="DCEBED"/>
                </a:solidFill>
                <a:latin typeface="Arial"/>
                <a:ea typeface="Arial"/>
                <a:cs typeface="Arial"/>
              </a:defRPr>
            </a:lvl6pPr>
            <a:lvl7pPr algn="l">
              <a:defRPr sz="2475" b="0">
                <a:solidFill>
                  <a:srgbClr val="DCEBED"/>
                </a:solidFill>
                <a:latin typeface="Arial"/>
                <a:ea typeface="Arial"/>
                <a:cs typeface="Arial"/>
              </a:defRPr>
            </a:lvl7pPr>
            <a:lvl8pPr algn="l">
              <a:defRPr sz="2475" b="0">
                <a:solidFill>
                  <a:srgbClr val="DCEBED"/>
                </a:solidFill>
                <a:latin typeface="Arial"/>
                <a:ea typeface="Arial"/>
                <a:cs typeface="Arial"/>
              </a:defRPr>
            </a:lvl8pPr>
            <a:lvl9pPr algn="l">
              <a:defRPr sz="2475" b="0">
                <a:solidFill>
                  <a:srgbClr val="DCEBED"/>
                </a:solidFill>
                <a:latin typeface="Arial"/>
                <a:ea typeface="Arial"/>
                <a:cs typeface="Arial"/>
              </a:defRPr>
            </a:lvl9pPr>
          </a:lstStyle>
          <a:p xmlns:a="http://schemas.openxmlformats.org/drawingml/2006/main">
            <a:pPr algn="l">
              <a:defRPr sz="2475" b="0">
                <a:solidFill>
                  <a:srgbClr val="DCEBED"/>
                </a:solidFill>
                <a:latin typeface="Arial"/>
                <a:ea typeface="Arial"/>
                <a:cs typeface="Arial"/>
              </a:defRPr>
            </a:pPr>
            <a:r>
              <a:rPr sz="2475" b="0">
                <a:solidFill>
                  <a:srgbClr val="DCEBED"/>
                </a:solidFill>
                <a:latin typeface="Arial"/>
                <a:ea typeface="Arial"/>
                <a:cs typeface="Arial"/>
              </a:rPr>
              <a:t>ObjectCreated phát sự kiện tới webhook hoặc queue để worker xử lý ngầm.</a:t>
            </a:r>
          </a:p>
        </p:txBody>
      </p:sp>
      <p:sp>
        <p:nvSpPr>
          <p:cNvPr id="7" name="">
            <a:extLst xmlns:a="http://schemas.openxmlformats.org/drawingml/2006/main">
              <a:ext uri="{FF2B5EF4-FFF2-40B4-BE49-F238E27FC236}">
                <a16:creationId xmlns:a16="http://schemas.microsoft.com/office/drawing/2014/main" id="{864036F3-5583-4E7C-9F30-AB95A90E537D}"/>
              </a:ext>
            </a:extLst>
          </p:cNvPr>
          <p:cNvSpPr>
            <a:spLocks xmlns:a="http://schemas.openxmlformats.org/drawingml/2006/main" noGrp="1"/>
          </p:cNvSpPr>
          <p:nvPr/>
        </p:nvSpPr>
        <p:spPr>
          <a:xfrm xmlns:a="http://schemas.openxmlformats.org/drawingml/2006/main">
            <a:off x="609600" y="5305425"/>
            <a:ext cx="571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Worker cần idempotency, retry và trạng thái lỗi.</a:t>
            </a:r>
          </a:p>
        </p:txBody>
      </p:sp>
      <p:sp>
        <p:nvSpPr>
          <p:cNvPr id="8" name="">
            <a:extLst xmlns:a="http://schemas.openxmlformats.org/drawingml/2006/main">
              <a:ext uri="{FF2B5EF4-FFF2-40B4-BE49-F238E27FC236}">
                <a16:creationId xmlns:a16="http://schemas.microsoft.com/office/drawing/2014/main" id="{7DB57400-3787-42A9-A782-C1C661D4A465}"/>
              </a:ext>
            </a:extLst>
          </p:cNvPr>
          <p:cNvSpPr>
            <a:spLocks xmlns:a="http://schemas.openxmlformats.org/drawingml/2006/main" noGrp="1"/>
          </p:cNvSpPr>
          <p:nvPr/>
        </p:nvSpPr>
        <p:spPr>
          <a:xfrm xmlns:a="http://schemas.openxmlformats.org/drawingml/2006/main">
            <a:off x="7239000" y="2152650"/>
            <a:ext cx="4343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FFFFFF"/>
                </a:solidFill>
                <a:latin typeface="Arial"/>
                <a:ea typeface="Arial"/>
                <a:cs typeface="Arial"/>
              </a:defRPr>
            </a:defPPr>
            <a:lvl1pPr algn="l">
              <a:defRPr sz="4275" b="1">
                <a:solidFill>
                  <a:srgbClr val="FFFFFF"/>
                </a:solidFill>
                <a:latin typeface="Arial"/>
                <a:ea typeface="Arial"/>
                <a:cs typeface="Arial"/>
              </a:defRPr>
            </a:lvl1pPr>
            <a:lvl2pPr algn="l">
              <a:defRPr sz="4275" b="1">
                <a:solidFill>
                  <a:srgbClr val="FFFFFF"/>
                </a:solidFill>
                <a:latin typeface="Arial"/>
                <a:ea typeface="Arial"/>
                <a:cs typeface="Arial"/>
              </a:defRPr>
            </a:lvl2pPr>
            <a:lvl3pPr algn="l">
              <a:defRPr sz="4275" b="1">
                <a:solidFill>
                  <a:srgbClr val="FFFFFF"/>
                </a:solidFill>
                <a:latin typeface="Arial"/>
                <a:ea typeface="Arial"/>
                <a:cs typeface="Arial"/>
              </a:defRPr>
            </a:lvl3pPr>
            <a:lvl4pPr algn="l">
              <a:defRPr sz="4275" b="1">
                <a:solidFill>
                  <a:srgbClr val="FFFFFF"/>
                </a:solidFill>
                <a:latin typeface="Arial"/>
                <a:ea typeface="Arial"/>
                <a:cs typeface="Arial"/>
              </a:defRPr>
            </a:lvl4pPr>
            <a:lvl5pPr algn="l">
              <a:defRPr sz="4275" b="1">
                <a:solidFill>
                  <a:srgbClr val="FFFFFF"/>
                </a:solidFill>
                <a:latin typeface="Arial"/>
                <a:ea typeface="Arial"/>
                <a:cs typeface="Arial"/>
              </a:defRPr>
            </a:lvl5pPr>
            <a:lvl6pPr algn="l">
              <a:defRPr sz="4275" b="1">
                <a:solidFill>
                  <a:srgbClr val="FFFFFF"/>
                </a:solidFill>
                <a:latin typeface="Arial"/>
                <a:ea typeface="Arial"/>
                <a:cs typeface="Arial"/>
              </a:defRPr>
            </a:lvl6pPr>
            <a:lvl7pPr algn="l">
              <a:defRPr sz="4275" b="1">
                <a:solidFill>
                  <a:srgbClr val="FFFFFF"/>
                </a:solidFill>
                <a:latin typeface="Arial"/>
                <a:ea typeface="Arial"/>
                <a:cs typeface="Arial"/>
              </a:defRPr>
            </a:lvl7pPr>
            <a:lvl8pPr algn="l">
              <a:defRPr sz="4275" b="1">
                <a:solidFill>
                  <a:srgbClr val="FFFFFF"/>
                </a:solidFill>
                <a:latin typeface="Arial"/>
                <a:ea typeface="Arial"/>
                <a:cs typeface="Arial"/>
              </a:defRPr>
            </a:lvl8pPr>
            <a:lvl9pPr algn="l">
              <a:defRPr sz="4275" b="1">
                <a:solidFill>
                  <a:srgbClr val="FFFFFF"/>
                </a:solidFill>
                <a:latin typeface="Arial"/>
                <a:ea typeface="Arial"/>
                <a:cs typeface="Arial"/>
              </a:defRPr>
            </a:lvl9pPr>
          </a:lstStyle>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HƯỚNG</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MỞ RỘNG</a:t>
            </a:r>
          </a:p>
        </p:txBody>
      </p:sp>
      <p:sp>
        <p:nvSpPr>
          <p:cNvPr id="9" name="">
            <a:extLst xmlns:a="http://schemas.openxmlformats.org/drawingml/2006/main">
              <a:ext uri="{FF2B5EF4-FFF2-40B4-BE49-F238E27FC236}">
                <a16:creationId xmlns:a16="http://schemas.microsoft.com/office/drawing/2014/main" id="{810B215F-FAA3-417C-A544-18A245CD8DA4}"/>
              </a:ext>
            </a:extLst>
          </p:cNvPr>
          <p:cNvSpPr>
            <a:spLocks xmlns:a="http://schemas.openxmlformats.org/drawingml/2006/main" noGrp="1"/>
          </p:cNvSpPr>
          <p:nvPr/>
        </p:nvSpPr>
        <p:spPr>
          <a:xfrm xmlns:a="http://schemas.openxmlformats.org/drawingml/2006/main">
            <a:off x="7239000" y="4067175"/>
            <a:ext cx="4343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9989"/>
                </a:solidFill>
                <a:latin typeface="Arial"/>
                <a:ea typeface="Arial"/>
                <a:cs typeface="Arial"/>
              </a:defRPr>
            </a:defPPr>
            <a:lvl1pPr algn="l">
              <a:defRPr sz="3150" b="1">
                <a:solidFill>
                  <a:srgbClr val="FF9989"/>
                </a:solidFill>
                <a:latin typeface="Arial"/>
                <a:ea typeface="Arial"/>
                <a:cs typeface="Arial"/>
              </a:defRPr>
            </a:lvl1pPr>
            <a:lvl2pPr algn="l">
              <a:defRPr sz="3150" b="1">
                <a:solidFill>
                  <a:srgbClr val="FF9989"/>
                </a:solidFill>
                <a:latin typeface="Arial"/>
                <a:ea typeface="Arial"/>
                <a:cs typeface="Arial"/>
              </a:defRPr>
            </a:lvl2pPr>
            <a:lvl3pPr algn="l">
              <a:defRPr sz="3150" b="1">
                <a:solidFill>
                  <a:srgbClr val="FF9989"/>
                </a:solidFill>
                <a:latin typeface="Arial"/>
                <a:ea typeface="Arial"/>
                <a:cs typeface="Arial"/>
              </a:defRPr>
            </a:lvl3pPr>
            <a:lvl4pPr algn="l">
              <a:defRPr sz="3150" b="1">
                <a:solidFill>
                  <a:srgbClr val="FF9989"/>
                </a:solidFill>
                <a:latin typeface="Arial"/>
                <a:ea typeface="Arial"/>
                <a:cs typeface="Arial"/>
              </a:defRPr>
            </a:lvl4pPr>
            <a:lvl5pPr algn="l">
              <a:defRPr sz="3150" b="1">
                <a:solidFill>
                  <a:srgbClr val="FF9989"/>
                </a:solidFill>
                <a:latin typeface="Arial"/>
                <a:ea typeface="Arial"/>
                <a:cs typeface="Arial"/>
              </a:defRPr>
            </a:lvl5pPr>
            <a:lvl6pPr algn="l">
              <a:defRPr sz="3150" b="1">
                <a:solidFill>
                  <a:srgbClr val="FF9989"/>
                </a:solidFill>
                <a:latin typeface="Arial"/>
                <a:ea typeface="Arial"/>
                <a:cs typeface="Arial"/>
              </a:defRPr>
            </a:lvl6pPr>
            <a:lvl7pPr algn="l">
              <a:defRPr sz="3150" b="1">
                <a:solidFill>
                  <a:srgbClr val="FF9989"/>
                </a:solidFill>
                <a:latin typeface="Arial"/>
                <a:ea typeface="Arial"/>
                <a:cs typeface="Arial"/>
              </a:defRPr>
            </a:lvl7pPr>
            <a:lvl8pPr algn="l">
              <a:defRPr sz="3150" b="1">
                <a:solidFill>
                  <a:srgbClr val="FF9989"/>
                </a:solidFill>
                <a:latin typeface="Arial"/>
                <a:ea typeface="Arial"/>
                <a:cs typeface="Arial"/>
              </a:defRPr>
            </a:lvl8pPr>
            <a:lvl9pPr algn="l">
              <a:defRPr sz="3150" b="1">
                <a:solidFill>
                  <a:srgbClr val="FF9989"/>
                </a:solidFill>
                <a:latin typeface="Arial"/>
                <a:ea typeface="Arial"/>
                <a:cs typeface="Arial"/>
              </a:defRPr>
            </a:lvl9pPr>
          </a:lstStyle>
          <a:p xmlns:a="http://schemas.openxmlformats.org/drawingml/2006/main">
            <a:pPr algn="l">
              <a:defRPr sz="3150" b="1">
                <a:solidFill>
                  <a:srgbClr val="FF9989"/>
                </a:solidFill>
                <a:latin typeface="Arial"/>
                <a:ea typeface="Arial"/>
                <a:cs typeface="Arial"/>
              </a:defRPr>
            </a:pPr>
            <a:r>
              <a:rPr sz="3150" b="1">
                <a:solidFill>
                  <a:srgbClr val="FF9989"/>
                </a:solidFill>
                <a:latin typeface="Arial"/>
                <a:ea typeface="Arial"/>
                <a:cs typeface="Arial"/>
              </a:rPr>
              <a:t>Chưa triển khai</a:t>
            </a:r>
          </a:p>
        </p:txBody>
      </p:sp>
      <p:sp>
        <p:nvSpPr>
          <p:cNvPr id="10" name="">
            <a:extLst xmlns:a="http://schemas.openxmlformats.org/drawingml/2006/main">
              <a:ext uri="{FF2B5EF4-FFF2-40B4-BE49-F238E27FC236}">
                <a16:creationId xmlns:a16="http://schemas.microsoft.com/office/drawing/2014/main" id="{A6E081BB-A6A3-4A88-B1AA-18B71E281017}"/>
              </a:ext>
            </a:extLst>
          </p:cNvPr>
          <p:cNvSpPr>
            <a:spLocks xmlns:a="http://schemas.openxmlformats.org/drawingml/2006/main" noGrp="1"/>
          </p:cNvSpPr>
          <p:nvPr/>
        </p:nvSpPr>
        <p:spPr>
          <a:xfrm xmlns:a="http://schemas.openxmlformats.org/drawingml/2006/main">
            <a:off x="7239000" y="5162550"/>
            <a:ext cx="4343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CEBED"/>
                </a:solidFill>
                <a:latin typeface="Arial"/>
                <a:ea typeface="Arial"/>
                <a:cs typeface="Arial"/>
              </a:defRPr>
            </a:defPPr>
            <a:lvl1pPr algn="l">
              <a:defRPr sz="2100" b="0">
                <a:solidFill>
                  <a:srgbClr val="DCEBED"/>
                </a:solidFill>
                <a:latin typeface="Arial"/>
                <a:ea typeface="Arial"/>
                <a:cs typeface="Arial"/>
              </a:defRPr>
            </a:lvl1pPr>
            <a:lvl2pPr algn="l">
              <a:defRPr sz="2100" b="0">
                <a:solidFill>
                  <a:srgbClr val="DCEBED"/>
                </a:solidFill>
                <a:latin typeface="Arial"/>
                <a:ea typeface="Arial"/>
                <a:cs typeface="Arial"/>
              </a:defRPr>
            </a:lvl2pPr>
            <a:lvl3pPr algn="l">
              <a:defRPr sz="2100" b="0">
                <a:solidFill>
                  <a:srgbClr val="DCEBED"/>
                </a:solidFill>
                <a:latin typeface="Arial"/>
                <a:ea typeface="Arial"/>
                <a:cs typeface="Arial"/>
              </a:defRPr>
            </a:lvl3pPr>
            <a:lvl4pPr algn="l">
              <a:defRPr sz="2100" b="0">
                <a:solidFill>
                  <a:srgbClr val="DCEBED"/>
                </a:solidFill>
                <a:latin typeface="Arial"/>
                <a:ea typeface="Arial"/>
                <a:cs typeface="Arial"/>
              </a:defRPr>
            </a:lvl4pPr>
            <a:lvl5pPr algn="l">
              <a:defRPr sz="2100" b="0">
                <a:solidFill>
                  <a:srgbClr val="DCEBED"/>
                </a:solidFill>
                <a:latin typeface="Arial"/>
                <a:ea typeface="Arial"/>
                <a:cs typeface="Arial"/>
              </a:defRPr>
            </a:lvl5pPr>
            <a:lvl6pPr algn="l">
              <a:defRPr sz="2100" b="0">
                <a:solidFill>
                  <a:srgbClr val="DCEBED"/>
                </a:solidFill>
                <a:latin typeface="Arial"/>
                <a:ea typeface="Arial"/>
                <a:cs typeface="Arial"/>
              </a:defRPr>
            </a:lvl6pPr>
            <a:lvl7pPr algn="l">
              <a:defRPr sz="2100" b="0">
                <a:solidFill>
                  <a:srgbClr val="DCEBED"/>
                </a:solidFill>
                <a:latin typeface="Arial"/>
                <a:ea typeface="Arial"/>
                <a:cs typeface="Arial"/>
              </a:defRPr>
            </a:lvl7pPr>
            <a:lvl8pPr algn="l">
              <a:defRPr sz="2100" b="0">
                <a:solidFill>
                  <a:srgbClr val="DCEBED"/>
                </a:solidFill>
                <a:latin typeface="Arial"/>
                <a:ea typeface="Arial"/>
                <a:cs typeface="Arial"/>
              </a:defRPr>
            </a:lvl8pPr>
            <a:lvl9pPr algn="l">
              <a:defRPr sz="2100" b="0">
                <a:solidFill>
                  <a:srgbClr val="DCEBED"/>
                </a:solidFill>
                <a:latin typeface="Arial"/>
                <a:ea typeface="Arial"/>
                <a:cs typeface="Arial"/>
              </a:defRPr>
            </a:lvl9pPr>
          </a:lstStyle>
          <a:p xmlns:a="http://schemas.openxmlformats.org/drawingml/2006/main">
            <a:pPr algn="l">
              <a:defRPr sz="2100" b="0">
                <a:solidFill>
                  <a:srgbClr val="DCEBED"/>
                </a:solidFill>
                <a:latin typeface="Arial"/>
                <a:ea typeface="Arial"/>
                <a:cs typeface="Arial"/>
              </a:defRPr>
            </a:pPr>
            <a:r>
              <a:rPr sz="2100" b="0">
                <a:solidFill>
                  <a:srgbClr val="DCEBED"/>
                </a:solidFill>
                <a:latin typeface="Arial"/>
                <a:ea typeface="Arial"/>
                <a:cs typeface="Arial"/>
              </a:rPr>
              <a:t>N11 Vault hiện chưa có notification worker, thumbnail hoặc quét mã độc.</a:t>
            </a:r>
          </a:p>
        </p:txBody>
      </p:sp>
    </p:spTree>
    <p:extLst>
      <p:ext uri="{BB962C8B-B14F-4D97-AF65-F5344CB8AC3E}">
        <p14:creationId xmlns:p14="http://schemas.microsoft.com/office/powerpoint/2010/main" val="2109318114"/>
      </p:ext>
    </p:extLst>
  </p:cSld>
</p:sld>
</file>

<file path=ppt/slides/slide2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E3039F-86C6-4188-846C-805B0C54E349}"/>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57C88"/>
                </a:solidFill>
                <a:latin typeface="Arial"/>
                <a:ea typeface="Arial"/>
                <a:cs typeface="Arial"/>
              </a:defRPr>
            </a:defPPr>
            <a:lvl1pPr algn="l">
              <a:defRPr sz="1275" b="1">
                <a:solidFill>
                  <a:srgbClr val="657C88"/>
                </a:solidFill>
                <a:latin typeface="Arial"/>
                <a:ea typeface="Arial"/>
                <a:cs typeface="Arial"/>
              </a:defRPr>
            </a:lvl1pPr>
            <a:lvl2pPr algn="l">
              <a:defRPr sz="1275" b="1">
                <a:solidFill>
                  <a:srgbClr val="657C88"/>
                </a:solidFill>
                <a:latin typeface="Arial"/>
                <a:ea typeface="Arial"/>
                <a:cs typeface="Arial"/>
              </a:defRPr>
            </a:lvl2pPr>
            <a:lvl3pPr algn="l">
              <a:defRPr sz="1275" b="1">
                <a:solidFill>
                  <a:srgbClr val="657C88"/>
                </a:solidFill>
                <a:latin typeface="Arial"/>
                <a:ea typeface="Arial"/>
                <a:cs typeface="Arial"/>
              </a:defRPr>
            </a:lvl3pPr>
            <a:lvl4pPr algn="l">
              <a:defRPr sz="1275" b="1">
                <a:solidFill>
                  <a:srgbClr val="657C88"/>
                </a:solidFill>
                <a:latin typeface="Arial"/>
                <a:ea typeface="Arial"/>
                <a:cs typeface="Arial"/>
              </a:defRPr>
            </a:lvl4pPr>
            <a:lvl5pPr algn="l">
              <a:defRPr sz="1275" b="1">
                <a:solidFill>
                  <a:srgbClr val="657C88"/>
                </a:solidFill>
                <a:latin typeface="Arial"/>
                <a:ea typeface="Arial"/>
                <a:cs typeface="Arial"/>
              </a:defRPr>
            </a:lvl5pPr>
            <a:lvl6pPr algn="l">
              <a:defRPr sz="1275" b="1">
                <a:solidFill>
                  <a:srgbClr val="657C88"/>
                </a:solidFill>
                <a:latin typeface="Arial"/>
                <a:ea typeface="Arial"/>
                <a:cs typeface="Arial"/>
              </a:defRPr>
            </a:lvl6pPr>
            <a:lvl7pPr algn="l">
              <a:defRPr sz="1275" b="1">
                <a:solidFill>
                  <a:srgbClr val="657C88"/>
                </a:solidFill>
                <a:latin typeface="Arial"/>
                <a:ea typeface="Arial"/>
                <a:cs typeface="Arial"/>
              </a:defRPr>
            </a:lvl7pPr>
            <a:lvl8pPr algn="l">
              <a:defRPr sz="1275" b="1">
                <a:solidFill>
                  <a:srgbClr val="657C88"/>
                </a:solidFill>
                <a:latin typeface="Arial"/>
                <a:ea typeface="Arial"/>
                <a:cs typeface="Arial"/>
              </a:defRPr>
            </a:lvl8pPr>
            <a:lvl9pPr algn="l">
              <a:defRPr sz="1275" b="1">
                <a:solidFill>
                  <a:srgbClr val="657C88"/>
                </a:solidFill>
                <a:latin typeface="Arial"/>
                <a:ea typeface="Arial"/>
                <a:cs typeface="Arial"/>
              </a:defRPr>
            </a:lvl9pPr>
          </a:lstStyle>
          <a:p xmlns:a="http://schemas.openxmlformats.org/drawingml/2006/main">
            <a:pPr algn="l">
              <a:defRPr sz="1275" b="1">
                <a:solidFill>
                  <a:srgbClr val="657C88"/>
                </a:solidFill>
                <a:latin typeface="Arial"/>
                <a:ea typeface="Arial"/>
                <a:cs typeface="Arial"/>
              </a:defRPr>
            </a:pPr>
            <a:r>
              <a:rPr sz="1275" b="1">
                <a:solidFill>
                  <a:srgbClr val="657C88"/>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74E6D756-F54B-4CEF-A0F7-8CC82879545B}"/>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63A4C"/>
                </a:solidFill>
                <a:latin typeface="Arial"/>
                <a:ea typeface="Arial"/>
                <a:cs typeface="Arial"/>
              </a:defRPr>
            </a:defPPr>
            <a:lvl1pPr algn="l">
              <a:defRPr sz="3375" b="1">
                <a:solidFill>
                  <a:srgbClr val="163A4C"/>
                </a:solidFill>
                <a:latin typeface="Arial"/>
                <a:ea typeface="Arial"/>
                <a:cs typeface="Arial"/>
              </a:defRPr>
            </a:lvl1pPr>
            <a:lvl2pPr algn="l">
              <a:defRPr sz="3375" b="1">
                <a:solidFill>
                  <a:srgbClr val="163A4C"/>
                </a:solidFill>
                <a:latin typeface="Arial"/>
                <a:ea typeface="Arial"/>
                <a:cs typeface="Arial"/>
              </a:defRPr>
            </a:lvl2pPr>
            <a:lvl3pPr algn="l">
              <a:defRPr sz="3375" b="1">
                <a:solidFill>
                  <a:srgbClr val="163A4C"/>
                </a:solidFill>
                <a:latin typeface="Arial"/>
                <a:ea typeface="Arial"/>
                <a:cs typeface="Arial"/>
              </a:defRPr>
            </a:lvl3pPr>
            <a:lvl4pPr algn="l">
              <a:defRPr sz="3375" b="1">
                <a:solidFill>
                  <a:srgbClr val="163A4C"/>
                </a:solidFill>
                <a:latin typeface="Arial"/>
                <a:ea typeface="Arial"/>
                <a:cs typeface="Arial"/>
              </a:defRPr>
            </a:lvl4pPr>
            <a:lvl5pPr algn="l">
              <a:defRPr sz="3375" b="1">
                <a:solidFill>
                  <a:srgbClr val="163A4C"/>
                </a:solidFill>
                <a:latin typeface="Arial"/>
                <a:ea typeface="Arial"/>
                <a:cs typeface="Arial"/>
              </a:defRPr>
            </a:lvl5pPr>
            <a:lvl6pPr algn="l">
              <a:defRPr sz="3375" b="1">
                <a:solidFill>
                  <a:srgbClr val="163A4C"/>
                </a:solidFill>
                <a:latin typeface="Arial"/>
                <a:ea typeface="Arial"/>
                <a:cs typeface="Arial"/>
              </a:defRPr>
            </a:lvl6pPr>
            <a:lvl7pPr algn="l">
              <a:defRPr sz="3375" b="1">
                <a:solidFill>
                  <a:srgbClr val="163A4C"/>
                </a:solidFill>
                <a:latin typeface="Arial"/>
                <a:ea typeface="Arial"/>
                <a:cs typeface="Arial"/>
              </a:defRPr>
            </a:lvl7pPr>
            <a:lvl8pPr algn="l">
              <a:defRPr sz="3375" b="1">
                <a:solidFill>
                  <a:srgbClr val="163A4C"/>
                </a:solidFill>
                <a:latin typeface="Arial"/>
                <a:ea typeface="Arial"/>
                <a:cs typeface="Arial"/>
              </a:defRPr>
            </a:lvl8pPr>
            <a:lvl9pPr algn="l">
              <a:defRPr sz="3375" b="1">
                <a:solidFill>
                  <a:srgbClr val="163A4C"/>
                </a:solidFill>
                <a:latin typeface="Arial"/>
                <a:ea typeface="Arial"/>
                <a:cs typeface="Arial"/>
              </a:defRPr>
            </a:lvl9pPr>
          </a:lstStyle>
          <a:p xmlns:a="http://schemas.openxmlformats.org/drawingml/2006/main">
            <a:pPr algn="l">
              <a:defRPr sz="3375" b="1">
                <a:solidFill>
                  <a:srgbClr val="163A4C"/>
                </a:solidFill>
                <a:latin typeface="Arial"/>
                <a:ea typeface="Arial"/>
                <a:cs typeface="Arial"/>
              </a:defRPr>
            </a:pPr>
            <a:r>
              <a:rPr sz="3375" b="1">
                <a:solidFill>
                  <a:srgbClr val="163A4C"/>
                </a:solidFill>
                <a:latin typeface="Arial"/>
                <a:ea typeface="Arial"/>
                <a:cs typeface="Arial"/>
              </a:rPr>
              <a:t>Đánh giá hiệu năng và bảo mật</a:t>
            </a:r>
          </a:p>
        </p:txBody>
      </p:sp>
      <p:sp>
        <p:nvSpPr>
          <p:cNvPr id="3" name="">
            <a:extLst xmlns:a="http://schemas.openxmlformats.org/drawingml/2006/main">
              <a:ext uri="{FF2B5EF4-FFF2-40B4-BE49-F238E27FC236}">
                <a16:creationId xmlns:a16="http://schemas.microsoft.com/office/drawing/2014/main" id="{B93B9872-922B-4E41-869A-F85E6FDA3C0C}"/>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7C88"/>
                </a:solidFill>
                <a:latin typeface="Arial"/>
                <a:ea typeface="Arial"/>
                <a:cs typeface="Arial"/>
              </a:defRPr>
            </a:defPPr>
            <a:lvl1pPr algn="l">
              <a:defRPr sz="1200" b="1">
                <a:solidFill>
                  <a:srgbClr val="657C88"/>
                </a:solidFill>
                <a:latin typeface="Arial"/>
                <a:ea typeface="Arial"/>
                <a:cs typeface="Arial"/>
              </a:defRPr>
            </a:lvl1pPr>
            <a:lvl2pPr algn="l">
              <a:defRPr sz="1200" b="1">
                <a:solidFill>
                  <a:srgbClr val="657C88"/>
                </a:solidFill>
                <a:latin typeface="Arial"/>
                <a:ea typeface="Arial"/>
                <a:cs typeface="Arial"/>
              </a:defRPr>
            </a:lvl2pPr>
            <a:lvl3pPr algn="l">
              <a:defRPr sz="1200" b="1">
                <a:solidFill>
                  <a:srgbClr val="657C88"/>
                </a:solidFill>
                <a:latin typeface="Arial"/>
                <a:ea typeface="Arial"/>
                <a:cs typeface="Arial"/>
              </a:defRPr>
            </a:lvl3pPr>
            <a:lvl4pPr algn="l">
              <a:defRPr sz="1200" b="1">
                <a:solidFill>
                  <a:srgbClr val="657C88"/>
                </a:solidFill>
                <a:latin typeface="Arial"/>
                <a:ea typeface="Arial"/>
                <a:cs typeface="Arial"/>
              </a:defRPr>
            </a:lvl4pPr>
            <a:lvl5pPr algn="l">
              <a:defRPr sz="1200" b="1">
                <a:solidFill>
                  <a:srgbClr val="657C88"/>
                </a:solidFill>
                <a:latin typeface="Arial"/>
                <a:ea typeface="Arial"/>
                <a:cs typeface="Arial"/>
              </a:defRPr>
            </a:lvl5pPr>
            <a:lvl6pPr algn="l">
              <a:defRPr sz="1200" b="1">
                <a:solidFill>
                  <a:srgbClr val="657C88"/>
                </a:solidFill>
                <a:latin typeface="Arial"/>
                <a:ea typeface="Arial"/>
                <a:cs typeface="Arial"/>
              </a:defRPr>
            </a:lvl6pPr>
            <a:lvl7pPr algn="l">
              <a:defRPr sz="1200" b="1">
                <a:solidFill>
                  <a:srgbClr val="657C88"/>
                </a:solidFill>
                <a:latin typeface="Arial"/>
                <a:ea typeface="Arial"/>
                <a:cs typeface="Arial"/>
              </a:defRPr>
            </a:lvl7pPr>
            <a:lvl8pPr algn="l">
              <a:defRPr sz="1200" b="1">
                <a:solidFill>
                  <a:srgbClr val="657C88"/>
                </a:solidFill>
                <a:latin typeface="Arial"/>
                <a:ea typeface="Arial"/>
                <a:cs typeface="Arial"/>
              </a:defRPr>
            </a:lvl8pPr>
            <a:lvl9pPr algn="l">
              <a:defRPr sz="1200" b="1">
                <a:solidFill>
                  <a:srgbClr val="657C88"/>
                </a:solidFill>
                <a:latin typeface="Arial"/>
                <a:ea typeface="Arial"/>
                <a:cs typeface="Arial"/>
              </a:defRPr>
            </a:lvl9pPr>
          </a:lstStyle>
          <a:p xmlns:a="http://schemas.openxmlformats.org/drawingml/2006/main">
            <a:pPr algn="l">
              <a:defRPr sz="1200" b="1">
                <a:solidFill>
                  <a:srgbClr val="657C88"/>
                </a:solidFill>
                <a:latin typeface="Arial"/>
                <a:ea typeface="Arial"/>
                <a:cs typeface="Arial"/>
              </a:defRPr>
            </a:pPr>
            <a:r>
              <a:rPr sz="1200" b="1">
                <a:solidFill>
                  <a:srgbClr val="657C88"/>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CC862E1F-0D33-47CE-B464-A2692D751AED}"/>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075D68"/>
                </a:solidFill>
                <a:latin typeface="Arial"/>
                <a:ea typeface="Arial"/>
                <a:cs typeface="Arial"/>
              </a:defRPr>
            </a:defPPr>
            <a:lvl1pPr algn="r">
              <a:defRPr sz="1950" b="1">
                <a:solidFill>
                  <a:srgbClr val="075D68"/>
                </a:solidFill>
                <a:latin typeface="Arial"/>
                <a:ea typeface="Arial"/>
                <a:cs typeface="Arial"/>
              </a:defRPr>
            </a:lvl1pPr>
            <a:lvl2pPr algn="r">
              <a:defRPr sz="1950" b="1">
                <a:solidFill>
                  <a:srgbClr val="075D68"/>
                </a:solidFill>
                <a:latin typeface="Arial"/>
                <a:ea typeface="Arial"/>
                <a:cs typeface="Arial"/>
              </a:defRPr>
            </a:lvl2pPr>
            <a:lvl3pPr algn="r">
              <a:defRPr sz="1950" b="1">
                <a:solidFill>
                  <a:srgbClr val="075D68"/>
                </a:solidFill>
                <a:latin typeface="Arial"/>
                <a:ea typeface="Arial"/>
                <a:cs typeface="Arial"/>
              </a:defRPr>
            </a:lvl3pPr>
            <a:lvl4pPr algn="r">
              <a:defRPr sz="1950" b="1">
                <a:solidFill>
                  <a:srgbClr val="075D68"/>
                </a:solidFill>
                <a:latin typeface="Arial"/>
                <a:ea typeface="Arial"/>
                <a:cs typeface="Arial"/>
              </a:defRPr>
            </a:lvl4pPr>
            <a:lvl5pPr algn="r">
              <a:defRPr sz="1950" b="1">
                <a:solidFill>
                  <a:srgbClr val="075D68"/>
                </a:solidFill>
                <a:latin typeface="Arial"/>
                <a:ea typeface="Arial"/>
                <a:cs typeface="Arial"/>
              </a:defRPr>
            </a:lvl5pPr>
            <a:lvl6pPr algn="r">
              <a:defRPr sz="1950" b="1">
                <a:solidFill>
                  <a:srgbClr val="075D68"/>
                </a:solidFill>
                <a:latin typeface="Arial"/>
                <a:ea typeface="Arial"/>
                <a:cs typeface="Arial"/>
              </a:defRPr>
            </a:lvl6pPr>
            <a:lvl7pPr algn="r">
              <a:defRPr sz="1950" b="1">
                <a:solidFill>
                  <a:srgbClr val="075D68"/>
                </a:solidFill>
                <a:latin typeface="Arial"/>
                <a:ea typeface="Arial"/>
                <a:cs typeface="Arial"/>
              </a:defRPr>
            </a:lvl7pPr>
            <a:lvl8pPr algn="r">
              <a:defRPr sz="1950" b="1">
                <a:solidFill>
                  <a:srgbClr val="075D68"/>
                </a:solidFill>
                <a:latin typeface="Arial"/>
                <a:ea typeface="Arial"/>
                <a:cs typeface="Arial"/>
              </a:defRPr>
            </a:lvl8pPr>
            <a:lvl9pPr algn="r">
              <a:defRPr sz="1950" b="1">
                <a:solidFill>
                  <a:srgbClr val="075D68"/>
                </a:solidFill>
                <a:latin typeface="Arial"/>
                <a:ea typeface="Arial"/>
                <a:cs typeface="Arial"/>
              </a:defRPr>
            </a:lvl9pPr>
          </a:lstStyle>
          <a:p xmlns:a="http://schemas.openxmlformats.org/drawingml/2006/main">
            <a:pPr algn="r">
              <a:defRPr sz="1950" b="1">
                <a:solidFill>
                  <a:srgbClr val="075D68"/>
                </a:solidFill>
                <a:latin typeface="Arial"/>
                <a:ea typeface="Arial"/>
                <a:cs typeface="Arial"/>
              </a:defRPr>
            </a:pPr>
            <a:r>
              <a:rPr sz="1950" b="1">
                <a:solidFill>
                  <a:srgbClr val="075D68"/>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B99DBAAF-C863-414B-954C-1D99B1D033B8}"/>
              </a:ext>
            </a:extLst>
          </p:cNvPr>
          <p:cNvSpPr>
            <a:spLocks xmlns:a="http://schemas.openxmlformats.org/drawingml/2006/main" noGrp="1"/>
          </p:cNvSpPr>
          <p:nvPr/>
        </p:nvSpPr>
        <p:spPr>
          <a:xfrm xmlns:a="http://schemas.openxmlformats.org/drawingml/2006/main">
            <a:off x="609600" y="2143125"/>
            <a:ext cx="5334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075D68"/>
                </a:solidFill>
                <a:latin typeface="Arial"/>
                <a:ea typeface="Arial"/>
                <a:cs typeface="Arial"/>
              </a:defRPr>
            </a:defPPr>
            <a:lvl1pPr algn="l">
              <a:defRPr sz="6825" b="1">
                <a:solidFill>
                  <a:srgbClr val="075D68"/>
                </a:solidFill>
                <a:latin typeface="Arial"/>
                <a:ea typeface="Arial"/>
                <a:cs typeface="Arial"/>
              </a:defRPr>
            </a:lvl1pPr>
            <a:lvl2pPr algn="l">
              <a:defRPr sz="6825" b="1">
                <a:solidFill>
                  <a:srgbClr val="075D68"/>
                </a:solidFill>
                <a:latin typeface="Arial"/>
                <a:ea typeface="Arial"/>
                <a:cs typeface="Arial"/>
              </a:defRPr>
            </a:lvl2pPr>
            <a:lvl3pPr algn="l">
              <a:defRPr sz="6825" b="1">
                <a:solidFill>
                  <a:srgbClr val="075D68"/>
                </a:solidFill>
                <a:latin typeface="Arial"/>
                <a:ea typeface="Arial"/>
                <a:cs typeface="Arial"/>
              </a:defRPr>
            </a:lvl3pPr>
            <a:lvl4pPr algn="l">
              <a:defRPr sz="6825" b="1">
                <a:solidFill>
                  <a:srgbClr val="075D68"/>
                </a:solidFill>
                <a:latin typeface="Arial"/>
                <a:ea typeface="Arial"/>
                <a:cs typeface="Arial"/>
              </a:defRPr>
            </a:lvl4pPr>
            <a:lvl5pPr algn="l">
              <a:defRPr sz="6825" b="1">
                <a:solidFill>
                  <a:srgbClr val="075D68"/>
                </a:solidFill>
                <a:latin typeface="Arial"/>
                <a:ea typeface="Arial"/>
                <a:cs typeface="Arial"/>
              </a:defRPr>
            </a:lvl5pPr>
            <a:lvl6pPr algn="l">
              <a:defRPr sz="6825" b="1">
                <a:solidFill>
                  <a:srgbClr val="075D68"/>
                </a:solidFill>
                <a:latin typeface="Arial"/>
                <a:ea typeface="Arial"/>
                <a:cs typeface="Arial"/>
              </a:defRPr>
            </a:lvl6pPr>
            <a:lvl7pPr algn="l">
              <a:defRPr sz="6825" b="1">
                <a:solidFill>
                  <a:srgbClr val="075D68"/>
                </a:solidFill>
                <a:latin typeface="Arial"/>
                <a:ea typeface="Arial"/>
                <a:cs typeface="Arial"/>
              </a:defRPr>
            </a:lvl7pPr>
            <a:lvl8pPr algn="l">
              <a:defRPr sz="6825" b="1">
                <a:solidFill>
                  <a:srgbClr val="075D68"/>
                </a:solidFill>
                <a:latin typeface="Arial"/>
                <a:ea typeface="Arial"/>
                <a:cs typeface="Arial"/>
              </a:defRPr>
            </a:lvl8pPr>
            <a:lvl9pPr algn="l">
              <a:defRPr sz="6825" b="1">
                <a:solidFill>
                  <a:srgbClr val="075D68"/>
                </a:solidFill>
                <a:latin typeface="Arial"/>
                <a:ea typeface="Arial"/>
                <a:cs typeface="Arial"/>
              </a:defRPr>
            </a:lvl9pPr>
          </a:lstStyle>
          <a:p xmlns:a="http://schemas.openxmlformats.org/drawingml/2006/main">
            <a:pPr algn="l">
              <a:defRPr sz="6825" b="1">
                <a:solidFill>
                  <a:srgbClr val="075D68"/>
                </a:solidFill>
                <a:latin typeface="Arial"/>
                <a:ea typeface="Arial"/>
                <a:cs typeface="Arial"/>
              </a:defRPr>
            </a:pPr>
            <a:r>
              <a:rPr sz="6825" b="1">
                <a:solidFill>
                  <a:srgbClr val="075D68"/>
                </a:solidFill>
                <a:latin typeface="Arial"/>
                <a:ea typeface="Arial"/>
                <a:cs typeface="Arial"/>
              </a:rPr>
              <a:t>27 / 27</a:t>
            </a:r>
          </a:p>
        </p:txBody>
      </p:sp>
      <p:sp>
        <p:nvSpPr>
          <p:cNvPr id="6" name="">
            <a:extLst xmlns:a="http://schemas.openxmlformats.org/drawingml/2006/main">
              <a:ext uri="{FF2B5EF4-FFF2-40B4-BE49-F238E27FC236}">
                <a16:creationId xmlns:a16="http://schemas.microsoft.com/office/drawing/2014/main" id="{4075C0AF-471E-4E54-AF39-BBCA8D477E8F}"/>
              </a:ext>
            </a:extLst>
          </p:cNvPr>
          <p:cNvSpPr>
            <a:spLocks xmlns:a="http://schemas.openxmlformats.org/drawingml/2006/main" noGrp="1"/>
          </p:cNvSpPr>
          <p:nvPr/>
        </p:nvSpPr>
        <p:spPr>
          <a:xfrm xmlns:a="http://schemas.openxmlformats.org/drawingml/2006/main">
            <a:off x="609600" y="34099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Test ứng dụng PASS</a:t>
            </a:r>
          </a:p>
        </p:txBody>
      </p:sp>
      <p:sp>
        <p:nvSpPr>
          <p:cNvPr id="7" name="">
            <a:extLst xmlns:a="http://schemas.openxmlformats.org/drawingml/2006/main">
              <a:ext uri="{FF2B5EF4-FFF2-40B4-BE49-F238E27FC236}">
                <a16:creationId xmlns:a16="http://schemas.microsoft.com/office/drawing/2014/main" id="{C315B14B-D097-46DC-8A36-632614898806}"/>
              </a:ext>
            </a:extLst>
          </p:cNvPr>
          <p:cNvSpPr>
            <a:spLocks xmlns:a="http://schemas.openxmlformats.org/drawingml/2006/main" noGrp="1"/>
          </p:cNvSpPr>
          <p:nvPr/>
        </p:nvSpPr>
        <p:spPr>
          <a:xfrm xmlns:a="http://schemas.openxmlformats.org/drawingml/2006/main">
            <a:off x="609600" y="4229100"/>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TestClient, policy và chữ ký boto3. Storage giả lập trong unit test.</a:t>
            </a:r>
          </a:p>
        </p:txBody>
      </p:sp>
      <p:sp>
        <p:nvSpPr>
          <p:cNvPr id="8" name="">
            <a:extLst xmlns:a="http://schemas.openxmlformats.org/drawingml/2006/main">
              <a:ext uri="{FF2B5EF4-FFF2-40B4-BE49-F238E27FC236}">
                <a16:creationId xmlns:a16="http://schemas.microsoft.com/office/drawing/2014/main" id="{47EAF5DF-EE4F-4FCB-9969-AC5F4B2E1AFF}"/>
              </a:ext>
            </a:extLst>
          </p:cNvPr>
          <p:cNvSpPr>
            <a:spLocks xmlns:a="http://schemas.openxmlformats.org/drawingml/2006/main" noGrp="1"/>
          </p:cNvSpPr>
          <p:nvPr/>
        </p:nvSpPr>
        <p:spPr>
          <a:xfrm xmlns:a="http://schemas.openxmlformats.org/drawingml/2006/main">
            <a:off x="6477000" y="2143125"/>
            <a:ext cx="5105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B75B4B"/>
                </a:solidFill>
                <a:latin typeface="Arial"/>
                <a:ea typeface="Arial"/>
                <a:cs typeface="Arial"/>
              </a:defRPr>
            </a:defPPr>
            <a:lvl1pPr algn="l">
              <a:defRPr sz="6825" b="1">
                <a:solidFill>
                  <a:srgbClr val="B75B4B"/>
                </a:solidFill>
                <a:latin typeface="Arial"/>
                <a:ea typeface="Arial"/>
                <a:cs typeface="Arial"/>
              </a:defRPr>
            </a:lvl1pPr>
            <a:lvl2pPr algn="l">
              <a:defRPr sz="6825" b="1">
                <a:solidFill>
                  <a:srgbClr val="B75B4B"/>
                </a:solidFill>
                <a:latin typeface="Arial"/>
                <a:ea typeface="Arial"/>
                <a:cs typeface="Arial"/>
              </a:defRPr>
            </a:lvl2pPr>
            <a:lvl3pPr algn="l">
              <a:defRPr sz="6825" b="1">
                <a:solidFill>
                  <a:srgbClr val="B75B4B"/>
                </a:solidFill>
                <a:latin typeface="Arial"/>
                <a:ea typeface="Arial"/>
                <a:cs typeface="Arial"/>
              </a:defRPr>
            </a:lvl3pPr>
            <a:lvl4pPr algn="l">
              <a:defRPr sz="6825" b="1">
                <a:solidFill>
                  <a:srgbClr val="B75B4B"/>
                </a:solidFill>
                <a:latin typeface="Arial"/>
                <a:ea typeface="Arial"/>
                <a:cs typeface="Arial"/>
              </a:defRPr>
            </a:lvl4pPr>
            <a:lvl5pPr algn="l">
              <a:defRPr sz="6825" b="1">
                <a:solidFill>
                  <a:srgbClr val="B75B4B"/>
                </a:solidFill>
                <a:latin typeface="Arial"/>
                <a:ea typeface="Arial"/>
                <a:cs typeface="Arial"/>
              </a:defRPr>
            </a:lvl5pPr>
            <a:lvl6pPr algn="l">
              <a:defRPr sz="6825" b="1">
                <a:solidFill>
                  <a:srgbClr val="B75B4B"/>
                </a:solidFill>
                <a:latin typeface="Arial"/>
                <a:ea typeface="Arial"/>
                <a:cs typeface="Arial"/>
              </a:defRPr>
            </a:lvl6pPr>
            <a:lvl7pPr algn="l">
              <a:defRPr sz="6825" b="1">
                <a:solidFill>
                  <a:srgbClr val="B75B4B"/>
                </a:solidFill>
                <a:latin typeface="Arial"/>
                <a:ea typeface="Arial"/>
                <a:cs typeface="Arial"/>
              </a:defRPr>
            </a:lvl7pPr>
            <a:lvl8pPr algn="l">
              <a:defRPr sz="6825" b="1">
                <a:solidFill>
                  <a:srgbClr val="B75B4B"/>
                </a:solidFill>
                <a:latin typeface="Arial"/>
                <a:ea typeface="Arial"/>
                <a:cs typeface="Arial"/>
              </a:defRPr>
            </a:lvl8pPr>
            <a:lvl9pPr algn="l">
              <a:defRPr sz="6825" b="1">
                <a:solidFill>
                  <a:srgbClr val="B75B4B"/>
                </a:solidFill>
                <a:latin typeface="Arial"/>
                <a:ea typeface="Arial"/>
                <a:cs typeface="Arial"/>
              </a:defRPr>
            </a:lvl9pPr>
          </a:lstStyle>
          <a:p xmlns:a="http://schemas.openxmlformats.org/drawingml/2006/main">
            <a:pPr algn="l">
              <a:defRPr sz="6825" b="1">
                <a:solidFill>
                  <a:srgbClr val="B75B4B"/>
                </a:solidFill>
                <a:latin typeface="Arial"/>
                <a:ea typeface="Arial"/>
                <a:cs typeface="Arial"/>
              </a:defRPr>
            </a:pPr>
            <a:r>
              <a:rPr sz="6825" b="1">
                <a:solidFill>
                  <a:srgbClr val="B75B4B"/>
                </a:solidFill>
                <a:latin typeface="Arial"/>
                <a:ea typeface="Arial"/>
                <a:cs typeface="Arial"/>
              </a:rPr>
              <a:t>15 / 15</a:t>
            </a:r>
          </a:p>
        </p:txBody>
      </p:sp>
      <p:sp>
        <p:nvSpPr>
          <p:cNvPr id="9" name="">
            <a:extLst xmlns:a="http://schemas.openxmlformats.org/drawingml/2006/main">
              <a:ext uri="{FF2B5EF4-FFF2-40B4-BE49-F238E27FC236}">
                <a16:creationId xmlns:a16="http://schemas.microsoft.com/office/drawing/2014/main" id="{1A50C4CE-AB94-4D41-AF1C-93ECC0596588}"/>
              </a:ext>
            </a:extLst>
          </p:cNvPr>
          <p:cNvSpPr>
            <a:spLocks xmlns:a="http://schemas.openxmlformats.org/drawingml/2006/main" noGrp="1"/>
          </p:cNvSpPr>
          <p:nvPr/>
        </p:nvSpPr>
        <p:spPr>
          <a:xfrm xmlns:a="http://schemas.openxmlformats.org/drawingml/2006/main">
            <a:off x="6477000" y="3409950"/>
            <a:ext cx="5105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3A4C"/>
                </a:solidFill>
                <a:latin typeface="Arial"/>
                <a:ea typeface="Arial"/>
                <a:cs typeface="Arial"/>
              </a:defRPr>
            </a:defPPr>
            <a:lvl1pPr algn="l">
              <a:defRPr sz="2625" b="1">
                <a:solidFill>
                  <a:srgbClr val="163A4C"/>
                </a:solidFill>
                <a:latin typeface="Arial"/>
                <a:ea typeface="Arial"/>
                <a:cs typeface="Arial"/>
              </a:defRPr>
            </a:lvl1pPr>
            <a:lvl2pPr algn="l">
              <a:defRPr sz="2625" b="1">
                <a:solidFill>
                  <a:srgbClr val="163A4C"/>
                </a:solidFill>
                <a:latin typeface="Arial"/>
                <a:ea typeface="Arial"/>
                <a:cs typeface="Arial"/>
              </a:defRPr>
            </a:lvl2pPr>
            <a:lvl3pPr algn="l">
              <a:defRPr sz="2625" b="1">
                <a:solidFill>
                  <a:srgbClr val="163A4C"/>
                </a:solidFill>
                <a:latin typeface="Arial"/>
                <a:ea typeface="Arial"/>
                <a:cs typeface="Arial"/>
              </a:defRPr>
            </a:lvl3pPr>
            <a:lvl4pPr algn="l">
              <a:defRPr sz="2625" b="1">
                <a:solidFill>
                  <a:srgbClr val="163A4C"/>
                </a:solidFill>
                <a:latin typeface="Arial"/>
                <a:ea typeface="Arial"/>
                <a:cs typeface="Arial"/>
              </a:defRPr>
            </a:lvl4pPr>
            <a:lvl5pPr algn="l">
              <a:defRPr sz="2625" b="1">
                <a:solidFill>
                  <a:srgbClr val="163A4C"/>
                </a:solidFill>
                <a:latin typeface="Arial"/>
                <a:ea typeface="Arial"/>
                <a:cs typeface="Arial"/>
              </a:defRPr>
            </a:lvl5pPr>
            <a:lvl6pPr algn="l">
              <a:defRPr sz="2625" b="1">
                <a:solidFill>
                  <a:srgbClr val="163A4C"/>
                </a:solidFill>
                <a:latin typeface="Arial"/>
                <a:ea typeface="Arial"/>
                <a:cs typeface="Arial"/>
              </a:defRPr>
            </a:lvl6pPr>
            <a:lvl7pPr algn="l">
              <a:defRPr sz="2625" b="1">
                <a:solidFill>
                  <a:srgbClr val="163A4C"/>
                </a:solidFill>
                <a:latin typeface="Arial"/>
                <a:ea typeface="Arial"/>
                <a:cs typeface="Arial"/>
              </a:defRPr>
            </a:lvl7pPr>
            <a:lvl8pPr algn="l">
              <a:defRPr sz="2625" b="1">
                <a:solidFill>
                  <a:srgbClr val="163A4C"/>
                </a:solidFill>
                <a:latin typeface="Arial"/>
                <a:ea typeface="Arial"/>
                <a:cs typeface="Arial"/>
              </a:defRPr>
            </a:lvl8pPr>
            <a:lvl9pPr algn="l">
              <a:defRPr sz="2625" b="1">
                <a:solidFill>
                  <a:srgbClr val="163A4C"/>
                </a:solidFill>
                <a:latin typeface="Arial"/>
                <a:ea typeface="Arial"/>
                <a:cs typeface="Arial"/>
              </a:defRPr>
            </a:lvl9pPr>
          </a:lstStyle>
          <a:p xmlns:a="http://schemas.openxmlformats.org/drawingml/2006/main">
            <a:pPr algn="l">
              <a:defRPr sz="2625" b="1">
                <a:solidFill>
                  <a:srgbClr val="163A4C"/>
                </a:solidFill>
                <a:latin typeface="Arial"/>
                <a:ea typeface="Arial"/>
                <a:cs typeface="Arial"/>
              </a:defRPr>
            </a:pPr>
            <a:r>
              <a:rPr sz="2625" b="1">
                <a:solidFill>
                  <a:srgbClr val="163A4C"/>
                </a:solidFill>
                <a:latin typeface="Arial"/>
                <a:ea typeface="Arial"/>
                <a:cs typeface="Arial"/>
              </a:rPr>
              <a:t>Ca tích hợp thật PASS</a:t>
            </a:r>
          </a:p>
        </p:txBody>
      </p:sp>
      <p:sp>
        <p:nvSpPr>
          <p:cNvPr id="10" name="">
            <a:extLst xmlns:a="http://schemas.openxmlformats.org/drawingml/2006/main">
              <a:ext uri="{FF2B5EF4-FFF2-40B4-BE49-F238E27FC236}">
                <a16:creationId xmlns:a16="http://schemas.microsoft.com/office/drawing/2014/main" id="{CE506F1A-3263-4D8A-98C3-E4B08CA776AB}"/>
              </a:ext>
            </a:extLst>
          </p:cNvPr>
          <p:cNvSpPr>
            <a:spLocks xmlns:a="http://schemas.openxmlformats.org/drawingml/2006/main" noGrp="1"/>
          </p:cNvSpPr>
          <p:nvPr/>
        </p:nvSpPr>
        <p:spPr>
          <a:xfrm xmlns:a="http://schemas.openxmlformats.org/drawingml/2006/main">
            <a:off x="6477000" y="4229100"/>
            <a:ext cx="5105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A4C"/>
                </a:solidFill>
                <a:latin typeface="Arial"/>
                <a:ea typeface="Arial"/>
                <a:cs typeface="Arial"/>
              </a:defRPr>
            </a:defPPr>
            <a:lvl1pPr algn="l">
              <a:defRPr sz="2175" b="0">
                <a:solidFill>
                  <a:srgbClr val="163A4C"/>
                </a:solidFill>
                <a:latin typeface="Arial"/>
                <a:ea typeface="Arial"/>
                <a:cs typeface="Arial"/>
              </a:defRPr>
            </a:lvl1pPr>
            <a:lvl2pPr algn="l">
              <a:defRPr sz="2175" b="0">
                <a:solidFill>
                  <a:srgbClr val="163A4C"/>
                </a:solidFill>
                <a:latin typeface="Arial"/>
                <a:ea typeface="Arial"/>
                <a:cs typeface="Arial"/>
              </a:defRPr>
            </a:lvl2pPr>
            <a:lvl3pPr algn="l">
              <a:defRPr sz="2175" b="0">
                <a:solidFill>
                  <a:srgbClr val="163A4C"/>
                </a:solidFill>
                <a:latin typeface="Arial"/>
                <a:ea typeface="Arial"/>
                <a:cs typeface="Arial"/>
              </a:defRPr>
            </a:lvl3pPr>
            <a:lvl4pPr algn="l">
              <a:defRPr sz="2175" b="0">
                <a:solidFill>
                  <a:srgbClr val="163A4C"/>
                </a:solidFill>
                <a:latin typeface="Arial"/>
                <a:ea typeface="Arial"/>
                <a:cs typeface="Arial"/>
              </a:defRPr>
            </a:lvl4pPr>
            <a:lvl5pPr algn="l">
              <a:defRPr sz="2175" b="0">
                <a:solidFill>
                  <a:srgbClr val="163A4C"/>
                </a:solidFill>
                <a:latin typeface="Arial"/>
                <a:ea typeface="Arial"/>
                <a:cs typeface="Arial"/>
              </a:defRPr>
            </a:lvl5pPr>
            <a:lvl6pPr algn="l">
              <a:defRPr sz="2175" b="0">
                <a:solidFill>
                  <a:srgbClr val="163A4C"/>
                </a:solidFill>
                <a:latin typeface="Arial"/>
                <a:ea typeface="Arial"/>
                <a:cs typeface="Arial"/>
              </a:defRPr>
            </a:lvl6pPr>
            <a:lvl7pPr algn="l">
              <a:defRPr sz="2175" b="0">
                <a:solidFill>
                  <a:srgbClr val="163A4C"/>
                </a:solidFill>
                <a:latin typeface="Arial"/>
                <a:ea typeface="Arial"/>
                <a:cs typeface="Arial"/>
              </a:defRPr>
            </a:lvl7pPr>
            <a:lvl8pPr algn="l">
              <a:defRPr sz="2175" b="0">
                <a:solidFill>
                  <a:srgbClr val="163A4C"/>
                </a:solidFill>
                <a:latin typeface="Arial"/>
                <a:ea typeface="Arial"/>
                <a:cs typeface="Arial"/>
              </a:defRPr>
            </a:lvl8pPr>
            <a:lvl9pPr algn="l">
              <a:defRPr sz="2175" b="0">
                <a:solidFill>
                  <a:srgbClr val="163A4C"/>
                </a:solidFill>
                <a:latin typeface="Arial"/>
                <a:ea typeface="Arial"/>
                <a:cs typeface="Arial"/>
              </a:defRPr>
            </a:lvl9pPr>
          </a:lstStyle>
          <a:p xmlns:a="http://schemas.openxmlformats.org/drawingml/2006/main">
            <a:pPr algn="l">
              <a:defRPr sz="2175" b="0">
                <a:solidFill>
                  <a:srgbClr val="163A4C"/>
                </a:solidFill>
                <a:latin typeface="Arial"/>
                <a:ea typeface="Arial"/>
                <a:cs typeface="Arial"/>
              </a:defRPr>
            </a:pPr>
            <a:r>
              <a:rPr sz="2175" b="0">
                <a:solidFill>
                  <a:srgbClr val="163A4C"/>
                </a:solidFill>
                <a:latin typeface="Arial"/>
                <a:ea typeface="Arial"/>
                <a:cs typeface="Arial"/>
              </a:rPr>
              <a:t>Docker MinIO: direct PUT, phân quyền, TTL 60 giây, version và phục hồi.</a:t>
            </a:r>
          </a:p>
        </p:txBody>
      </p:sp>
      <p:sp>
        <p:nvSpPr>
          <p:cNvPr id="11" name="">
            <a:extLst xmlns:a="http://schemas.openxmlformats.org/drawingml/2006/main">
              <a:ext uri="{FF2B5EF4-FFF2-40B4-BE49-F238E27FC236}">
                <a16:creationId xmlns:a16="http://schemas.microsoft.com/office/drawing/2014/main" id="{BEDDCDFE-AFCE-434B-BD72-9F8BE3EA27F3}"/>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57C88"/>
                </a:solidFill>
                <a:latin typeface="Arial"/>
                <a:ea typeface="Arial"/>
                <a:cs typeface="Arial"/>
              </a:defRPr>
            </a:defPPr>
            <a:lvl1pPr algn="l">
              <a:defRPr sz="1950" b="0">
                <a:solidFill>
                  <a:srgbClr val="657C88"/>
                </a:solidFill>
                <a:latin typeface="Arial"/>
                <a:ea typeface="Arial"/>
                <a:cs typeface="Arial"/>
              </a:defRPr>
            </a:lvl1pPr>
            <a:lvl2pPr algn="l">
              <a:defRPr sz="1950" b="0">
                <a:solidFill>
                  <a:srgbClr val="657C88"/>
                </a:solidFill>
                <a:latin typeface="Arial"/>
                <a:ea typeface="Arial"/>
                <a:cs typeface="Arial"/>
              </a:defRPr>
            </a:lvl2pPr>
            <a:lvl3pPr algn="l">
              <a:defRPr sz="1950" b="0">
                <a:solidFill>
                  <a:srgbClr val="657C88"/>
                </a:solidFill>
                <a:latin typeface="Arial"/>
                <a:ea typeface="Arial"/>
                <a:cs typeface="Arial"/>
              </a:defRPr>
            </a:lvl3pPr>
            <a:lvl4pPr algn="l">
              <a:defRPr sz="1950" b="0">
                <a:solidFill>
                  <a:srgbClr val="657C88"/>
                </a:solidFill>
                <a:latin typeface="Arial"/>
                <a:ea typeface="Arial"/>
                <a:cs typeface="Arial"/>
              </a:defRPr>
            </a:lvl4pPr>
            <a:lvl5pPr algn="l">
              <a:defRPr sz="1950" b="0">
                <a:solidFill>
                  <a:srgbClr val="657C88"/>
                </a:solidFill>
                <a:latin typeface="Arial"/>
                <a:ea typeface="Arial"/>
                <a:cs typeface="Arial"/>
              </a:defRPr>
            </a:lvl5pPr>
            <a:lvl6pPr algn="l">
              <a:defRPr sz="1950" b="0">
                <a:solidFill>
                  <a:srgbClr val="657C88"/>
                </a:solidFill>
                <a:latin typeface="Arial"/>
                <a:ea typeface="Arial"/>
                <a:cs typeface="Arial"/>
              </a:defRPr>
            </a:lvl6pPr>
            <a:lvl7pPr algn="l">
              <a:defRPr sz="1950" b="0">
                <a:solidFill>
                  <a:srgbClr val="657C88"/>
                </a:solidFill>
                <a:latin typeface="Arial"/>
                <a:ea typeface="Arial"/>
                <a:cs typeface="Arial"/>
              </a:defRPr>
            </a:lvl7pPr>
            <a:lvl8pPr algn="l">
              <a:defRPr sz="1950" b="0">
                <a:solidFill>
                  <a:srgbClr val="657C88"/>
                </a:solidFill>
                <a:latin typeface="Arial"/>
                <a:ea typeface="Arial"/>
                <a:cs typeface="Arial"/>
              </a:defRPr>
            </a:lvl8pPr>
            <a:lvl9pPr algn="l">
              <a:defRPr sz="1950" b="0">
                <a:solidFill>
                  <a:srgbClr val="657C88"/>
                </a:solidFill>
                <a:latin typeface="Arial"/>
                <a:ea typeface="Arial"/>
                <a:cs typeface="Arial"/>
              </a:defRPr>
            </a:lvl9pPr>
          </a:lstStyle>
          <a:p xmlns:a="http://schemas.openxmlformats.org/drawingml/2006/main">
            <a:pPr algn="l">
              <a:defRPr sz="1950" b="0">
                <a:solidFill>
                  <a:srgbClr val="657C88"/>
                </a:solidFill>
                <a:latin typeface="Arial"/>
                <a:ea typeface="Arial"/>
                <a:cs typeface="Arial"/>
              </a:defRPr>
            </a:pPr>
            <a:r>
              <a:rPr sz="1950" b="0">
                <a:solidFill>
                  <a:srgbClr val="657C88"/>
                </a:solidFill>
                <a:latin typeface="Arial"/>
                <a:ea typeface="Arial"/>
                <a:cs typeface="Arial"/>
              </a:rPr>
              <a:t>Chưa đo CPU, RAM, throughput hoặc HA. Cần benchmark proxy / direct cùng workload.</a:t>
            </a:r>
          </a:p>
        </p:txBody>
      </p:sp>
    </p:spTree>
    <p:extLst>
      <p:ext uri="{BB962C8B-B14F-4D97-AF65-F5344CB8AC3E}">
        <p14:creationId xmlns:p14="http://schemas.microsoft.com/office/powerpoint/2010/main" val="657300146"/>
      </p:ext>
    </p:extLst>
  </p:cSld>
</p:sld>
</file>

<file path=ppt/slides/slide28.xml><?xml version="1.0" encoding="utf-8"?>
<p:sld xmlns:p="http://schemas.openxmlformats.org/presentationml/2006/main">
  <p:cSld>
    <p:bg>
      <p:bgPr>
        <a:solidFill xmlns:a="http://schemas.openxmlformats.org/drawingml/2006/main">
          <a:srgbClr val="0824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326B83-6D9D-40FC-8BE6-DF17F94D738C}"/>
              </a:ext>
            </a:extLst>
          </p:cNvPr>
          <p:cNvSpPr>
            <a:spLocks xmlns:a="http://schemas.openxmlformats.org/drawingml/2006/main" noGrp="1"/>
          </p:cNvSpPr>
          <p:nvPr/>
        </p:nvSpPr>
        <p:spPr>
          <a:xfrm xmlns:a="http://schemas.openxmlformats.org/drawingml/2006/main">
            <a:off x="609600" y="2857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8EBBC6"/>
                </a:solidFill>
                <a:latin typeface="Arial"/>
                <a:ea typeface="Arial"/>
                <a:cs typeface="Arial"/>
              </a:defRPr>
            </a:defPPr>
            <a:lvl1pPr algn="l">
              <a:defRPr sz="1275" b="1">
                <a:solidFill>
                  <a:srgbClr val="8EBBC6"/>
                </a:solidFill>
                <a:latin typeface="Arial"/>
                <a:ea typeface="Arial"/>
                <a:cs typeface="Arial"/>
              </a:defRPr>
            </a:lvl1pPr>
            <a:lvl2pPr algn="l">
              <a:defRPr sz="1275" b="1">
                <a:solidFill>
                  <a:srgbClr val="8EBBC6"/>
                </a:solidFill>
                <a:latin typeface="Arial"/>
                <a:ea typeface="Arial"/>
                <a:cs typeface="Arial"/>
              </a:defRPr>
            </a:lvl2pPr>
            <a:lvl3pPr algn="l">
              <a:defRPr sz="1275" b="1">
                <a:solidFill>
                  <a:srgbClr val="8EBBC6"/>
                </a:solidFill>
                <a:latin typeface="Arial"/>
                <a:ea typeface="Arial"/>
                <a:cs typeface="Arial"/>
              </a:defRPr>
            </a:lvl3pPr>
            <a:lvl4pPr algn="l">
              <a:defRPr sz="1275" b="1">
                <a:solidFill>
                  <a:srgbClr val="8EBBC6"/>
                </a:solidFill>
                <a:latin typeface="Arial"/>
                <a:ea typeface="Arial"/>
                <a:cs typeface="Arial"/>
              </a:defRPr>
            </a:lvl4pPr>
            <a:lvl5pPr algn="l">
              <a:defRPr sz="1275" b="1">
                <a:solidFill>
                  <a:srgbClr val="8EBBC6"/>
                </a:solidFill>
                <a:latin typeface="Arial"/>
                <a:ea typeface="Arial"/>
                <a:cs typeface="Arial"/>
              </a:defRPr>
            </a:lvl5pPr>
            <a:lvl6pPr algn="l">
              <a:defRPr sz="1275" b="1">
                <a:solidFill>
                  <a:srgbClr val="8EBBC6"/>
                </a:solidFill>
                <a:latin typeface="Arial"/>
                <a:ea typeface="Arial"/>
                <a:cs typeface="Arial"/>
              </a:defRPr>
            </a:lvl6pPr>
            <a:lvl7pPr algn="l">
              <a:defRPr sz="1275" b="1">
                <a:solidFill>
                  <a:srgbClr val="8EBBC6"/>
                </a:solidFill>
                <a:latin typeface="Arial"/>
                <a:ea typeface="Arial"/>
                <a:cs typeface="Arial"/>
              </a:defRPr>
            </a:lvl7pPr>
            <a:lvl8pPr algn="l">
              <a:defRPr sz="1275" b="1">
                <a:solidFill>
                  <a:srgbClr val="8EBBC6"/>
                </a:solidFill>
                <a:latin typeface="Arial"/>
                <a:ea typeface="Arial"/>
                <a:cs typeface="Arial"/>
              </a:defRPr>
            </a:lvl8pPr>
            <a:lvl9pPr algn="l">
              <a:defRPr sz="1275" b="1">
                <a:solidFill>
                  <a:srgbClr val="8EBBC6"/>
                </a:solidFill>
                <a:latin typeface="Arial"/>
                <a:ea typeface="Arial"/>
                <a:cs typeface="Arial"/>
              </a:defRPr>
            </a:lvl9pPr>
          </a:lstStyle>
          <a:p xmlns:a="http://schemas.openxmlformats.org/drawingml/2006/main">
            <a:pPr algn="l">
              <a:defRPr sz="1275" b="1">
                <a:solidFill>
                  <a:srgbClr val="8EBBC6"/>
                </a:solidFill>
                <a:latin typeface="Arial"/>
                <a:ea typeface="Arial"/>
                <a:cs typeface="Arial"/>
              </a:defRPr>
            </a:pPr>
            <a:r>
              <a:rPr sz="1275" b="1">
                <a:solidFill>
                  <a:srgbClr val="8EBBC6"/>
                </a:solidFill>
                <a:latin typeface="Arial"/>
                <a:ea typeface="Arial"/>
                <a:cs typeface="Arial"/>
              </a:rPr>
              <a:t>IV  THỰC NGHIỆM HỆ THỐNG</a:t>
            </a:r>
          </a:p>
        </p:txBody>
      </p:sp>
      <p:sp>
        <p:nvSpPr>
          <p:cNvPr id="2" name="">
            <a:extLst xmlns:a="http://schemas.openxmlformats.org/drawingml/2006/main">
              <a:ext uri="{FF2B5EF4-FFF2-40B4-BE49-F238E27FC236}">
                <a16:creationId xmlns:a16="http://schemas.microsoft.com/office/drawing/2014/main" id="{0476CDA0-4C31-4D01-A243-5C2E4B7337FE}"/>
              </a:ext>
            </a:extLst>
          </p:cNvPr>
          <p:cNvSpPr>
            <a:spLocks xmlns:a="http://schemas.openxmlformats.org/drawingml/2006/main" noGrp="1"/>
          </p:cNvSpPr>
          <p:nvPr/>
        </p:nvSpPr>
        <p:spPr>
          <a:xfrm xmlns:a="http://schemas.openxmlformats.org/drawingml/2006/main">
            <a:off x="609600" y="7905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Tổng kết và hướng phát triển</a:t>
            </a:r>
          </a:p>
        </p:txBody>
      </p:sp>
      <p:sp>
        <p:nvSpPr>
          <p:cNvPr id="3" name="">
            <a:extLst xmlns:a="http://schemas.openxmlformats.org/drawingml/2006/main">
              <a:ext uri="{FF2B5EF4-FFF2-40B4-BE49-F238E27FC236}">
                <a16:creationId xmlns:a16="http://schemas.microsoft.com/office/drawing/2014/main" id="{DD7CC646-68A5-4B6D-AE99-1AE4CC84546A}"/>
              </a:ext>
            </a:extLst>
          </p:cNvPr>
          <p:cNvSpPr>
            <a:spLocks xmlns:a="http://schemas.openxmlformats.org/drawingml/2006/main" noGrp="1"/>
          </p:cNvSpPr>
          <p:nvPr/>
        </p:nvSpPr>
        <p:spPr>
          <a:xfrm xmlns:a="http://schemas.openxmlformats.org/drawingml/2006/main">
            <a:off x="609600" y="63722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8EBBC6"/>
                </a:solidFill>
                <a:latin typeface="Arial"/>
                <a:ea typeface="Arial"/>
                <a:cs typeface="Arial"/>
              </a:defRPr>
            </a:defPPr>
            <a:lvl1pPr algn="l">
              <a:defRPr sz="1200" b="1">
                <a:solidFill>
                  <a:srgbClr val="8EBBC6"/>
                </a:solidFill>
                <a:latin typeface="Arial"/>
                <a:ea typeface="Arial"/>
                <a:cs typeface="Arial"/>
              </a:defRPr>
            </a:lvl1pPr>
            <a:lvl2pPr algn="l">
              <a:defRPr sz="1200" b="1">
                <a:solidFill>
                  <a:srgbClr val="8EBBC6"/>
                </a:solidFill>
                <a:latin typeface="Arial"/>
                <a:ea typeface="Arial"/>
                <a:cs typeface="Arial"/>
              </a:defRPr>
            </a:lvl2pPr>
            <a:lvl3pPr algn="l">
              <a:defRPr sz="1200" b="1">
                <a:solidFill>
                  <a:srgbClr val="8EBBC6"/>
                </a:solidFill>
                <a:latin typeface="Arial"/>
                <a:ea typeface="Arial"/>
                <a:cs typeface="Arial"/>
              </a:defRPr>
            </a:lvl3pPr>
            <a:lvl4pPr algn="l">
              <a:defRPr sz="1200" b="1">
                <a:solidFill>
                  <a:srgbClr val="8EBBC6"/>
                </a:solidFill>
                <a:latin typeface="Arial"/>
                <a:ea typeface="Arial"/>
                <a:cs typeface="Arial"/>
              </a:defRPr>
            </a:lvl4pPr>
            <a:lvl5pPr algn="l">
              <a:defRPr sz="1200" b="1">
                <a:solidFill>
                  <a:srgbClr val="8EBBC6"/>
                </a:solidFill>
                <a:latin typeface="Arial"/>
                <a:ea typeface="Arial"/>
                <a:cs typeface="Arial"/>
              </a:defRPr>
            </a:lvl5pPr>
            <a:lvl6pPr algn="l">
              <a:defRPr sz="1200" b="1">
                <a:solidFill>
                  <a:srgbClr val="8EBBC6"/>
                </a:solidFill>
                <a:latin typeface="Arial"/>
                <a:ea typeface="Arial"/>
                <a:cs typeface="Arial"/>
              </a:defRPr>
            </a:lvl6pPr>
            <a:lvl7pPr algn="l">
              <a:defRPr sz="1200" b="1">
                <a:solidFill>
                  <a:srgbClr val="8EBBC6"/>
                </a:solidFill>
                <a:latin typeface="Arial"/>
                <a:ea typeface="Arial"/>
                <a:cs typeface="Arial"/>
              </a:defRPr>
            </a:lvl7pPr>
            <a:lvl8pPr algn="l">
              <a:defRPr sz="1200" b="1">
                <a:solidFill>
                  <a:srgbClr val="8EBBC6"/>
                </a:solidFill>
                <a:latin typeface="Arial"/>
                <a:ea typeface="Arial"/>
                <a:cs typeface="Arial"/>
              </a:defRPr>
            </a:lvl8pPr>
            <a:lvl9pPr algn="l">
              <a:defRPr sz="1200" b="1">
                <a:solidFill>
                  <a:srgbClr val="8EBBC6"/>
                </a:solidFill>
                <a:latin typeface="Arial"/>
                <a:ea typeface="Arial"/>
                <a:cs typeface="Arial"/>
              </a:defRPr>
            </a:lvl9pPr>
          </a:lstStyle>
          <a:p xmlns:a="http://schemas.openxmlformats.org/drawingml/2006/main">
            <a:pPr algn="l">
              <a:defRPr sz="1200" b="1">
                <a:solidFill>
                  <a:srgbClr val="8EBBC6"/>
                </a:solidFill>
                <a:latin typeface="Arial"/>
                <a:ea typeface="Arial"/>
                <a:cs typeface="Arial"/>
              </a:defRPr>
            </a:pPr>
            <a:r>
              <a:rPr sz="1200" b="1">
                <a:solidFill>
                  <a:srgbClr val="8EBBC6"/>
                </a:solidFill>
                <a:latin typeface="Arial"/>
                <a:ea typeface="Arial"/>
                <a:cs typeface="Arial"/>
              </a:rPr>
              <a:t>NHÓM 11</a:t>
            </a:r>
          </a:p>
        </p:txBody>
      </p:sp>
      <p:sp>
        <p:nvSpPr>
          <p:cNvPr id="4" name="">
            <a:extLst xmlns:a="http://schemas.openxmlformats.org/drawingml/2006/main">
              <a:ext uri="{FF2B5EF4-FFF2-40B4-BE49-F238E27FC236}">
                <a16:creationId xmlns:a16="http://schemas.microsoft.com/office/drawing/2014/main" id="{3C4153BD-E984-4999-B85D-EB141DFBE847}"/>
              </a:ext>
            </a:extLst>
          </p:cNvPr>
          <p:cNvSpPr>
            <a:spLocks xmlns:a="http://schemas.openxmlformats.org/drawingml/2006/main" noGrp="1"/>
          </p:cNvSpPr>
          <p:nvPr/>
        </p:nvSpPr>
        <p:spPr>
          <a:xfrm xmlns:a="http://schemas.openxmlformats.org/drawingml/2006/main">
            <a:off x="10972800" y="6257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950" b="1">
                <a:solidFill>
                  <a:srgbClr val="58D9E8"/>
                </a:solidFill>
                <a:latin typeface="Arial"/>
                <a:ea typeface="Arial"/>
                <a:cs typeface="Arial"/>
              </a:defRPr>
            </a:defPPr>
            <a:lvl1pPr algn="r">
              <a:defRPr sz="1950" b="1">
                <a:solidFill>
                  <a:srgbClr val="58D9E8"/>
                </a:solidFill>
                <a:latin typeface="Arial"/>
                <a:ea typeface="Arial"/>
                <a:cs typeface="Arial"/>
              </a:defRPr>
            </a:lvl1pPr>
            <a:lvl2pPr algn="r">
              <a:defRPr sz="1950" b="1">
                <a:solidFill>
                  <a:srgbClr val="58D9E8"/>
                </a:solidFill>
                <a:latin typeface="Arial"/>
                <a:ea typeface="Arial"/>
                <a:cs typeface="Arial"/>
              </a:defRPr>
            </a:lvl2pPr>
            <a:lvl3pPr algn="r">
              <a:defRPr sz="1950" b="1">
                <a:solidFill>
                  <a:srgbClr val="58D9E8"/>
                </a:solidFill>
                <a:latin typeface="Arial"/>
                <a:ea typeface="Arial"/>
                <a:cs typeface="Arial"/>
              </a:defRPr>
            </a:lvl3pPr>
            <a:lvl4pPr algn="r">
              <a:defRPr sz="1950" b="1">
                <a:solidFill>
                  <a:srgbClr val="58D9E8"/>
                </a:solidFill>
                <a:latin typeface="Arial"/>
                <a:ea typeface="Arial"/>
                <a:cs typeface="Arial"/>
              </a:defRPr>
            </a:lvl4pPr>
            <a:lvl5pPr algn="r">
              <a:defRPr sz="1950" b="1">
                <a:solidFill>
                  <a:srgbClr val="58D9E8"/>
                </a:solidFill>
                <a:latin typeface="Arial"/>
                <a:ea typeface="Arial"/>
                <a:cs typeface="Arial"/>
              </a:defRPr>
            </a:lvl5pPr>
            <a:lvl6pPr algn="r">
              <a:defRPr sz="1950" b="1">
                <a:solidFill>
                  <a:srgbClr val="58D9E8"/>
                </a:solidFill>
                <a:latin typeface="Arial"/>
                <a:ea typeface="Arial"/>
                <a:cs typeface="Arial"/>
              </a:defRPr>
            </a:lvl6pPr>
            <a:lvl7pPr algn="r">
              <a:defRPr sz="1950" b="1">
                <a:solidFill>
                  <a:srgbClr val="58D9E8"/>
                </a:solidFill>
                <a:latin typeface="Arial"/>
                <a:ea typeface="Arial"/>
                <a:cs typeface="Arial"/>
              </a:defRPr>
            </a:lvl7pPr>
            <a:lvl8pPr algn="r">
              <a:defRPr sz="1950" b="1">
                <a:solidFill>
                  <a:srgbClr val="58D9E8"/>
                </a:solidFill>
                <a:latin typeface="Arial"/>
                <a:ea typeface="Arial"/>
                <a:cs typeface="Arial"/>
              </a:defRPr>
            </a:lvl8pPr>
            <a:lvl9pPr algn="r">
              <a:defRPr sz="1950" b="1">
                <a:solidFill>
                  <a:srgbClr val="58D9E8"/>
                </a:solidFill>
                <a:latin typeface="Arial"/>
                <a:ea typeface="Arial"/>
                <a:cs typeface="Arial"/>
              </a:defRPr>
            </a:lvl9pPr>
          </a:lstStyle>
          <a:p xmlns:a="http://schemas.openxmlformats.org/drawingml/2006/main">
            <a:pPr algn="r">
              <a:defRPr sz="1950" b="1">
                <a:solidFill>
                  <a:srgbClr val="58D9E8"/>
                </a:solidFill>
                <a:latin typeface="Arial"/>
                <a:ea typeface="Arial"/>
                <a:cs typeface="Arial"/>
              </a:defRPr>
            </a:pPr>
            <a:r>
              <a:rPr sz="1950" b="1">
                <a:solidFill>
                  <a:srgbClr val="58D9E8"/>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048A12A2-6121-492D-BC3D-2F902D96A9D2}"/>
              </a:ext>
            </a:extLst>
          </p:cNvPr>
          <p:cNvSpPr>
            <a:spLocks xmlns:a="http://schemas.openxmlformats.org/drawingml/2006/main" noGrp="1"/>
          </p:cNvSpPr>
          <p:nvPr/>
        </p:nvSpPr>
        <p:spPr>
          <a:xfrm xmlns:a="http://schemas.openxmlformats.org/drawingml/2006/main">
            <a:off x="609600" y="2114550"/>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FFFFFF"/>
                </a:solidFill>
                <a:latin typeface="Arial"/>
                <a:ea typeface="Arial"/>
                <a:cs typeface="Arial"/>
              </a:defRPr>
            </a:defPPr>
            <a:lvl1pPr algn="l">
              <a:defRPr sz="4575" b="1">
                <a:solidFill>
                  <a:srgbClr val="FFFFFF"/>
                </a:solidFill>
                <a:latin typeface="Arial"/>
                <a:ea typeface="Arial"/>
                <a:cs typeface="Arial"/>
              </a:defRPr>
            </a:lvl1pPr>
            <a:lvl2pPr algn="l">
              <a:defRPr sz="4575" b="1">
                <a:solidFill>
                  <a:srgbClr val="FFFFFF"/>
                </a:solidFill>
                <a:latin typeface="Arial"/>
                <a:ea typeface="Arial"/>
                <a:cs typeface="Arial"/>
              </a:defRPr>
            </a:lvl2pPr>
            <a:lvl3pPr algn="l">
              <a:defRPr sz="4575" b="1">
                <a:solidFill>
                  <a:srgbClr val="FFFFFF"/>
                </a:solidFill>
                <a:latin typeface="Arial"/>
                <a:ea typeface="Arial"/>
                <a:cs typeface="Arial"/>
              </a:defRPr>
            </a:lvl3pPr>
            <a:lvl4pPr algn="l">
              <a:defRPr sz="4575" b="1">
                <a:solidFill>
                  <a:srgbClr val="FFFFFF"/>
                </a:solidFill>
                <a:latin typeface="Arial"/>
                <a:ea typeface="Arial"/>
                <a:cs typeface="Arial"/>
              </a:defRPr>
            </a:lvl4pPr>
            <a:lvl5pPr algn="l">
              <a:defRPr sz="4575" b="1">
                <a:solidFill>
                  <a:srgbClr val="FFFFFF"/>
                </a:solidFill>
                <a:latin typeface="Arial"/>
                <a:ea typeface="Arial"/>
                <a:cs typeface="Arial"/>
              </a:defRPr>
            </a:lvl5pPr>
            <a:lvl6pPr algn="l">
              <a:defRPr sz="4575" b="1">
                <a:solidFill>
                  <a:srgbClr val="FFFFFF"/>
                </a:solidFill>
                <a:latin typeface="Arial"/>
                <a:ea typeface="Arial"/>
                <a:cs typeface="Arial"/>
              </a:defRPr>
            </a:lvl6pPr>
            <a:lvl7pPr algn="l">
              <a:defRPr sz="4575" b="1">
                <a:solidFill>
                  <a:srgbClr val="FFFFFF"/>
                </a:solidFill>
                <a:latin typeface="Arial"/>
                <a:ea typeface="Arial"/>
                <a:cs typeface="Arial"/>
              </a:defRPr>
            </a:lvl7pPr>
            <a:lvl8pPr algn="l">
              <a:defRPr sz="4575" b="1">
                <a:solidFill>
                  <a:srgbClr val="FFFFFF"/>
                </a:solidFill>
                <a:latin typeface="Arial"/>
                <a:ea typeface="Arial"/>
                <a:cs typeface="Arial"/>
              </a:defRPr>
            </a:lvl8pPr>
            <a:lvl9pPr algn="l">
              <a:defRPr sz="4575" b="1">
                <a:solidFill>
                  <a:srgbClr val="FFFFFF"/>
                </a:solidFill>
                <a:latin typeface="Arial"/>
                <a:ea typeface="Arial"/>
                <a:cs typeface="Arial"/>
              </a:defRPr>
            </a:lvl9pPr>
          </a:lstStyle>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N11 Vault đã chạy</a:t>
            </a:r>
          </a:p>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end-to-end trong lab</a:t>
            </a:r>
          </a:p>
        </p:txBody>
      </p:sp>
      <p:sp>
        <p:nvSpPr>
          <p:cNvPr id="6" name="">
            <a:extLst xmlns:a="http://schemas.openxmlformats.org/drawingml/2006/main">
              <a:ext uri="{FF2B5EF4-FFF2-40B4-BE49-F238E27FC236}">
                <a16:creationId xmlns:a16="http://schemas.microsoft.com/office/drawing/2014/main" id="{774F0AF6-6C3D-45E4-9E5C-8CC8DD7DEB3E}"/>
              </a:ext>
            </a:extLst>
          </p:cNvPr>
          <p:cNvSpPr>
            <a:spLocks xmlns:a="http://schemas.openxmlformats.org/drawingml/2006/main" noGrp="1"/>
          </p:cNvSpPr>
          <p:nvPr/>
        </p:nvSpPr>
        <p:spPr>
          <a:xfrm xmlns:a="http://schemas.openxmlformats.org/drawingml/2006/main">
            <a:off x="609600" y="3962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58D9E8"/>
                </a:solidFill>
                <a:latin typeface="Arial"/>
                <a:ea typeface="Arial"/>
                <a:cs typeface="Arial"/>
              </a:defRPr>
            </a:defPPr>
            <a:lvl1pPr algn="l">
              <a:defRPr sz="2700" b="0">
                <a:solidFill>
                  <a:srgbClr val="58D9E8"/>
                </a:solidFill>
                <a:latin typeface="Arial"/>
                <a:ea typeface="Arial"/>
                <a:cs typeface="Arial"/>
              </a:defRPr>
            </a:lvl1pPr>
            <a:lvl2pPr algn="l">
              <a:defRPr sz="2700" b="0">
                <a:solidFill>
                  <a:srgbClr val="58D9E8"/>
                </a:solidFill>
                <a:latin typeface="Arial"/>
                <a:ea typeface="Arial"/>
                <a:cs typeface="Arial"/>
              </a:defRPr>
            </a:lvl2pPr>
            <a:lvl3pPr algn="l">
              <a:defRPr sz="2700" b="0">
                <a:solidFill>
                  <a:srgbClr val="58D9E8"/>
                </a:solidFill>
                <a:latin typeface="Arial"/>
                <a:ea typeface="Arial"/>
                <a:cs typeface="Arial"/>
              </a:defRPr>
            </a:lvl3pPr>
            <a:lvl4pPr algn="l">
              <a:defRPr sz="2700" b="0">
                <a:solidFill>
                  <a:srgbClr val="58D9E8"/>
                </a:solidFill>
                <a:latin typeface="Arial"/>
                <a:ea typeface="Arial"/>
                <a:cs typeface="Arial"/>
              </a:defRPr>
            </a:lvl4pPr>
            <a:lvl5pPr algn="l">
              <a:defRPr sz="2700" b="0">
                <a:solidFill>
                  <a:srgbClr val="58D9E8"/>
                </a:solidFill>
                <a:latin typeface="Arial"/>
                <a:ea typeface="Arial"/>
                <a:cs typeface="Arial"/>
              </a:defRPr>
            </a:lvl5pPr>
            <a:lvl6pPr algn="l">
              <a:defRPr sz="2700" b="0">
                <a:solidFill>
                  <a:srgbClr val="58D9E8"/>
                </a:solidFill>
                <a:latin typeface="Arial"/>
                <a:ea typeface="Arial"/>
                <a:cs typeface="Arial"/>
              </a:defRPr>
            </a:lvl6pPr>
            <a:lvl7pPr algn="l">
              <a:defRPr sz="2700" b="0">
                <a:solidFill>
                  <a:srgbClr val="58D9E8"/>
                </a:solidFill>
                <a:latin typeface="Arial"/>
                <a:ea typeface="Arial"/>
                <a:cs typeface="Arial"/>
              </a:defRPr>
            </a:lvl7pPr>
            <a:lvl8pPr algn="l">
              <a:defRPr sz="2700" b="0">
                <a:solidFill>
                  <a:srgbClr val="58D9E8"/>
                </a:solidFill>
                <a:latin typeface="Arial"/>
                <a:ea typeface="Arial"/>
                <a:cs typeface="Arial"/>
              </a:defRPr>
            </a:lvl8pPr>
            <a:lvl9pPr algn="l">
              <a:defRPr sz="2700" b="0">
                <a:solidFill>
                  <a:srgbClr val="58D9E8"/>
                </a:solidFill>
                <a:latin typeface="Arial"/>
                <a:ea typeface="Arial"/>
                <a:cs typeface="Arial"/>
              </a:defRPr>
            </a:lvl9pPr>
          </a:lstStyle>
          <a:p xmlns:a="http://schemas.openxmlformats.org/drawingml/2006/main">
            <a:pPr algn="l">
              <a:defRPr sz="2700" b="0">
                <a:solidFill>
                  <a:srgbClr val="58D9E8"/>
                </a:solidFill>
                <a:latin typeface="Arial"/>
                <a:ea typeface="Arial"/>
                <a:cs typeface="Arial"/>
              </a:defRPr>
            </a:pPr>
            <a:r>
              <a:rPr sz="2700" b="0">
                <a:solidFill>
                  <a:srgbClr val="58D9E8"/>
                </a:solidFill>
                <a:latin typeface="Arial"/>
                <a:ea typeface="Arial"/>
                <a:cs typeface="Arial"/>
              </a:rPr>
              <a:t>Tải trực tiếp, riêng tư theo chủ sở hữu</a:t>
            </a:r>
          </a:p>
          <a:p xmlns:a="http://schemas.openxmlformats.org/drawingml/2006/main">
            <a:pPr algn="l">
              <a:defRPr sz="2700" b="0">
                <a:solidFill>
                  <a:srgbClr val="58D9E8"/>
                </a:solidFill>
                <a:latin typeface="Arial"/>
                <a:ea typeface="Arial"/>
                <a:cs typeface="Arial"/>
              </a:defRPr>
            </a:pPr>
            <a:r>
              <a:rPr sz="2700" b="0">
                <a:solidFill>
                  <a:srgbClr val="58D9E8"/>
                </a:solidFill>
                <a:latin typeface="Arial"/>
                <a:ea typeface="Arial"/>
                <a:cs typeface="Arial"/>
              </a:rPr>
              <a:t>và phục hồi nội dung đã xác nhận.</a:t>
            </a:r>
          </a:p>
        </p:txBody>
      </p:sp>
      <p:sp>
        <p:nvSpPr>
          <p:cNvPr id="7" name="">
            <a:extLst xmlns:a="http://schemas.openxmlformats.org/drawingml/2006/main">
              <a:ext uri="{FF2B5EF4-FFF2-40B4-BE49-F238E27FC236}">
                <a16:creationId xmlns:a16="http://schemas.microsoft.com/office/drawing/2014/main" id="{956ACD4E-4C5B-41A3-9D9C-D37C6B1719AA}"/>
              </a:ext>
            </a:extLst>
          </p:cNvPr>
          <p:cNvSpPr>
            <a:spLocks xmlns:a="http://schemas.openxmlformats.org/drawingml/2006/main" noGrp="1"/>
          </p:cNvSpPr>
          <p:nvPr/>
        </p:nvSpPr>
        <p:spPr>
          <a:xfrm xmlns:a="http://schemas.openxmlformats.org/drawingml/2006/main">
            <a:off x="609600" y="53911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9989"/>
                </a:solidFill>
                <a:latin typeface="Arial"/>
                <a:ea typeface="Arial"/>
                <a:cs typeface="Arial"/>
              </a:defRPr>
            </a:defPPr>
            <a:lvl1pPr algn="l">
              <a:defRPr sz="2175" b="1">
                <a:solidFill>
                  <a:srgbClr val="FF9989"/>
                </a:solidFill>
                <a:latin typeface="Arial"/>
                <a:ea typeface="Arial"/>
                <a:cs typeface="Arial"/>
              </a:defRPr>
            </a:lvl1pPr>
            <a:lvl2pPr algn="l">
              <a:defRPr sz="2175" b="1">
                <a:solidFill>
                  <a:srgbClr val="FF9989"/>
                </a:solidFill>
                <a:latin typeface="Arial"/>
                <a:ea typeface="Arial"/>
                <a:cs typeface="Arial"/>
              </a:defRPr>
            </a:lvl2pPr>
            <a:lvl3pPr algn="l">
              <a:defRPr sz="2175" b="1">
                <a:solidFill>
                  <a:srgbClr val="FF9989"/>
                </a:solidFill>
                <a:latin typeface="Arial"/>
                <a:ea typeface="Arial"/>
                <a:cs typeface="Arial"/>
              </a:defRPr>
            </a:lvl3pPr>
            <a:lvl4pPr algn="l">
              <a:defRPr sz="2175" b="1">
                <a:solidFill>
                  <a:srgbClr val="FF9989"/>
                </a:solidFill>
                <a:latin typeface="Arial"/>
                <a:ea typeface="Arial"/>
                <a:cs typeface="Arial"/>
              </a:defRPr>
            </a:lvl4pPr>
            <a:lvl5pPr algn="l">
              <a:defRPr sz="2175" b="1">
                <a:solidFill>
                  <a:srgbClr val="FF9989"/>
                </a:solidFill>
                <a:latin typeface="Arial"/>
                <a:ea typeface="Arial"/>
                <a:cs typeface="Arial"/>
              </a:defRPr>
            </a:lvl5pPr>
            <a:lvl6pPr algn="l">
              <a:defRPr sz="2175" b="1">
                <a:solidFill>
                  <a:srgbClr val="FF9989"/>
                </a:solidFill>
                <a:latin typeface="Arial"/>
                <a:ea typeface="Arial"/>
                <a:cs typeface="Arial"/>
              </a:defRPr>
            </a:lvl6pPr>
            <a:lvl7pPr algn="l">
              <a:defRPr sz="2175" b="1">
                <a:solidFill>
                  <a:srgbClr val="FF9989"/>
                </a:solidFill>
                <a:latin typeface="Arial"/>
                <a:ea typeface="Arial"/>
                <a:cs typeface="Arial"/>
              </a:defRPr>
            </a:lvl7pPr>
            <a:lvl8pPr algn="l">
              <a:defRPr sz="2175" b="1">
                <a:solidFill>
                  <a:srgbClr val="FF9989"/>
                </a:solidFill>
                <a:latin typeface="Arial"/>
                <a:ea typeface="Arial"/>
                <a:cs typeface="Arial"/>
              </a:defRPr>
            </a:lvl8pPr>
            <a:lvl9pPr algn="l">
              <a:defRPr sz="2175" b="1">
                <a:solidFill>
                  <a:srgbClr val="FF9989"/>
                </a:solidFill>
                <a:latin typeface="Arial"/>
                <a:ea typeface="Arial"/>
                <a:cs typeface="Arial"/>
              </a:defRPr>
            </a:lvl9pPr>
          </a:lstStyle>
          <a:p xmlns:a="http://schemas.openxmlformats.org/drawingml/2006/main">
            <a:pPr algn="l">
              <a:defRPr sz="2175" b="1">
                <a:solidFill>
                  <a:srgbClr val="FF9989"/>
                </a:solidFill>
                <a:latin typeface="Arial"/>
                <a:ea typeface="Arial"/>
                <a:cs typeface="Arial"/>
              </a:defRPr>
            </a:pPr>
            <a:r>
              <a:rPr sz="2175" b="1">
                <a:solidFill>
                  <a:srgbClr val="FF9989"/>
                </a:solidFill>
                <a:latin typeface="Arial"/>
                <a:ea typeface="Arial"/>
                <a:cs typeface="Arial"/>
              </a:rPr>
              <a:t>Bước tiếp theo</a:t>
            </a:r>
          </a:p>
        </p:txBody>
      </p:sp>
      <p:sp>
        <p:nvSpPr>
          <p:cNvPr id="8" name="">
            <a:extLst xmlns:a="http://schemas.openxmlformats.org/drawingml/2006/main">
              <a:ext uri="{FF2B5EF4-FFF2-40B4-BE49-F238E27FC236}">
                <a16:creationId xmlns:a16="http://schemas.microsoft.com/office/drawing/2014/main" id="{7404337F-E0CA-4FA8-9B88-4197D622C3B2}"/>
              </a:ext>
            </a:extLst>
          </p:cNvPr>
          <p:cNvSpPr>
            <a:spLocks xmlns:a="http://schemas.openxmlformats.org/drawingml/2006/main" noGrp="1"/>
          </p:cNvSpPr>
          <p:nvPr/>
        </p:nvSpPr>
        <p:spPr>
          <a:xfrm xmlns:a="http://schemas.openxmlformats.org/drawingml/2006/main">
            <a:off x="3581400" y="5391150"/>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CEBED"/>
                </a:solidFill>
                <a:latin typeface="Arial"/>
                <a:ea typeface="Arial"/>
                <a:cs typeface="Arial"/>
              </a:defRPr>
            </a:defPPr>
            <a:lvl1pPr algn="l">
              <a:defRPr sz="2175" b="0">
                <a:solidFill>
                  <a:srgbClr val="DCEBED"/>
                </a:solidFill>
                <a:latin typeface="Arial"/>
                <a:ea typeface="Arial"/>
                <a:cs typeface="Arial"/>
              </a:defRPr>
            </a:lvl1pPr>
            <a:lvl2pPr algn="l">
              <a:defRPr sz="2175" b="0">
                <a:solidFill>
                  <a:srgbClr val="DCEBED"/>
                </a:solidFill>
                <a:latin typeface="Arial"/>
                <a:ea typeface="Arial"/>
                <a:cs typeface="Arial"/>
              </a:defRPr>
            </a:lvl2pPr>
            <a:lvl3pPr algn="l">
              <a:defRPr sz="2175" b="0">
                <a:solidFill>
                  <a:srgbClr val="DCEBED"/>
                </a:solidFill>
                <a:latin typeface="Arial"/>
                <a:ea typeface="Arial"/>
                <a:cs typeface="Arial"/>
              </a:defRPr>
            </a:lvl3pPr>
            <a:lvl4pPr algn="l">
              <a:defRPr sz="2175" b="0">
                <a:solidFill>
                  <a:srgbClr val="DCEBED"/>
                </a:solidFill>
                <a:latin typeface="Arial"/>
                <a:ea typeface="Arial"/>
                <a:cs typeface="Arial"/>
              </a:defRPr>
            </a:lvl4pPr>
            <a:lvl5pPr algn="l">
              <a:defRPr sz="2175" b="0">
                <a:solidFill>
                  <a:srgbClr val="DCEBED"/>
                </a:solidFill>
                <a:latin typeface="Arial"/>
                <a:ea typeface="Arial"/>
                <a:cs typeface="Arial"/>
              </a:defRPr>
            </a:lvl5pPr>
            <a:lvl6pPr algn="l">
              <a:defRPr sz="2175" b="0">
                <a:solidFill>
                  <a:srgbClr val="DCEBED"/>
                </a:solidFill>
                <a:latin typeface="Arial"/>
                <a:ea typeface="Arial"/>
                <a:cs typeface="Arial"/>
              </a:defRPr>
            </a:lvl6pPr>
            <a:lvl7pPr algn="l">
              <a:defRPr sz="2175" b="0">
                <a:solidFill>
                  <a:srgbClr val="DCEBED"/>
                </a:solidFill>
                <a:latin typeface="Arial"/>
                <a:ea typeface="Arial"/>
                <a:cs typeface="Arial"/>
              </a:defRPr>
            </a:lvl7pPr>
            <a:lvl8pPr algn="l">
              <a:defRPr sz="2175" b="0">
                <a:solidFill>
                  <a:srgbClr val="DCEBED"/>
                </a:solidFill>
                <a:latin typeface="Arial"/>
                <a:ea typeface="Arial"/>
                <a:cs typeface="Arial"/>
              </a:defRPr>
            </a:lvl8pPr>
            <a:lvl9pPr algn="l">
              <a:defRPr sz="2175" b="0">
                <a:solidFill>
                  <a:srgbClr val="DCEBED"/>
                </a:solidFill>
                <a:latin typeface="Arial"/>
                <a:ea typeface="Arial"/>
                <a:cs typeface="Arial"/>
              </a:defRPr>
            </a:lvl9pPr>
          </a:lstStyle>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Multipart, event worker, SSO / TLS, backup</a:t>
            </a:r>
          </a:p>
          <a:p xmlns:a="http://schemas.openxmlformats.org/drawingml/2006/main">
            <a:pPr algn="l">
              <a:defRPr sz="2175" b="0">
                <a:solidFill>
                  <a:srgbClr val="DCEBED"/>
                </a:solidFill>
                <a:latin typeface="Arial"/>
                <a:ea typeface="Arial"/>
                <a:cs typeface="Arial"/>
              </a:defRPr>
            </a:pPr>
            <a:r>
              <a:rPr sz="2175" b="0">
                <a:solidFill>
                  <a:srgbClr val="DCEBED"/>
                </a:solidFill>
                <a:latin typeface="Arial"/>
                <a:ea typeface="Arial"/>
                <a:cs typeface="Arial"/>
              </a:rPr>
              <a:t>và đánh giá cụm lưu trữ còn được hỗ trợ.</a:t>
            </a:r>
          </a:p>
        </p:txBody>
      </p:sp>
    </p:spTree>
    <p:extLst>
      <p:ext uri="{BB962C8B-B14F-4D97-AF65-F5344CB8AC3E}">
        <p14:creationId xmlns:p14="http://schemas.microsoft.com/office/powerpoint/2010/main" val="1317953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2026-10-27T06:41:51.3130000Z</dcterms:created>
  <dcterms:modified xsi:type="dcterms:W3CDTF">2026-10-27T06:41:51.3140000Z</dcterms:modified>
</coreProperties>
</file>